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2524"/>
    <a:srgbClr val="00B2FF"/>
    <a:srgbClr val="9C1D1C"/>
    <a:srgbClr val="014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AB6A-02CD-4747-AA87-780F4F8E6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69E25-C254-4F7D-9D69-E843AEC70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55F53-8BCE-494A-AD40-70010141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C8369-BFF0-4025-A835-C907C064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A475F-3762-481A-99F6-D3E99CF5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5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323D-2713-4825-994F-7C10B6CA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8B0B-25C5-448C-BA9A-16AADAA38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7B6B4-68D2-4992-B3E4-D8E86E1B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29EE9-959D-489F-9D2D-BC1C89D9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C247-2D52-4C4C-BB37-64F73BF9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8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6C16-9698-49B1-B18E-5E75B95C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34E27-01C8-4B90-9367-ED05B38B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F259D-6D1D-48A2-BDBC-E25C0787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EB7B8-47F5-4CE8-8FED-1218B02C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F683-ABE9-4D17-A2E1-37A3BA4F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7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40F8-67D3-46D6-ACCC-A0927BEC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D5AA3-B4D6-48FF-A2B2-D6FA75BEF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0EABF-FE1D-41C2-AD95-B7A728C11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27C50-8AC7-4B27-9E80-A98FD26F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0CC67-C2C3-4843-9182-2A4FEDBA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1FDF6-531B-468A-B173-841FE1CA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4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1909-0BFE-4B80-905F-0FDAEBF28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9B871-80B2-4AF2-9AB7-BE6E9374B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616C7-B587-43EA-9A0C-295DF96A0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8572E-9A21-4AF6-AF4F-CBB6E3FB4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E730C-9E3E-4BB6-A059-6E083EBBD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EE6EC-A2E4-49DF-BD70-7DDEF727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32840-E5F0-4DE1-9571-DE724925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B3C098-B6DA-4D6B-A815-EDBBE860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7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9BC5-36AF-4C39-ADE1-AAE84951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E2A37-134B-4CD1-9A8C-E3AB813E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5AED9-A892-4DF4-ACD1-42BE962A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96CA2-9806-4F85-B74C-CBB0DE30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B8C8AA-02E0-4ABC-9610-8834278E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42843-8BE0-4117-9E4C-C53E2CE8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639CA-EFDE-436E-AE04-BBF7EAF3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8FFB-90CA-4C7D-8B14-B5BA74A0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C858D-CA70-4598-9364-F5E959672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B88C-3CD4-4A6A-B2F8-FDF931486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602E7-3D2A-4545-91C5-86A504FE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B29E-AE16-4B7E-B319-8E1639AE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2BF98-DEEB-45A9-8C3A-A8F8044B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2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8C2C-A09C-4AEF-A050-C52125E3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24190-F406-4036-B298-D9E681F10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EF5BB-D0D0-46B5-82D9-02B24112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A3A82-0D07-4C40-9EAD-50773D22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0BB98-AAEC-48A8-8078-8E8F6DA9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E3BA3-4A46-4611-B374-1DC51210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4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FD54-C55A-49D9-AED7-8142B1476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C1C04-6AD8-453C-9178-BDBAA7F3F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C10A-55B5-498F-9621-B71AD3F1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17D37-2EB1-4533-ABAA-E333E8E0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3E5D3-069D-4DC8-A4E9-F6D15EBA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0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A34B2-BF9D-4822-B078-265D93FBC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2BF12-EF0F-4ACE-9E4C-669C1ED59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E2706-38F4-467B-8323-91EBA8DE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4D326-BB3E-4DB8-83DF-90E9E1F7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12321-5139-4D99-8923-59DB1C83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286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29967-2FBE-4A64-86B6-A8A4D13C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E3FB3-35B7-4A64-A236-9F67FAA03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F5C47-E493-4554-A680-77B0EB8F8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4B9F4-9595-4D18-976E-75B715637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DBCA6-BBEC-40A3-959C-F431CA9FA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12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0" y="237744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2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3063240"/>
            <a:ext cx="4572000" cy="182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39" y="3200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00B2FF"/>
                </a:solidFill>
                <a:latin typeface="Amasis MT Pro"/>
              </a:rPr>
              <a:t>N</a:t>
            </a:r>
            <a:r>
              <a:rPr sz="2400">
                <a:solidFill>
                  <a:srgbClr val="00B2FF"/>
                </a:solidFill>
                <a:latin typeface="Amasis MT Pro"/>
              </a:rPr>
              <a:t>ovo</a:t>
            </a:r>
            <a:r>
              <a:rPr sz="2400">
                <a:solidFill>
                  <a:srgbClr val="D12524"/>
                </a:solidFill>
                <a:latin typeface="Amasis MT Pro"/>
              </a:rPr>
              <a:t>Nex</a:t>
            </a:r>
            <a:r>
              <a:t>  </a:t>
            </a:r>
            <a:r>
              <a:rPr sz="3200">
                <a:solidFill>
                  <a:srgbClr val="00B2FF"/>
                </a:solidFill>
                <a:latin typeface="Amasis MT Pro"/>
              </a:rPr>
              <a:t>D</a:t>
            </a:r>
            <a:r>
              <a:rPr sz="2400">
                <a:solidFill>
                  <a:srgbClr val="00B2FF"/>
                </a:solidFill>
                <a:latin typeface="Amasis MT Pro"/>
              </a:rPr>
              <a:t>el</a:t>
            </a:r>
            <a:r>
              <a:rPr sz="2400">
                <a:solidFill>
                  <a:srgbClr val="D12524"/>
                </a:solidFill>
                <a:latin typeface="Amasis MT Pro"/>
              </a:rPr>
              <a:t>ta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394960"/>
            <a:ext cx="11887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Course Topic Outline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868680"/>
            <a:ext cx="10927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Calibri"/>
              </a:rPr>
              <a:t>Course Syllabus &amp; Complete Topics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0284C7"/>
                </a:solidFill>
                <a:latin typeface="Calibri"/>
              </a:rPr>
              <a:t>Topic 01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Introduction to Programming &amp; Compilers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CPU, Machine Code, Why C &amp; Role of Compiler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0284C7"/>
                </a:solidFill>
                <a:latin typeface="Calibri"/>
              </a:rPr>
              <a:t>Topic 02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C Program Structure &amp; Syntax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main() entry point, Semicolons, Headers &amp; Code Blocks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004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2563EB"/>
                </a:solidFill>
                <a:latin typeface="Calibri"/>
              </a:rPr>
              <a:t>Topic 03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Variables, Data Types &amp; Standard I/O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int, float, char, Memory, printf() &amp; scanf() &amp; operator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1148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2563EB"/>
                </a:solidFill>
                <a:latin typeface="Calibri"/>
              </a:rPr>
              <a:t>Topic 04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Operators &amp; Expression Evaluation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Arithmetic, Relational, Logical &amp; Precedence Ladder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292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7C3AED"/>
                </a:solidFill>
                <a:latin typeface="Calibri"/>
              </a:rPr>
              <a:t>Topic 05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Conditional Statements &amp; Nested Logic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Decision logic: if, else if, else &amp; truth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7C3AED"/>
                </a:solidFill>
                <a:latin typeface="Calibri"/>
              </a:rPr>
              <a:t>Topic 06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Flowchart Fundamentals &amp; Visual Patterns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ANSI Symbols with Sequence, Selection &amp; Loop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860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059669"/>
                </a:solidFill>
                <a:latin typeface="Calibri"/>
              </a:rPr>
              <a:t>Topic 07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Iterative Statements: for, while &amp; Nested Loops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for loop execution graph, while loop &amp; nested grids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004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059669"/>
                </a:solidFill>
                <a:latin typeface="Calibri"/>
              </a:rPr>
              <a:t>Topic 08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1D Arrays: Memory Layout &amp; Indexing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Contiguous RAM, 0 to N-1 index &amp; O(1) random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148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D97706"/>
                </a:solidFill>
                <a:latin typeface="Calibri"/>
              </a:rPr>
              <a:t>Topic 09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2D Arrays (Matrices): Grid &amp; Memory Mapping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Logical 2D grids [row][col] &amp; Row-Major linear RAM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029200"/>
            <a:ext cx="5349240" cy="804672"/>
          </a:xfrm>
          <a:prstGeom prst="roundRect">
            <a:avLst/>
          </a:prstGeom>
          <a:solidFill>
            <a:srgbClr val="0A0F18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300">
                <a:solidFill>
                  <a:srgbClr val="DC2626"/>
                </a:solidFill>
                <a:latin typeface="Calibri"/>
              </a:rPr>
              <a:t>Topic 10 • </a:t>
            </a:r>
            <a:r>
              <a:rPr b="1" sz="1300">
                <a:solidFill>
                  <a:srgbClr val="FFFFFF"/>
                </a:solidFill>
                <a:latin typeface="Calibri"/>
              </a:rPr>
              <a:t>Interactive Error Finding &amp; Debugging Lab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alibri"/>
              </a:rPr>
              <a:t>  ↳ Spotting common syntax, logic, loop &amp; array bugs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Course Agenda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Course Lesson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01. Intro &amp; Compilers: </a:t>
            </a:r>
            <a:r>
              <a:rPr sz="1100">
                <a:solidFill>
                  <a:srgbClr val="E2E8F0"/>
                </a:solidFill>
                <a:latin typeface="Calibri"/>
              </a:rPr>
              <a:t>Computer programming basics &amp; role of the compiler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02. Structure &amp; Syntax: </a:t>
            </a:r>
            <a:r>
              <a:rPr sz="1100">
                <a:solidFill>
                  <a:srgbClr val="E2E8F0"/>
                </a:solidFill>
                <a:latin typeface="Calibri"/>
              </a:rPr>
              <a:t>Anatomy of main(), semicolons, headers, and code blocks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03. Variables &amp; Standard I/O: </a:t>
            </a:r>
            <a:r>
              <a:rPr sz="1100">
                <a:solidFill>
                  <a:srgbClr val="E2E8F0"/>
                </a:solidFill>
                <a:latin typeface="Calibri"/>
              </a:rPr>
              <a:t>Core data types, memory, printf(), and scanf()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04. Operators &amp; Precedence: </a:t>
            </a:r>
            <a:r>
              <a:rPr sz="1100">
                <a:solidFill>
                  <a:srgbClr val="E2E8F0"/>
                </a:solidFill>
                <a:latin typeface="Calibri"/>
              </a:rPr>
              <a:t>Arithmetic, relational, logical &amp; graphical precedence ladder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05. Conditionals &amp; Logic: </a:t>
            </a:r>
            <a:r>
              <a:rPr sz="1100">
                <a:solidFill>
                  <a:srgbClr val="E2E8F0"/>
                </a:solidFill>
                <a:latin typeface="Calibri"/>
              </a:rPr>
              <a:t>Single/multi-way branching (if, else if, else) and traps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06. Flowcharts &amp; Patterns: </a:t>
            </a:r>
            <a:r>
              <a:rPr sz="1100">
                <a:solidFill>
                  <a:srgbClr val="E2E8F0"/>
                </a:solidFill>
                <a:latin typeface="Calibri"/>
              </a:rPr>
              <a:t>Standard ANSI symbols with Sequence, Selection &amp; Loop patterns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07. Iterative Loops: </a:t>
            </a:r>
            <a:r>
              <a:rPr sz="1100">
                <a:solidFill>
                  <a:srgbClr val="E2E8F0"/>
                </a:solidFill>
                <a:latin typeface="Calibri"/>
              </a:rPr>
              <a:t>Detailed for loop, while loop, and nested iteration grids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08. 1D Arrays: </a:t>
            </a:r>
            <a:r>
              <a:rPr sz="1100">
                <a:solidFill>
                  <a:srgbClr val="E2E8F0"/>
                </a:solidFill>
                <a:latin typeface="Calibri"/>
              </a:rPr>
              <a:t>Contiguous memory layout, zero-based indexing &amp; bounds safety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09. 2D Arrays (Matrices): </a:t>
            </a:r>
            <a:r>
              <a:rPr sz="1100">
                <a:solidFill>
                  <a:srgbClr val="E2E8F0"/>
                </a:solidFill>
                <a:latin typeface="Calibri"/>
              </a:rPr>
              <a:t>Grid coordinates and Row-Major physical RAM mapping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10. Error Finding Lab: </a:t>
            </a:r>
            <a:r>
              <a:rPr sz="1100">
                <a:solidFill>
                  <a:srgbClr val="E2E8F0"/>
                </a:solidFill>
                <a:latin typeface="Calibri"/>
              </a:rPr>
              <a:t>Interactive debugging of real student coding mistakes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💡 Interactive Structure: Theory on left, Live teacher board on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🗺️  Course Architecture &amp; Learning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[Roadmap: From syntax fundamentals to low-level memory &amp; problem solving]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175504" cy="62179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0284C7"/>
                </a:solidFill>
              </a:rPr>
              <a:t>• Phase 1: Foundations: </a:t>
            </a:r>
            <a:r>
              <a:rPr sz="1100">
                <a:solidFill>
                  <a:srgbClr val="E2E8F0"/>
                </a:solidFill>
              </a:rPr>
              <a:t>Syntax, Variables, Memory &amp; Formatted I/O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06624"/>
            <a:ext cx="5175504" cy="62179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2563EB"/>
                </a:solidFill>
              </a:rPr>
              <a:t>• Phase 2: Control Flow: </a:t>
            </a:r>
            <a:r>
              <a:rPr sz="1100">
                <a:solidFill>
                  <a:srgbClr val="E2E8F0"/>
                </a:solidFill>
              </a:rPr>
              <a:t>Operators Precedence, Decision Logic &amp; Flowcharts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01568"/>
            <a:ext cx="5175504" cy="62179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7C3AED"/>
                </a:solidFill>
              </a:rPr>
              <a:t>• Phase 3: Iteration: </a:t>
            </a:r>
            <a:r>
              <a:rPr sz="1100">
                <a:solidFill>
                  <a:srgbClr val="E2E8F0"/>
                </a:solidFill>
              </a:rPr>
              <a:t>for, while &amp; Multi-dimensional Nested Traversal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96512"/>
            <a:ext cx="5175504" cy="62179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059669"/>
                </a:solidFill>
              </a:rPr>
              <a:t>• Phase 4: Data Structures: </a:t>
            </a:r>
            <a:r>
              <a:rPr sz="1100">
                <a:solidFill>
                  <a:srgbClr val="E2E8F0"/>
                </a:solidFill>
              </a:rPr>
              <a:t>1D Arrays &amp; 2D Matrices Row-Major RAM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791456"/>
            <a:ext cx="5175504" cy="62179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DC2626"/>
                </a:solidFill>
              </a:rPr>
              <a:t>• Phase 5: Mastery Lab: </a:t>
            </a:r>
            <a:r>
              <a:rPr sz="1100">
                <a:solidFill>
                  <a:srgbClr val="E2E8F0"/>
                </a:solidFill>
              </a:rPr>
              <a:t>Spot the Bug: Live Code Tracing &amp; Debugging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Introduction &amp; Compilers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Introduction to Programming &amp; Compilers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What is Programming?: </a:t>
            </a:r>
            <a:r>
              <a:rPr sz="1200">
                <a:solidFill>
                  <a:srgbClr val="E2E8F0"/>
                </a:solidFill>
                <a:latin typeface="Calibri"/>
              </a:rPr>
              <a:t>Writing precise instructions that the CPU executes to solve problems.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High-Level vs Machine Code: </a:t>
            </a:r>
            <a:r>
              <a:rPr sz="1200">
                <a:solidFill>
                  <a:srgbClr val="E2E8F0"/>
                </a:solidFill>
                <a:latin typeface="Calibri"/>
              </a:rPr>
              <a:t>Humans write readable C source (.c); CPUs only execute binary 0s and 1s.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Why Learn C Language?: </a:t>
            </a:r>
            <a:r>
              <a:rPr sz="1200">
                <a:solidFill>
                  <a:srgbClr val="E2E8F0"/>
                </a:solidFill>
                <a:latin typeface="Calibri"/>
              </a:rPr>
              <a:t>The foundation of modern OS, compilers, databases, and embedded systems.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Hardware &amp; Memory Control: </a:t>
            </a:r>
            <a:r>
              <a:rPr sz="1200">
                <a:solidFill>
                  <a:srgbClr val="E2E8F0"/>
                </a:solidFill>
                <a:latin typeface="Calibri"/>
              </a:rPr>
              <a:t>C offers raw memory access with the performance of assembly language.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Role of the Compiler: </a:t>
            </a:r>
            <a:r>
              <a:rPr sz="1200">
                <a:solidFill>
                  <a:srgbClr val="E2E8F0"/>
                </a:solidFill>
                <a:latin typeface="Calibri"/>
              </a:rPr>
              <a:t>Translates high-level C code directly into native machine executable binary.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💡 Standard GCC Command: gcc -Wall file.c -o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[Teacher's Note: Sketch high-level source code (.c) -&gt; Compiler -&gt; Native Binary (.exe) &amp; RAM/CPU model]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Structure &amp; Syntax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C Program Structure &amp; Syntax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#include &lt;stdio.h&gt;: </a:t>
            </a:r>
            <a:r>
              <a:rPr sz="1200">
                <a:solidFill>
                  <a:srgbClr val="E2E8F0"/>
                </a:solidFill>
                <a:latin typeface="Calibri"/>
              </a:rPr>
              <a:t>Header file for Standard Input/Output library (needed for printf).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int main(): </a:t>
            </a:r>
            <a:r>
              <a:rPr sz="1200">
                <a:solidFill>
                  <a:srgbClr val="E2E8F0"/>
                </a:solidFill>
                <a:latin typeface="Calibri"/>
              </a:rPr>
              <a:t>Mandatory entry-point function where computer begins execution.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Statements &amp; Semicolon (;): </a:t>
            </a:r>
            <a:r>
              <a:rPr sz="1200">
                <a:solidFill>
                  <a:srgbClr val="E2E8F0"/>
                </a:solidFill>
                <a:latin typeface="Calibri"/>
              </a:rPr>
              <a:t>Every individual instruction in C must end with a semicolon.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Curly Braces { }: </a:t>
            </a:r>
            <a:r>
              <a:rPr sz="1200">
                <a:solidFill>
                  <a:srgbClr val="E2E8F0"/>
                </a:solidFill>
                <a:latin typeface="Calibri"/>
              </a:rPr>
              <a:t>Delineate the scope boundaries of functions, loops, and conditions.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return 0;: </a:t>
            </a:r>
            <a:r>
              <a:rPr sz="1200">
                <a:solidFill>
                  <a:srgbClr val="E2E8F0"/>
                </a:solidFill>
                <a:latin typeface="Calibri"/>
              </a:rPr>
              <a:t>Signals successful execution back to the operating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246120"/>
            <a:ext cx="521208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First C Program: Hello World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#include &lt;stdio.h&gt;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main()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printf("Hello, World!\n");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return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💡 Golden Rule: Execution always begins at main(), regardless of position!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[Teacher's Note: Walk through main() execution line-by-line, explain \n cursor movement and exit code 0]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Variables &amp; Data Types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Variables, Data Types &amp; Standard I/O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What is a Variable?: </a:t>
            </a:r>
            <a:r>
              <a:rPr sz="1200">
                <a:solidFill>
                  <a:srgbClr val="E2E8F0"/>
                </a:solidFill>
                <a:latin typeface="Calibri"/>
              </a:rPr>
              <a:t>A named container in RAM used to store and manipulate data values.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int: </a:t>
            </a:r>
            <a:r>
              <a:rPr sz="1200">
                <a:solidFill>
                  <a:srgbClr val="E2E8F0"/>
                </a:solidFill>
                <a:latin typeface="Calibri"/>
              </a:rPr>
              <a:t>Stores whole integers (e.g. 42). Size: 4 bytes | Format Specifier: %d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float &amp; double: </a:t>
            </a:r>
            <a:r>
              <a:rPr sz="1200">
                <a:solidFill>
                  <a:srgbClr val="E2E8F0"/>
                </a:solidFill>
                <a:latin typeface="Calibri"/>
              </a:rPr>
              <a:t>Single (4B, %f) and Double (8B, %lf) precision decimal numbers.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char: </a:t>
            </a:r>
            <a:r>
              <a:rPr sz="1200">
                <a:solidFill>
                  <a:srgbClr val="E2E8F0"/>
                </a:solidFill>
                <a:latin typeface="Calibri"/>
              </a:rPr>
              <a:t>Stores single ASCII character enclosed in single quotes ('A'). Size: 1 byte | %c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printf() &amp; scanf(): </a:t>
            </a:r>
            <a:r>
              <a:rPr sz="1200">
                <a:solidFill>
                  <a:srgbClr val="E2E8F0"/>
                </a:solidFill>
                <a:latin typeface="Calibri"/>
              </a:rPr>
              <a:t>printf displays output; scanf reads input and requires the '&amp;' address operator.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246120"/>
            <a:ext cx="521208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Variable Declaration &amp; Formatted I/O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age; double gpa;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scanf("%d %lf", &amp;age, &amp;gpa);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printf("Age: %d, GPA: %.2lf\n", age, gpa);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D34D"/>
                </a:solidFill>
                <a:latin typeface="Calibri"/>
              </a:rPr>
              <a:t>⚠️ Common Mistake: Forgetting '&amp;' in scanf() causes segmentation faults!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[Teacher's Note: Draw RAM memory boxes with addresses (e.g. 0x7ffd..), bit sizes, and why &amp;age passes address]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Operators &amp; Precedence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Operators &amp; Expression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Arithmetic Operators: </a:t>
            </a:r>
            <a:r>
              <a:rPr sz="1100">
                <a:solidFill>
                  <a:srgbClr val="E2E8F0"/>
                </a:solidFill>
                <a:latin typeface="Calibri"/>
              </a:rPr>
              <a:t>+, -, *, / (quotient), % (remainder / modulo).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Integer Division Trap: </a:t>
            </a:r>
            <a:r>
              <a:rPr sz="1100">
                <a:solidFill>
                  <a:srgbClr val="E2E8F0"/>
                </a:solidFill>
                <a:latin typeface="Calibri"/>
              </a:rPr>
              <a:t>5 / 2 gives 2 (truncated). 5.0 / 2 gives 2.5!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Relational &amp; Equality: </a:t>
            </a:r>
            <a:r>
              <a:rPr sz="1100">
                <a:solidFill>
                  <a:srgbClr val="E2E8F0"/>
                </a:solidFill>
                <a:latin typeface="Calibri"/>
              </a:rPr>
              <a:t>==, !=, &lt;, &gt;, &lt;=, &gt;= (Evaluates to 1 for TRUE, 0 for FALSE).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Logical Operators: </a:t>
            </a:r>
            <a:r>
              <a:rPr sz="1100">
                <a:solidFill>
                  <a:srgbClr val="E2E8F0"/>
                </a:solidFill>
                <a:latin typeface="Calibri"/>
              </a:rPr>
              <a:t>&amp;&amp; (AND), || (OR), ! (NOT). Features short-circuit evaluation!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Increment / Decrement: </a:t>
            </a:r>
            <a:r>
              <a:rPr sz="1100">
                <a:solidFill>
                  <a:srgbClr val="E2E8F0"/>
                </a:solidFill>
                <a:latin typeface="Calibri"/>
              </a:rPr>
              <a:t>++x (prefix: increment then use), x++ (postfix: use then increment).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429000"/>
            <a:ext cx="521208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Expression Precedence Trace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a = 5, b = 2;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res = a + b * 3;     // 5 + 6 = 11 (* before +)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cond = (a &gt; 3) &amp;&amp; (b == 2); // 1 (TRUE)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💡 Precedence Rule: Parentheses () always have highest priority!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📊 Graphical Operator Precedence Ladder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[Priority hierarchy &amp; evaluation direction]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266944" cy="4023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1100">
                <a:solidFill>
                  <a:srgbClr val="0284C7"/>
                </a:solidFill>
              </a:rPr>
              <a:t> 1. Parentheses: </a:t>
            </a:r>
            <a:r>
              <a:rPr b="1" sz="1100">
                <a:solidFill>
                  <a:srgbClr val="FFFFFF"/>
                </a:solidFill>
              </a:rPr>
              <a:t>()  []  -&gt;  . </a:t>
            </a:r>
            <a:r>
              <a:rPr sz="1000">
                <a:solidFill>
                  <a:srgbClr val="94A3B8"/>
                </a:solidFill>
              </a:rPr>
              <a:t> | L -&gt; 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130552"/>
            <a:ext cx="5266944" cy="4023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1100">
                <a:solidFill>
                  <a:srgbClr val="D97706"/>
                </a:solidFill>
              </a:rPr>
              <a:t> 2. Unary Operators: </a:t>
            </a:r>
            <a:r>
              <a:rPr b="1" sz="1100">
                <a:solidFill>
                  <a:srgbClr val="FFFFFF"/>
                </a:solidFill>
              </a:rPr>
              <a:t>++  --  !  sizeof  &amp; </a:t>
            </a:r>
            <a:r>
              <a:rPr sz="1000">
                <a:solidFill>
                  <a:srgbClr val="94A3B8"/>
                </a:solidFill>
              </a:rPr>
              <a:t> | R -&gt; L (Trap!)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569464"/>
            <a:ext cx="5266944" cy="4023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1100">
                <a:solidFill>
                  <a:srgbClr val="2563EB"/>
                </a:solidFill>
              </a:rPr>
              <a:t> 3. Multiplicative: </a:t>
            </a:r>
            <a:r>
              <a:rPr b="1" sz="1100">
                <a:solidFill>
                  <a:srgbClr val="FFFFFF"/>
                </a:solidFill>
              </a:rPr>
              <a:t>*  /  % </a:t>
            </a:r>
            <a:r>
              <a:rPr sz="1000">
                <a:solidFill>
                  <a:srgbClr val="94A3B8"/>
                </a:solidFill>
              </a:rPr>
              <a:t> | L -&gt; 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008376"/>
            <a:ext cx="5266944" cy="4023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1100">
                <a:solidFill>
                  <a:srgbClr val="3B82F6"/>
                </a:solidFill>
              </a:rPr>
              <a:t> 4. Additive: </a:t>
            </a:r>
            <a:r>
              <a:rPr b="1" sz="1100">
                <a:solidFill>
                  <a:srgbClr val="FFFFFF"/>
                </a:solidFill>
              </a:rPr>
              <a:t>+  - </a:t>
            </a:r>
            <a:r>
              <a:rPr sz="1000">
                <a:solidFill>
                  <a:srgbClr val="94A3B8"/>
                </a:solidFill>
              </a:rPr>
              <a:t> | L -&gt; 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447288"/>
            <a:ext cx="5266944" cy="4023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1100">
                <a:solidFill>
                  <a:srgbClr val="4F46E5"/>
                </a:solidFill>
              </a:rPr>
              <a:t> 5. Relational: </a:t>
            </a:r>
            <a:r>
              <a:rPr b="1" sz="1100">
                <a:solidFill>
                  <a:srgbClr val="FFFFFF"/>
                </a:solidFill>
              </a:rPr>
              <a:t>&lt;  &lt;=  &gt;  &gt;= </a:t>
            </a:r>
            <a:r>
              <a:rPr sz="1000">
                <a:solidFill>
                  <a:srgbClr val="94A3B8"/>
                </a:solidFill>
              </a:rPr>
              <a:t> | L -&gt; 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86200"/>
            <a:ext cx="5266944" cy="4023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1100">
                <a:solidFill>
                  <a:srgbClr val="7C3AED"/>
                </a:solidFill>
              </a:rPr>
              <a:t> 6. Equality: </a:t>
            </a:r>
            <a:r>
              <a:rPr b="1" sz="1100">
                <a:solidFill>
                  <a:srgbClr val="FFFFFF"/>
                </a:solidFill>
              </a:rPr>
              <a:t>==  != </a:t>
            </a:r>
            <a:r>
              <a:rPr sz="1000">
                <a:solidFill>
                  <a:srgbClr val="94A3B8"/>
                </a:solidFill>
              </a:rPr>
              <a:t> | L -&gt; 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325112"/>
            <a:ext cx="5266944" cy="4023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1100">
                <a:solidFill>
                  <a:srgbClr val="059669"/>
                </a:solidFill>
              </a:rPr>
              <a:t> 7. Logical AND / OR: </a:t>
            </a:r>
            <a:r>
              <a:rPr b="1" sz="1100">
                <a:solidFill>
                  <a:srgbClr val="FFFFFF"/>
                </a:solidFill>
              </a:rPr>
              <a:t>&amp;&amp; then || </a:t>
            </a:r>
            <a:r>
              <a:rPr sz="1000">
                <a:solidFill>
                  <a:srgbClr val="94A3B8"/>
                </a:solidFill>
              </a:rPr>
              <a:t> | L -&gt; R (Short-circuit)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764024"/>
            <a:ext cx="5266944" cy="40233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b="1" sz="1100">
                <a:solidFill>
                  <a:srgbClr val="DC2626"/>
                </a:solidFill>
              </a:rPr>
              <a:t> 8. Assignment: </a:t>
            </a:r>
            <a:r>
              <a:rPr b="1" sz="1100">
                <a:solidFill>
                  <a:srgbClr val="FFFFFF"/>
                </a:solidFill>
              </a:rPr>
              <a:t>=  +=  -=  *= </a:t>
            </a:r>
            <a:r>
              <a:rPr sz="1000">
                <a:solidFill>
                  <a:srgbClr val="94A3B8"/>
                </a:solidFill>
              </a:rPr>
              <a:t> | R -&gt; 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Conditionals: if-else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Conditional Statements (if, else if, else)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Decision Making in C: </a:t>
            </a:r>
            <a:r>
              <a:rPr sz="1200">
                <a:solidFill>
                  <a:srgbClr val="E2E8F0"/>
                </a:solidFill>
                <a:latin typeface="Calibri"/>
              </a:rPr>
              <a:t>Controls code branch flow based on boolean condition test (True/False).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Truth Values in C: </a:t>
            </a:r>
            <a:r>
              <a:rPr sz="1200">
                <a:solidFill>
                  <a:srgbClr val="E2E8F0"/>
                </a:solidFill>
                <a:latin typeface="Calibri"/>
              </a:rPr>
              <a:t>0 represents FALSE. Any non-zero value (-1, 1, 99) represents TRUE!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if - else Construct: </a:t>
            </a:r>
            <a:r>
              <a:rPr sz="1200">
                <a:solidFill>
                  <a:srgbClr val="E2E8F0"/>
                </a:solidFill>
                <a:latin typeface="Calibri"/>
              </a:rPr>
              <a:t>Executes the if block if condition is true; otherwise executes else block.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else if Ladder: </a:t>
            </a:r>
            <a:r>
              <a:rPr sz="1200">
                <a:solidFill>
                  <a:srgbClr val="E2E8F0"/>
                </a:solidFill>
                <a:latin typeface="Calibri"/>
              </a:rPr>
              <a:t>Tests multiple mutually exclusive conditions sequentially until one matches.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Nested Logic: </a:t>
            </a:r>
            <a:r>
              <a:rPr sz="1200">
                <a:solidFill>
                  <a:srgbClr val="E2E8F0"/>
                </a:solidFill>
                <a:latin typeface="Calibri"/>
              </a:rPr>
              <a:t>Placing an if inside another if/else block to handle multi-tiered criteria.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246120"/>
            <a:ext cx="521208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Multi-Way Branching &amp; Nested Logic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if (score &gt;= 90)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printf("Grade: A (Honors)\n");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} else if (score &gt;= 50)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printf("Grade: Pass\n");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} else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printf("Grade: Retake Needed\n");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D34D"/>
                </a:solidFill>
                <a:latin typeface="Calibri"/>
              </a:rPr>
              <a:t>⚠️ Danger: if (x = 5) assigns 5 (always TRUE!). Always use if (x == 5)!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[Teacher's Note: Draw Diamond decision flowchart here and trace test inputs: score = 95, score = 65, score = 40]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Flow Charts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Flowchart Fundamentals &amp; Symbols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What is a Flowchart?: </a:t>
            </a:r>
            <a:r>
              <a:rPr sz="1200">
                <a:solidFill>
                  <a:srgbClr val="E2E8F0"/>
                </a:solidFill>
                <a:latin typeface="Calibri"/>
              </a:rPr>
              <a:t>Standardized graphical representation of an algorithm or program flow.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Terminator (Oval): </a:t>
            </a:r>
            <a:r>
              <a:rPr sz="1200">
                <a:solidFill>
                  <a:srgbClr val="E2E8F0"/>
                </a:solidFill>
                <a:latin typeface="Calibri"/>
              </a:rPr>
              <a:t>Marks the explicit START and END of the program.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Input / Output (Parallelogram): </a:t>
            </a:r>
            <a:r>
              <a:rPr sz="1200">
                <a:solidFill>
                  <a:srgbClr val="E2E8F0"/>
                </a:solidFill>
                <a:latin typeface="Calibri"/>
              </a:rPr>
              <a:t>Represents user data input (scanf) or screen output (printf).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Process (Rectangle): </a:t>
            </a:r>
            <a:r>
              <a:rPr sz="1200">
                <a:solidFill>
                  <a:srgbClr val="E2E8F0"/>
                </a:solidFill>
                <a:latin typeface="Calibri"/>
              </a:rPr>
              <a:t>Indicates computation, arithmetic actions, or variable assignment.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CD34D"/>
                </a:solidFill>
              </a:rPr>
              <a:t>• </a:t>
            </a:r>
            <a:r>
              <a:rPr b="1" sz="1200">
                <a:solidFill>
                  <a:srgbClr val="FCD34D"/>
                </a:solidFill>
                <a:latin typeface="Calibri"/>
              </a:rPr>
              <a:t>Decision (Diamond): </a:t>
            </a:r>
            <a:r>
              <a:rPr sz="1200">
                <a:solidFill>
                  <a:srgbClr val="E2E8F0"/>
                </a:solidFill>
                <a:latin typeface="Calibri"/>
              </a:rPr>
              <a:t>Evaluates a condition with binary branching pathways (Yes/No or True/False).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💡 Golden Rule: Every flowchart must have exactly 1 Start and 1 End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📐 Core Flowchart Control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[Visual modeling of the 3 fundamental program structures]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45920"/>
            <a:ext cx="5266944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100">
                <a:solidFill>
                  <a:srgbClr val="38BDF8"/>
                </a:solidFill>
              </a:rPr>
              <a:t>1. Sequence Pattern (Linear Progression)
</a:t>
            </a:r>
            <a:r>
              <a:rPr sz="1000">
                <a:solidFill>
                  <a:srgbClr val="E2E8F0"/>
                </a:solidFill>
              </a:rPr>
              <a:t>   [ START ]  -&gt;  [ Input A, B ]  -&gt;  [ Sum = A + B ]  -&gt;  [ Print Sum ]  -&gt;  [ END ]
   • Unconditional step-by-step top-to-bottom instruction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80360"/>
            <a:ext cx="5266944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C084FC"/>
                </a:solidFill>
              </a:rPr>
              <a:t>2. Selection / Branching Pattern (if - else)
</a:t>
            </a:r>
            <a:r>
              <a:rPr sz="1000">
                <a:solidFill>
                  <a:srgbClr val="E2E8F0"/>
                </a:solidFill>
              </a:rPr>
              <a:t>              /-- (TRUE)  --&gt; [ Print 'Pass' ] --\
   &lt; Score &gt;= 50? &gt;                               --&gt; [ END ]
              \-- (FALSE) --&gt; [ Print 'Fail' ] --/
   • Diamond node splits flow into mutually exclusive paths.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51960"/>
            <a:ext cx="5266944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34D399"/>
                </a:solidFill>
              </a:rPr>
              <a:t>3. Iteration / Loop Pattern (while / for)
</a:t>
            </a:r>
            <a:r>
              <a:rPr sz="1000">
                <a:solidFill>
                  <a:srgbClr val="E2E8F0"/>
                </a:solidFill>
              </a:rPr>
              <a:t>   [ Init i=0 ] -&gt; &lt; i &lt; 5? &gt; --(TRUE)--&gt; [ Print i ] -&gt; [ i++ ] --\
                        |                                         |
                     (FALSE) &lt;------- (Loop Back Repeat) ---------/
                        v
                    [ Exit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 for Loop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The for Loop: Structure &amp;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Purpose of for Loop: </a:t>
            </a:r>
            <a:r>
              <a:rPr sz="1100">
                <a:solidFill>
                  <a:srgbClr val="E2E8F0"/>
                </a:solidFill>
                <a:latin typeface="Calibri"/>
              </a:rPr>
              <a:t>Compact iteration construct used when number of cycles is predetermined.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1. Initialization (Init): </a:t>
            </a:r>
            <a:r>
              <a:rPr sz="1100">
                <a:solidFill>
                  <a:srgbClr val="E2E8F0"/>
                </a:solidFill>
                <a:latin typeface="Calibri"/>
              </a:rPr>
              <a:t>Executes ONCE before loop starts (e.g. int i = 1).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2. Condition Test: </a:t>
            </a:r>
            <a:r>
              <a:rPr sz="1100">
                <a:solidFill>
                  <a:srgbClr val="E2E8F0"/>
                </a:solidFill>
                <a:latin typeface="Calibri"/>
              </a:rPr>
              <a:t>Evaluated before every iteration. If TRUE, body runs; if FALSE, loop exits.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3. Loop Body: </a:t>
            </a:r>
            <a:r>
              <a:rPr sz="1100">
                <a:solidFill>
                  <a:srgbClr val="E2E8F0"/>
                </a:solidFill>
                <a:latin typeface="Calibri"/>
              </a:rPr>
              <a:t>The statements enclosed inside { } that repeat each cycle.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4. Update Step: </a:t>
            </a:r>
            <a:r>
              <a:rPr sz="1100">
                <a:solidFill>
                  <a:srgbClr val="E2E8F0"/>
                </a:solidFill>
                <a:latin typeface="Calibri"/>
              </a:rPr>
              <a:t>Modifies counter (e.g. i++) after body executes, then loops back to condition.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83280"/>
            <a:ext cx="521208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for Loop Syntax: Count 1 to 5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 (int i = 1; i &lt;= 5; i++)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printf("%d ", i);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Output: 1 2 3 4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💡 Execution Order: 1. Init -&gt; 2. Condition -&gt; 3. Body -&gt; 4. Update -&gt; Repeat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🔄 Visual for Loop Execution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[Step-by-step lifecycle of each loop iteration]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266944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284C7"/>
                </a:solidFill>
              </a:rPr>
              <a:t>STEP 1: Initialization
</a:t>
            </a:r>
            <a:r>
              <a:rPr sz="1000">
                <a:solidFill>
                  <a:srgbClr val="E2E8F0"/>
                </a:solidFill>
              </a:rPr>
              <a:t>int i = 1  (Executes ONCE at start)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377440"/>
            <a:ext cx="5266944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D97706"/>
                </a:solidFill>
              </a:rPr>
              <a:t>STEP 2: Condition Test
</a:t>
            </a:r>
            <a:r>
              <a:rPr sz="1000">
                <a:solidFill>
                  <a:srgbClr val="E2E8F0"/>
                </a:solidFill>
              </a:rPr>
              <a:t>Is i &lt;= 5?  [TRUE -&gt; Run Body | FALSE -&gt; EXIT LOOP]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063240"/>
            <a:ext cx="5266944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59669"/>
                </a:solidFill>
              </a:rPr>
              <a:t>STEP 3: Loop Body Execution
</a:t>
            </a:r>
            <a:r>
              <a:rPr sz="1000">
                <a:solidFill>
                  <a:srgbClr val="E2E8F0"/>
                </a:solidFill>
              </a:rPr>
              <a:t>printf("%d ", i);  (Execute statements inside block)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49040"/>
            <a:ext cx="5266944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7C3AED"/>
                </a:solidFill>
              </a:rPr>
              <a:t>STEP 4: Update Increment
</a:t>
            </a:r>
            <a:r>
              <a:rPr sz="1000">
                <a:solidFill>
                  <a:srgbClr val="E2E8F0"/>
                </a:solidFill>
              </a:rPr>
              <a:t>i++  (Increments i to 2, then loops back to STEP 2!)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434840"/>
            <a:ext cx="5266944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DC2626"/>
                </a:solidFill>
              </a:rPr>
              <a:t>LOOP TERMINATION
</a:t>
            </a:r>
            <a:r>
              <a:rPr sz="1000">
                <a:solidFill>
                  <a:srgbClr val="E2E8F0"/>
                </a:solidFill>
              </a:rPr>
              <a:t>When i reaches 6 -&gt; Condition FALSE -&gt; Program exits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 while Loop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The while Loop &amp; do-while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The while Loop: </a:t>
            </a:r>
            <a:r>
              <a:rPr sz="1100">
                <a:solidFill>
                  <a:srgbClr val="E2E8F0"/>
                </a:solidFill>
                <a:latin typeface="Calibri"/>
              </a:rPr>
              <a:t>Entry-controlled loop: tests condition BEFORE executing loop body.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When to Use while?: </a:t>
            </a:r>
            <a:r>
              <a:rPr sz="1100">
                <a:solidFill>
                  <a:srgbClr val="E2E8F0"/>
                </a:solidFill>
                <a:latin typeface="Calibri"/>
              </a:rPr>
              <a:t>Best when the total number of iterations is unknown in advance.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Initialization Rule: </a:t>
            </a:r>
            <a:r>
              <a:rPr sz="1100">
                <a:solidFill>
                  <a:srgbClr val="E2E8F0"/>
                </a:solidFill>
                <a:latin typeface="Calibri"/>
              </a:rPr>
              <a:t>Counter variable must be initialized BEFORE entering while loop.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Update Requirement: </a:t>
            </a:r>
            <a:r>
              <a:rPr sz="1100">
                <a:solidFill>
                  <a:srgbClr val="E2E8F0"/>
                </a:solidFill>
                <a:latin typeface="Calibri"/>
              </a:rPr>
              <a:t>Increment (i++) MUST be inside body, otherwise loop runs FOREVER!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do-while Loop: </a:t>
            </a:r>
            <a:r>
              <a:rPr sz="1100">
                <a:solidFill>
                  <a:srgbClr val="E2E8F0"/>
                </a:solidFill>
                <a:latin typeface="Calibri"/>
              </a:rPr>
              <a:t>Exit-controlled loop: GUARANTEED to execute at least ONCE before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83280"/>
            <a:ext cx="521208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while vs do-while Comparison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i = 1;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while (i &lt;= 5) { printf("%d ", i); i++;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j = 10;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do { printf("%d ", j); j++; } while (j &lt; 5);</a:t>
            </a:r>
          </a:p>
          <a:p>
            <a:pPr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do-while prints 10 once even though condition is FALSE!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D34D"/>
                </a:solidFill>
                <a:latin typeface="Calibri"/>
              </a:rPr>
              <a:t>⚠️ Infinite Loop Danger: If update step (i++) is omitted, condition stays TRUE forever!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🔄 while vs do-while Flow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[Entry-controlled vs Exit-controlled architecture]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266944" cy="1691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38BDF8"/>
                </a:solidFill>
              </a:rPr>
              <a:t>1. while Loop (Entry-Controlled Flow)
</a:t>
            </a:r>
            <a:r>
              <a:rPr sz="1000">
                <a:solidFill>
                  <a:srgbClr val="E2E8F0"/>
                </a:solidFill>
              </a:rPr>
              <a:t>   [ Check Condition First ]
         |-- (TRUE)  --&gt; [ Execute Body ] -&gt; [ Update i++ ] --\
         |                                                    |
         |   &lt;------------------ (Loop Back) -----------------/
         \-- (FALSE) --&gt; [ Exit Loop Immediately ]
   • If condition is false initially, body NEVER executes!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566160"/>
            <a:ext cx="5266944" cy="1691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C084FC"/>
                </a:solidFill>
              </a:rPr>
              <a:t>2. do-while Loop (Exit-Controlled Flow)
</a:t>
            </a:r>
            <a:r>
              <a:rPr sz="1000">
                <a:solidFill>
                  <a:srgbClr val="E2E8F0"/>
                </a:solidFill>
              </a:rPr>
              <a:t>   [ Execute Body FIRST without checking! ]
         |
         v
   [ Check Condition at the End ]
         |-- (TRUE)  --&gt; Loop Back to Body
         \-- (FALSE) --&gt; Exit Loop
   • Guaranteed to execute at least ONCE regardless of condition!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Nested Loops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Nested Loops &amp; Multi-Dimensional Traversal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Concept of Nested Loops: </a:t>
            </a:r>
            <a:r>
              <a:rPr sz="1100">
                <a:solidFill>
                  <a:srgbClr val="E2E8F0"/>
                </a:solidFill>
                <a:latin typeface="Calibri"/>
              </a:rPr>
              <a:t>A loop placed entirely inside the body of another loop.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Outer Loop (Rows): </a:t>
            </a:r>
            <a:r>
              <a:rPr sz="1100">
                <a:solidFill>
                  <a:srgbClr val="E2E8F0"/>
                </a:solidFill>
                <a:latin typeface="Calibri"/>
              </a:rPr>
              <a:t>Controls vertical progression. Advances once per full inner loop completion.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Inner Loop (Columns): </a:t>
            </a:r>
            <a:r>
              <a:rPr sz="1100">
                <a:solidFill>
                  <a:srgbClr val="E2E8F0"/>
                </a:solidFill>
                <a:latin typeface="Calibri"/>
              </a:rPr>
              <a:t>Controls horizontal progression. Runs through its ENTIRE cycle every outer step!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Total Iterations Formula: </a:t>
            </a:r>
            <a:r>
              <a:rPr sz="1100">
                <a:solidFill>
                  <a:srgbClr val="E2E8F0"/>
                </a:solidFill>
                <a:latin typeface="Calibri"/>
              </a:rPr>
              <a:t>Total executions = (Outer Loop Count) x (Inner Loop Count).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Independent Variables: </a:t>
            </a:r>
            <a:r>
              <a:rPr sz="1100">
                <a:solidFill>
                  <a:srgbClr val="E2E8F0"/>
                </a:solidFill>
                <a:latin typeface="Calibri"/>
              </a:rPr>
              <a:t>Outer and inner loops must maintain separate counter variables (e.g. r and c).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37560"/>
            <a:ext cx="521208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Pattern Example: 3 Rows x 4 Stars Grid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 (int r = 1; r &lt;= 3; r++) {     // Outer Loop (Rows)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for (int c = 1; c &lt;= 4; c++) { // Inner Loop (Cols)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printf("* 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printf("\n");                 // Move to next row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💡 Golden Rule: Outer loop always controls Rows (r); Inner loop controls Columns (c)!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📐 Nested Loop Matrix Grid Traversal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[How 2 loops generate 2D grids and patterns]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266944" cy="3566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B0F0"/>
                </a:solidFill>
              </a:rPr>
              <a:t>Visual Execution Trace: 3 Rows x 4 Columns
</a:t>
            </a:r>
            <a:r>
              <a:rPr sz="1100">
                <a:solidFill>
                  <a:srgbClr val="E2E8F0"/>
                </a:solidFill>
                <a:latin typeface="Consolas"/>
              </a:rPr>
              <a:t>  Outer (r=1)  -&gt; Inner (c=1..4):   *   *   *   *    [Row 1 Complete]
  Outer (r=2)  -&gt; Inner (c=1..4):   *   *   *   *    [Row 2 Complete]
  Outer (r=3)  -&gt; Inner (c=1..4):   *   *   *   *    [Row 3 Complete]
───────────────────────────────────────────────
• Outer loop stepped 3 times (Row 1, 2, 3)
• Inner loop stepped 4 times per row (Total = 3 x 4 = 12 stars)
• Time Complexity: O(Rows x Cols) = O(N^2) for N x N matrix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1D Arrays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1D Arrays: Memory Layout &amp; Indexing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What is an Array?: </a:t>
            </a:r>
            <a:r>
              <a:rPr sz="1100">
                <a:solidFill>
                  <a:srgbClr val="E2E8F0"/>
                </a:solidFill>
                <a:latin typeface="Calibri"/>
              </a:rPr>
              <a:t>A collection of same-type elements stored in contiguous (adjacent) RAM cells.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Declaration Syntax: </a:t>
            </a:r>
            <a:r>
              <a:rPr sz="1100">
                <a:solidFill>
                  <a:srgbClr val="E2E8F0"/>
                </a:solidFill>
                <a:latin typeface="Calibri"/>
              </a:rPr>
              <a:t>dataType name[size]; (e.g. int arr[5]; allocates 5 x 4 bytes = 20 bytes).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Zero-Based Indexing: </a:t>
            </a:r>
            <a:r>
              <a:rPr sz="1100">
                <a:solidFill>
                  <a:srgbClr val="E2E8F0"/>
                </a:solidFill>
                <a:latin typeface="Calibri"/>
              </a:rPr>
              <a:t>Indices always start at 0 and end at (size - 1): arr[0] to arr[4].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Instant Random Access: </a:t>
            </a:r>
            <a:r>
              <a:rPr sz="1100">
                <a:solidFill>
                  <a:srgbClr val="E2E8F0"/>
                </a:solidFill>
                <a:latin typeface="Calibri"/>
              </a:rPr>
              <a:t>Direct retrieval in constant O(1) time via subscript operator arr[i].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Linear Traversal: </a:t>
            </a:r>
            <a:r>
              <a:rPr sz="1100">
                <a:solidFill>
                  <a:srgbClr val="E2E8F0"/>
                </a:solidFill>
                <a:latin typeface="Calibri"/>
              </a:rPr>
              <a:t>Systematically process every element using for (int i = 0; i &lt; size; i++).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37560"/>
            <a:ext cx="521208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1D Array Declaration, Input &amp; Output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arr[5] = {10, 20, 30, 40, 50};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 (int i = 0; i &lt; 5; i++)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printf("arr[%d] = %d\n", i, arr[i]);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D34D"/>
                </a:solidFill>
                <a:latin typeface="Calibri"/>
              </a:rPr>
              <a:t>⚠️ Out of Bounds: Accessing arr[5] in a size-5 array leads to undefined behavior / garbage!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🧠 1D Array Contiguous RAM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[Physical memory allocation in hardware]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266944" cy="3566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34D399"/>
                </a:solidFill>
              </a:rPr>
              <a:t>Visual RAM Memory Cells: int arr[5] = {10, 20, 30, 40, 50}
</a:t>
            </a:r>
            <a:r>
              <a:rPr sz="1000">
                <a:solidFill>
                  <a:srgbClr val="E2E8F0"/>
                </a:solidFill>
                <a:latin typeface="Consolas"/>
              </a:rPr>
              <a:t>  Index:       [0]      [1]      [2]      [3]      [4]
             ┌──────┬──────┬──────┬──────┬──────┐
  Value:     │  10  │  20  │  30  │  40  │  50  │
             └──────┴──────┴──────┴──────┴──────┘
  Address:    1000   1004   1008   1012   1016   (+4B per int)
───────────────────────────────────────────────
• Base Address: Address of arr[0] = 1000 (&amp;arr[0] or arr)
• Formula: Address(arr[i]) = Base + (i x sizeof(type))
  Example: Address(arr[3]) = 1000 + (3 x 4) = 1012
• Contiguous: Zero gaps between elements in RAM!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2D Arrays (Matrices)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B0F0"/>
                </a:solidFill>
                <a:latin typeface="Amasis MT Pro Light"/>
              </a:rPr>
              <a:t>2D Arrays: Grid &amp; Memory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53312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What is a 2D Array?: </a:t>
            </a:r>
            <a:r>
              <a:rPr sz="1100">
                <a:solidFill>
                  <a:srgbClr val="E2E8F0"/>
                </a:solidFill>
                <a:latin typeface="Calibri"/>
              </a:rPr>
              <a:t>An array of arrays, organized as a grid of Rows and Columns.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Declaration Syntax: </a:t>
            </a:r>
            <a:r>
              <a:rPr sz="1100">
                <a:solidFill>
                  <a:srgbClr val="E2E8F0"/>
                </a:solidFill>
                <a:latin typeface="Calibri"/>
              </a:rPr>
              <a:t>dataType name[ROWS][COLS]; (e.g. int mat[2][3]; = 6 integers).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Element Access: </a:t>
            </a:r>
            <a:r>
              <a:rPr sz="1100">
                <a:solidFill>
                  <a:srgbClr val="E2E8F0"/>
                </a:solidFill>
                <a:latin typeface="Calibri"/>
              </a:rPr>
              <a:t>mat[r][c] accesses the element at Row r and Column c.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Nested Traversal: </a:t>
            </a:r>
            <a:r>
              <a:rPr sz="1100">
                <a:solidFill>
                  <a:srgbClr val="E2E8F0"/>
                </a:solidFill>
                <a:latin typeface="Calibri"/>
              </a:rPr>
              <a:t>Outer loop iterates rows (i); Inner loop iterates columns (j).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CD34D"/>
                </a:solidFill>
              </a:rPr>
              <a:t>• </a:t>
            </a:r>
            <a:r>
              <a:rPr b="1" sz="1100">
                <a:solidFill>
                  <a:srgbClr val="FCD34D"/>
                </a:solidFill>
                <a:latin typeface="Calibri"/>
              </a:rPr>
              <a:t>Row-Major Memory Order: </a:t>
            </a:r>
            <a:r>
              <a:rPr sz="1100">
                <a:solidFill>
                  <a:srgbClr val="E2E8F0"/>
                </a:solidFill>
                <a:latin typeface="Calibri"/>
              </a:rPr>
              <a:t>C stores 2D arrays linearly in RAM row-by-row (Row 0, then Row 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37560"/>
            <a:ext cx="521208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2D Array: Reading &amp; Printing a Matrix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mat[2][3] = {{1, 2, 3}, {4, 5, 6}};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 (int i = 0; i &lt; 2; i++) {      // Rows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for (int j = 0; j &lt; 3; j++) {  // Columns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printf("%d ", mat[i][j]);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printf("\n");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Calibri"/>
              </a:rPr>
              <a:t>💡 Linear Offset Formula: Address(mat[i][j]) = Base + (i x COLS + j) x sizeof(type)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🧠 2D Grid to Row-Major RAM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[Hardware linearization of 2D matrices]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266944" cy="3566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00B0F0"/>
                </a:solidFill>
              </a:rPr>
              <a:t>Row-Major Memory Order in Physical RAM
</a:t>
            </a:r>
            <a:r>
              <a:rPr sz="1000">
                <a:solidFill>
                  <a:srgbClr val="E2E8F0"/>
                </a:solidFill>
                <a:latin typeface="Consolas"/>
              </a:rPr>
              <a:t>1. Conceptual 2D Grid (2 Rows x 3 Cols):
             Col 0   Col 1   Col 2
   Row 0:   [  1  ] [  2  ] [  3  ]
   Row 1:   [  4  ] [  5  ] [  6  ]
2. Physical Linear RAM Storage (Row-Major):
   [ 1 ] [ 2 ] [ 3 ]   --&gt;   [ 4 ] [ 5 ] [ 6 ]
   └───── Row 0 ────┘         └───── Row 1 ────┘
───────────────────────────────────────────────
• Row 0 is stored consecutively, followed immediately by Row 1
• Row-wise iteration maximizes CPU cache hit rates!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Error Finding Lab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Amasis MT Pro Light"/>
              </a:rPr>
              <a:t>🐛 Spot the Bug: Syntax &amp; Input/Output Traps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521208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Snippet A: Reading integer from user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age;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printf("Enter age: 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scanf("%d", age);         // BUG #1: Can you spot it?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Snippet B: Score output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score = 95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Printf("Score: %d\n", score); // BUGS #2 &amp; #3: Find 2 errors!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Snippet C: Float printing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float gpa = 3.85;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printf("GPA: %d\n", gpa);    // BUG #4: What will print?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D34D"/>
                </a:solidFill>
                <a:latin typeface="Calibri"/>
              </a:rPr>
              <a:t>🔍 Student Challenge: Identify the 4 errors above and explain the compiler errors!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✏️  Live Trace &amp; Bug Fix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[Classroom Activity: Ask students to spot errors, circle them live, and write the corrected code]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1544" y="256032"/>
            <a:ext cx="38404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Error Finding Lab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Amasis MT Pro Light"/>
              </a:rPr>
              <a:t>🐛 Spot the Bug: Logic, Loops &amp; Array Traps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521208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Snippet D: Conditional Security Check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is_admin = 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if (is_admin = 1) {       // BUG #5: Why is access always allowed?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printf("Admin Access Granted!\n");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Snippet E: Array Traversal &amp; Printing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arr[5] = {10, 20, 30, 40, 50};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 (int i = 0; i &lt;= 5; ) { // BUGS #6 &amp; #7: 2 fatal errors here!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printf("%d ", arr[i]);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 i="1">
                <a:solidFill>
                  <a:srgbClr val="94A3B8"/>
                </a:solidFill>
                <a:latin typeface="Consolas"/>
              </a:rPr>
              <a:t>// Snippet F: Integer Division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int a = 5, b = 2;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float avg = (a + b) / 2;  // BUG #8: Why is avg 3.0 instead of 3.5?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D34D"/>
                </a:solidFill>
                <a:latin typeface="Calibri"/>
              </a:rPr>
              <a:t>🔍 Student Challenge: These compile without error but give wrong results! 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9601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✏️  Live Trace &amp; Bug Fix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94A3B8"/>
                </a:solidFill>
                <a:latin typeface="Calibri"/>
              </a:rPr>
              <a:t>[Classroom Activity: Trace condition truth table (assignment vs comparison), index bounds (0..4), and float cast]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49039" y="22860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masis MT Pro Ligh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749039" y="3108960"/>
            <a:ext cx="4114800" cy="182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0" y="3291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B0F0"/>
                </a:solidFill>
                <a:latin typeface="Calibri"/>
              </a:rPr>
              <a:t>Happy Coding with C &amp; NovoNex Delta!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120640"/>
            <a:ext cx="137160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40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Amasis MT Pro</vt:lpstr>
      <vt:lpstr>Amasis MT Pro Light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Anik Bhowmik</dc:creator>
  <cp:lastModifiedBy>Md.Tamim Hossain</cp:lastModifiedBy>
  <cp:revision>11</cp:revision>
  <dcterms:created xsi:type="dcterms:W3CDTF">2025-11-12T20:54:57Z</dcterms:created>
  <dcterms:modified xsi:type="dcterms:W3CDTF">2026-10-11T20:48:51Z</dcterms:modified>
</cp:coreProperties>
</file>