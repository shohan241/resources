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524"/>
    <a:srgbClr val="00B2FF"/>
    <a:srgbClr val="9C1D1C"/>
    <a:srgbClr val="014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AB6A-02CD-4747-AA87-780F4F8E6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69E25-C254-4F7D-9D69-E843AEC70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5F53-8BCE-494A-AD40-70010141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8369-BFF0-4025-A835-C907C064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475F-3762-481A-99F6-D3E99CF5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323D-2713-4825-994F-7C10B6CA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B0B-25C5-448C-BA9A-16AADAA3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B6B4-68D2-4992-B3E4-D8E86E1B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9EE9-959D-489F-9D2D-BC1C89D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C247-2D52-4C4C-BB37-64F73BF9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6C16-9698-49B1-B18E-5E75B95C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34E27-01C8-4B90-9367-ED05B38B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259D-6D1D-48A2-BDBC-E25C0787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B7B8-47F5-4CE8-8FED-1218B02C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F683-ABE9-4D17-A2E1-37A3BA4F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40F8-67D3-46D6-ACCC-A0927BEC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5AA3-B4D6-48FF-A2B2-D6FA75BEF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EABF-FE1D-41C2-AD95-B7A728C1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27C50-8AC7-4B27-9E80-A98FD26F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0CC67-C2C3-4843-9182-2A4FEDB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FDF6-531B-468A-B173-841FE1C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1909-0BFE-4B80-905F-0FDAEBF2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9B871-80B2-4AF2-9AB7-BE6E9374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16C7-B587-43EA-9A0C-295DF96A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8572E-9A21-4AF6-AF4F-CBB6E3FB4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E730C-9E3E-4BB6-A059-6E083EBBD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EE6EC-A2E4-49DF-BD70-7DDEF727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32840-E5F0-4DE1-9571-DE724925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3C098-B6DA-4D6B-A815-EDBBE860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9BC5-36AF-4C39-ADE1-AAE84951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E2A37-134B-4CD1-9A8C-E3AB813E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5AED9-A892-4DF4-ACD1-42BE962A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96CA2-9806-4F85-B74C-CBB0DE30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8C8AA-02E0-4ABC-9610-8834278E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42843-8BE0-4117-9E4C-C53E2CE8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639CA-EFDE-436E-AE04-BBF7EAF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8FFB-90CA-4C7D-8B14-B5BA74A0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858D-CA70-4598-9364-F5E959672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B88C-3CD4-4A6A-B2F8-FDF93148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02E7-3D2A-4545-91C5-86A504FE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B29E-AE16-4B7E-B319-8E1639A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2BF98-DEEB-45A9-8C3A-A8F8044B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8C2C-A09C-4AEF-A050-C52125E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4190-F406-4036-B298-D9E681F10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EF5BB-D0D0-46B5-82D9-02B24112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3A82-0D07-4C40-9EAD-50773D2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BB98-AAEC-48A8-8078-8E8F6DA9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3BA3-4A46-4611-B374-1DC51210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FD54-C55A-49D9-AED7-8142B147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C1C04-6AD8-453C-9178-BDBAA7F3F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C10A-55B5-498F-9621-B71AD3F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D37-2EB1-4533-ABAA-E333E8E0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E5D3-069D-4DC8-A4E9-F6D15EB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34B2-BF9D-4822-B078-265D93FBC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2BF12-EF0F-4ACE-9E4C-669C1ED5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2706-38F4-467B-8323-91EBA8DE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4D326-BB3E-4DB8-83DF-90E9E1F7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12321-5139-4D99-8923-59DB1C83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286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29967-2FBE-4A64-86B6-A8A4D13C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E3FB3-35B7-4A64-A236-9F67FAA0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5C47-E493-4554-A680-77B0EB8F8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B9F4-9595-4D18-976E-75B715637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BCA6-BBEC-40A3-959C-F431CA9F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2560320"/>
            <a:ext cx="4572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2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3319272"/>
            <a:ext cx="4507992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3429000"/>
            <a:ext cx="3931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>
                <a:solidFill>
                  <a:srgbClr val="00B2FF"/>
                </a:solidFill>
                <a:latin typeface="Amasis MT Pro"/>
              </a:rPr>
              <a:t>N</a:t>
            </a:r>
            <a:r>
              <a:rPr sz="2400">
                <a:solidFill>
                  <a:srgbClr val="00B2FF"/>
                </a:solidFill>
                <a:latin typeface="Amasis MT Pro"/>
              </a:rPr>
              <a:t>ovo</a:t>
            </a:r>
            <a:r>
              <a:rPr sz="2400">
                <a:solidFill>
                  <a:srgbClr val="D12524"/>
                </a:solidFill>
                <a:latin typeface="Amasis MT Pro"/>
              </a:rPr>
              <a:t>Nex</a:t>
            </a:r>
            <a:r>
              <a:rPr sz="2400">
                <a:solidFill>
                  <a:srgbClr val="FFFFFF"/>
                </a:solidFill>
                <a:latin typeface="Amasis MT Pro"/>
              </a:rPr>
              <a:t> </a:t>
            </a:r>
            <a:r>
              <a:rPr sz="3200">
                <a:solidFill>
                  <a:srgbClr val="00B2FF"/>
                </a:solidFill>
                <a:latin typeface="Amasis MT Pro"/>
              </a:rPr>
              <a:t>D</a:t>
            </a:r>
            <a:r>
              <a:rPr sz="2400">
                <a:solidFill>
                  <a:srgbClr val="00B2FF"/>
                </a:solidFill>
                <a:latin typeface="Amasis MT Pro"/>
              </a:rPr>
              <a:t>el</a:t>
            </a:r>
            <a:r>
              <a:rPr sz="2400">
                <a:solidFill>
                  <a:srgbClr val="D12524"/>
                </a:solidFill>
                <a:latin typeface="Amasis MT Pro"/>
              </a:rPr>
              <a:t>ta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5989320"/>
            <a:ext cx="10515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Introduction &amp; Compiler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Introduction to Programming &amp; Compilers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What is Programming?: </a:t>
            </a:r>
            <a:r>
              <a:rPr sz="1000">
                <a:solidFill>
                  <a:srgbClr val="E2E8F0"/>
                </a:solidFill>
                <a:latin typeface="Calibri"/>
              </a:rPr>
              <a:t>Writing precise instructions that a computer can execute to solve problems.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Why Learn Programming &amp; C?: </a:t>
            </a:r>
            <a:r>
              <a:rPr sz="1000">
                <a:solidFill>
                  <a:srgbClr val="E2E8F0"/>
                </a:solidFill>
                <a:latin typeface="Calibri"/>
              </a:rPr>
              <a:t>C is the mother of modern languages. It builds deep intuition of computer memory, hardware control, and operating systems.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High-Level vs Machine Code: </a:t>
            </a:r>
            <a:r>
              <a:rPr sz="1000">
                <a:solidFill>
                  <a:srgbClr val="E2E8F0"/>
                </a:solidFill>
                <a:latin typeface="Calibri"/>
              </a:rPr>
              <a:t>Humans write human-readable source code (.c), but CPUs only understand binary 0s and 1s.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How Does a Compiler Work?: </a:t>
            </a:r>
            <a:r>
              <a:rPr sz="1000">
                <a:solidFill>
                  <a:srgbClr val="E2E8F0"/>
                </a:solidFill>
                <a:latin typeface="Calibri"/>
              </a:rPr>
              <a:t>A multi-stage translation pipeline: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1. Preprocessor: </a:t>
            </a:r>
            <a:r>
              <a:rPr sz="1000">
                <a:solidFill>
                  <a:srgbClr val="E2E8F0"/>
                </a:solidFill>
                <a:latin typeface="Calibri"/>
              </a:rPr>
              <a:t>Processes directives (#include, #define, macro expansions).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2. Compiler: </a:t>
            </a:r>
            <a:r>
              <a:rPr sz="1000">
                <a:solidFill>
                  <a:srgbClr val="E2E8F0"/>
                </a:solidFill>
                <a:latin typeface="Calibri"/>
              </a:rPr>
              <a:t>Translates preprocessed C code into Assembly code.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3. Assembler: </a:t>
            </a:r>
            <a:r>
              <a:rPr sz="1000">
                <a:solidFill>
                  <a:srgbClr val="E2E8F0"/>
                </a:solidFill>
                <a:latin typeface="Calibri"/>
              </a:rPr>
              <a:t>Converts Assembly code into machine object code (.o / .obj).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4. Linker: </a:t>
            </a:r>
            <a:r>
              <a:rPr sz="1000">
                <a:solidFill>
                  <a:srgbClr val="E2E8F0"/>
                </a:solidFill>
                <a:latin typeface="Calibri"/>
              </a:rPr>
              <a:t>Combines object files with system libraries into an executable (.exe / a.out).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Tip: GCC command: gcc -Wall file.c -o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Sketch the Compilation Pipeline Diagram (Source -&gt; Preprocessor -&gt; Compiler -&gt; Assembler -&gt; Linker -&gt; Output) &amp; RAM/CPU model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First Code &amp; Structure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C Program Structure &amp; Syntax Breakdown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#include &lt;stdio.h&gt;: </a:t>
            </a:r>
            <a:r>
              <a:rPr sz="1000">
                <a:solidFill>
                  <a:srgbClr val="E2E8F0"/>
                </a:solidFill>
                <a:latin typeface="Calibri"/>
              </a:rPr>
              <a:t>Header file for Standard Input/Output library (needed for printf).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int main(): </a:t>
            </a:r>
            <a:r>
              <a:rPr sz="1000">
                <a:solidFill>
                  <a:srgbClr val="E2E8F0"/>
                </a:solidFill>
                <a:latin typeface="Calibri"/>
              </a:rPr>
              <a:t>Entry-point function where computer begins executing instructions.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printf(...): </a:t>
            </a:r>
            <a:r>
              <a:rPr sz="1000">
                <a:solidFill>
                  <a:srgbClr val="E2E8F0"/>
                </a:solidFill>
                <a:latin typeface="Calibri"/>
              </a:rPr>
              <a:t>Standard library function used to print formatted text to console.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\n (Newline): </a:t>
            </a:r>
            <a:r>
              <a:rPr sz="1000">
                <a:solidFill>
                  <a:srgbClr val="E2E8F0"/>
                </a:solidFill>
                <a:latin typeface="Calibri"/>
              </a:rPr>
              <a:t>Escape character that moves the console cursor to the next line.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return 0;: </a:t>
            </a:r>
            <a:r>
              <a:rPr sz="1000">
                <a:solidFill>
                  <a:srgbClr val="E2E8F0"/>
                </a:solidFill>
                <a:latin typeface="Calibri"/>
              </a:rPr>
              <a:t>Tells the operating system that the program terminated successfully.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Semicolon (;): </a:t>
            </a:r>
            <a:r>
              <a:rPr sz="1000">
                <a:solidFill>
                  <a:srgbClr val="E2E8F0"/>
                </a:solidFill>
                <a:latin typeface="Calibri"/>
              </a:rPr>
              <a:t>Every statement in C must end with a semicolon!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5212080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First C Program: Hello World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F43F5E"/>
                </a:solidFill>
                <a:latin typeface="Consolas"/>
              </a:rPr>
              <a:t>#include </a:t>
            </a:r>
            <a:r>
              <a:rPr sz="1000">
                <a:solidFill>
                  <a:srgbClr val="34D399"/>
                </a:solidFill>
                <a:latin typeface="Consolas"/>
              </a:rPr>
              <a:t>&lt;stdio.h&gt;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main() 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"Hello, World!\n"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    return </a:t>
            </a:r>
            <a:r>
              <a:rPr sz="1000">
                <a:solidFill>
                  <a:srgbClr val="E2E8F0"/>
                </a:solidFill>
                <a:latin typeface="Consolas"/>
              </a:rPr>
              <a:t>0;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Golden Rule: Execution always begins at main(), regardless of line position!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Live trace cursor position with \n, demonstrate terminal compilation, and trace exit code 0 vs non-zero errors]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Variables &amp; Data Types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Variables, Data Types &amp; Standard I/O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What is a Variable?: </a:t>
            </a:r>
            <a:r>
              <a:rPr sz="1000">
                <a:solidFill>
                  <a:srgbClr val="E2E8F0"/>
                </a:solidFill>
                <a:latin typeface="Calibri"/>
              </a:rPr>
              <a:t>A named container in RAM used to store and manipulate data values.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int: </a:t>
            </a:r>
            <a:r>
              <a:rPr sz="1000">
                <a:solidFill>
                  <a:srgbClr val="E2E8F0"/>
                </a:solidFill>
                <a:latin typeface="Calibri"/>
              </a:rPr>
              <a:t>Stores whole numbers (e.g. 42). Size: 4 bytes | Specifier: %d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long long: </a:t>
            </a:r>
            <a:r>
              <a:rPr sz="1000">
                <a:solidFill>
                  <a:srgbClr val="E2E8F0"/>
                </a:solidFill>
                <a:latin typeface="Calibri"/>
              </a:rPr>
              <a:t>Stores very large integers (up to ~9×10^18). Size: 8 bytes | Specifier: %lld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char: </a:t>
            </a:r>
            <a:r>
              <a:rPr sz="1000">
                <a:solidFill>
                  <a:srgbClr val="E2E8F0"/>
                </a:solidFill>
                <a:latin typeface="Calibri"/>
              </a:rPr>
              <a:t>Stores single ASCII character ('A', 'z'). Size: 1 byte | Specifier: %c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float: </a:t>
            </a:r>
            <a:r>
              <a:rPr sz="1000">
                <a:solidFill>
                  <a:srgbClr val="E2E8F0"/>
                </a:solidFill>
                <a:latin typeface="Calibri"/>
              </a:rPr>
              <a:t>Single-precision decimal (~6 digits). Size: 4 bytes | Specifier: %f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double: </a:t>
            </a:r>
            <a:r>
              <a:rPr sz="1000">
                <a:solidFill>
                  <a:srgbClr val="E2E8F0"/>
                </a:solidFill>
                <a:latin typeface="Calibri"/>
              </a:rPr>
              <a:t>Double-precision decimal (~15 digits). Size: 8 bytes | Specifier: %lf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scanf(...) &amp; &amp; (Ampersand): </a:t>
            </a:r>
            <a:r>
              <a:rPr sz="1000">
                <a:solidFill>
                  <a:srgbClr val="E2E8F0"/>
                </a:solidFill>
                <a:latin typeface="Calibri"/>
              </a:rPr>
              <a:t>Reads user input from keyboard. &amp; passes the memory address!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977639"/>
            <a:ext cx="521208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Variable Declaration &amp; I/O Example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age;</a:t>
            </a:r>
            <a:r>
              <a:rPr sz="1000">
                <a:solidFill>
                  <a:srgbClr val="38BDF8"/>
                </a:solidFill>
                <a:latin typeface="Consolas"/>
              </a:rPr>
              <a:t> double </a:t>
            </a:r>
            <a:r>
              <a:rPr sz="1000">
                <a:solidFill>
                  <a:srgbClr val="E2E8F0"/>
                </a:solidFill>
                <a:latin typeface="Consolas"/>
              </a:rPr>
              <a:t>gpa;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scanf(</a:t>
            </a:r>
            <a:r>
              <a:rPr sz="1000">
                <a:solidFill>
                  <a:srgbClr val="34D399"/>
                </a:solidFill>
                <a:latin typeface="Consolas"/>
              </a:rPr>
              <a:t>"%d %lf"</a:t>
            </a:r>
            <a:r>
              <a:rPr sz="1000">
                <a:solidFill>
                  <a:srgbClr val="E2E8F0"/>
                </a:solidFill>
                <a:latin typeface="Consolas"/>
              </a:rPr>
              <a:t>, &amp;age, &amp;gpa);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printf(</a:t>
            </a:r>
            <a:r>
              <a:rPr sz="1000">
                <a:solidFill>
                  <a:srgbClr val="34D399"/>
                </a:solidFill>
                <a:latin typeface="Consolas"/>
              </a:rPr>
              <a:t>"Age: %d, GPA: %.2lf\n"</a:t>
            </a:r>
            <a:r>
              <a:rPr sz="1000">
                <a:solidFill>
                  <a:srgbClr val="E2E8F0"/>
                </a:solidFill>
                <a:latin typeface="Consolas"/>
              </a:rPr>
              <a:t>, age, gpa);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⚠️ Common Mistake: Forgetting '&amp;' in scanf() causes segmentation faults!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Draw RAM memory boxes with addresses (e.g. 0x7ffd..), bit sizes, and explain why &amp;age gives the memory address to scanf]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Operators &amp; Expressions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Operators &amp; Expression Evaluation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Arithmetic Operators: </a:t>
            </a:r>
            <a:r>
              <a:rPr sz="1000">
                <a:solidFill>
                  <a:srgbClr val="E2E8F0"/>
                </a:solidFill>
                <a:latin typeface="Calibri"/>
              </a:rPr>
              <a:t>+, -, *, / (quotient), % (remainder / modulo).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Integer Division: </a:t>
            </a:r>
            <a:r>
              <a:rPr sz="1000">
                <a:solidFill>
                  <a:srgbClr val="E2E8F0"/>
                </a:solidFill>
                <a:latin typeface="Calibri"/>
              </a:rPr>
              <a:t>5 / 2 gives 2 (fraction truncated). 5.0 / 2 gives 2.5!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  Modulo Operator (%): </a:t>
            </a:r>
            <a:r>
              <a:rPr sz="1000">
                <a:solidFill>
                  <a:srgbClr val="E2E8F0"/>
                </a:solidFill>
                <a:latin typeface="Calibri"/>
              </a:rPr>
              <a:t>Gives remainder: 7 % 3 = 1. (Works only on integers!).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Relational Operators: </a:t>
            </a:r>
            <a:r>
              <a:rPr sz="1000">
                <a:solidFill>
                  <a:srgbClr val="E2E8F0"/>
                </a:solidFill>
                <a:latin typeface="Calibri"/>
              </a:rPr>
              <a:t>==, !=, &lt;, &gt;, &lt;=, &gt;= (Evaluates to 1 for TRUE, 0 for FALSE).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Logical Operators: </a:t>
            </a:r>
            <a:r>
              <a:rPr sz="1000">
                <a:solidFill>
                  <a:srgbClr val="E2E8F0"/>
                </a:solidFill>
                <a:latin typeface="Calibri"/>
              </a:rPr>
              <a:t>&amp;&amp; (AND), || (OR), ! (NOT). Supports short-circuiting!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Assignment &amp; Shorthand: </a:t>
            </a:r>
            <a:r>
              <a:rPr sz="1000">
                <a:solidFill>
                  <a:srgbClr val="E2E8F0"/>
                </a:solidFill>
                <a:latin typeface="Calibri"/>
              </a:rPr>
              <a:t>=, +=, -=, *=, /= (e.g., x += 5 is x = x + 5).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Increment / Decrement: </a:t>
            </a:r>
            <a:r>
              <a:rPr sz="1000">
                <a:solidFill>
                  <a:srgbClr val="E2E8F0"/>
                </a:solidFill>
                <a:latin typeface="Calibri"/>
              </a:rPr>
              <a:t>++x (Pre: increment then use), x++ (Post: use then increment).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977639"/>
            <a:ext cx="521208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Expression Evaluation &amp; Precedence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a = 5, b = 2;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res = a + b * 3;  </a:t>
            </a:r>
            <a:r>
              <a:rPr sz="1000">
                <a:solidFill>
                  <a:srgbClr val="94A3B8"/>
                </a:solidFill>
                <a:latin typeface="Consolas"/>
              </a:rPr>
              <a:t>// 5 + 6 = 11 (* before +)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cond = (a &gt; 3) &amp;&amp; (b == 2); </a:t>
            </a:r>
            <a:r>
              <a:rPr sz="1000">
                <a:solidFill>
                  <a:srgbClr val="94A3B8"/>
                </a:solidFill>
                <a:latin typeface="Consolas"/>
              </a:rPr>
              <a:t>// 1 (TRUE)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Precedence Order: Parentheses () &gt; (*, /, %) &gt; (+, -) &gt; Relational &gt; Logical &gt; Assignment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Dry run complex expressions live: (e.g. a++ + ++a), integer truncation traps, and boolean truth tables]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Conditionals: if-else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Conditional Statements (if, else if, else)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Decision Making in C: </a:t>
            </a:r>
            <a:r>
              <a:rPr sz="1000">
                <a:solidFill>
                  <a:srgbClr val="E2E8F0"/>
                </a:solidFill>
                <a:latin typeface="Calibri"/>
              </a:rPr>
              <a:t>Controls execution flow based on boolean condition test (True/False).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In C: Non-Zero is TRUE: </a:t>
            </a:r>
            <a:r>
              <a:rPr sz="1000">
                <a:solidFill>
                  <a:srgbClr val="E2E8F0"/>
                </a:solidFill>
                <a:latin typeface="Calibri"/>
              </a:rPr>
              <a:t>0 represents FALSE. Any non-zero value (-1, 1, 99) is TRUE!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if Statement: </a:t>
            </a:r>
            <a:r>
              <a:rPr sz="1000">
                <a:solidFill>
                  <a:srgbClr val="E2E8F0"/>
                </a:solidFill>
                <a:latin typeface="Calibri"/>
              </a:rPr>
              <a:t>Executes the enclosed block only if condition evaluates to TRUE.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else if Statement: </a:t>
            </a:r>
            <a:r>
              <a:rPr sz="1000">
                <a:solidFill>
                  <a:srgbClr val="E2E8F0"/>
                </a:solidFill>
                <a:latin typeface="Calibri"/>
              </a:rPr>
              <a:t>Tests alternative condition if preceding if was FALSE.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else Statement: </a:t>
            </a:r>
            <a:r>
              <a:rPr sz="1000">
                <a:solidFill>
                  <a:srgbClr val="E2E8F0"/>
                </a:solidFill>
                <a:latin typeface="Calibri"/>
              </a:rPr>
              <a:t>Default catch-all block; runs if all above conditions are FALSE.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Single-Path Execution: </a:t>
            </a:r>
            <a:r>
              <a:rPr sz="1000">
                <a:solidFill>
                  <a:srgbClr val="E2E8F0"/>
                </a:solidFill>
                <a:latin typeface="Calibri"/>
              </a:rPr>
              <a:t>As soon as ONE condition evaluates to TRUE, its block runs and the entire chain exits!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74720"/>
            <a:ext cx="521208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Multi-Way Branching (Number Sign Check)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if </a:t>
            </a:r>
            <a:r>
              <a:rPr sz="1000">
                <a:solidFill>
                  <a:srgbClr val="E2E8F0"/>
                </a:solidFill>
                <a:latin typeface="Consolas"/>
              </a:rPr>
              <a:t>(num &gt; 0) 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"Positive\n"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 </a:t>
            </a:r>
            <a:r>
              <a:rPr sz="1000">
                <a:solidFill>
                  <a:srgbClr val="C084FC"/>
                </a:solidFill>
                <a:latin typeface="Consolas"/>
              </a:rPr>
              <a:t>else if </a:t>
            </a:r>
            <a:r>
              <a:rPr sz="1000">
                <a:solidFill>
                  <a:srgbClr val="E2E8F0"/>
                </a:solidFill>
                <a:latin typeface="Consolas"/>
              </a:rPr>
              <a:t>(num &lt; 0) 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"Negative\n"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 </a:t>
            </a:r>
            <a:r>
              <a:rPr sz="1000">
                <a:solidFill>
                  <a:srgbClr val="C084FC"/>
                </a:solidFill>
                <a:latin typeface="Consolas"/>
              </a:rPr>
              <a:t>else </a:t>
            </a: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"Zero\n"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⚠️ Danger: if (x = 5) assigns 5 (always TRUE!). Always use == for comparison: if (x == 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Draw Diamond Decision Flowchart here and test inputs: num = +10, num = -4, num = 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Nested if-else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Nested Conditional Logic &amp; Hierarchy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What is Nesting?: </a:t>
            </a:r>
            <a:r>
              <a:rPr sz="1000">
                <a:solidFill>
                  <a:srgbClr val="E2E8F0"/>
                </a:solidFill>
                <a:latin typeface="Calibri"/>
              </a:rPr>
              <a:t>Placing an if or if-else block inside another if or else block.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When to Use?: </a:t>
            </a:r>
            <a:r>
              <a:rPr sz="1000">
                <a:solidFill>
                  <a:srgbClr val="E2E8F0"/>
                </a:solidFill>
                <a:latin typeface="Calibri"/>
              </a:rPr>
              <a:t>When a secondary decision is dependent on a primary condition being satisfied.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Execution Hierarchy: </a:t>
            </a:r>
            <a:r>
              <a:rPr sz="1000">
                <a:solidFill>
                  <a:srgbClr val="E2E8F0"/>
                </a:solidFill>
                <a:latin typeface="Calibri"/>
              </a:rPr>
              <a:t>Inner condition is evaluated ONLY if the outer condition succeeds.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The Dangling Else Trap: </a:t>
            </a:r>
            <a:r>
              <a:rPr sz="1000">
                <a:solidFill>
                  <a:srgbClr val="E2E8F0"/>
                </a:solidFill>
                <a:latin typeface="Calibri"/>
              </a:rPr>
              <a:t>An else binds to the nearest preceding if without an else!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Best Practice: </a:t>
            </a:r>
            <a:r>
              <a:rPr sz="1000">
                <a:solidFill>
                  <a:srgbClr val="E2E8F0"/>
                </a:solidFill>
                <a:latin typeface="Calibri"/>
              </a:rPr>
              <a:t>Always enclose every block in curly braces {} even for 1 line!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154680"/>
            <a:ext cx="521208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Nested Decision: Pass/Fail &amp; Distinction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if </a:t>
            </a:r>
            <a:r>
              <a:rPr sz="1000">
                <a:solidFill>
                  <a:srgbClr val="E2E8F0"/>
                </a:solidFill>
                <a:latin typeface="Consolas"/>
              </a:rPr>
              <a:t>(marks &gt;= 40) {  </a:t>
            </a:r>
            <a:r>
              <a:rPr sz="1000">
                <a:solidFill>
                  <a:srgbClr val="94A3B8"/>
                </a:solidFill>
                <a:latin typeface="Consolas"/>
              </a:rPr>
              <a:t>// Outer Check: Passed?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    if </a:t>
            </a:r>
            <a:r>
              <a:rPr sz="1000">
                <a:solidFill>
                  <a:srgbClr val="E2E8F0"/>
                </a:solidFill>
                <a:latin typeface="Consolas"/>
              </a:rPr>
              <a:t>(marks &gt;= 80) {  </a:t>
            </a:r>
            <a:r>
              <a:rPr sz="1000">
                <a:solidFill>
                  <a:srgbClr val="94A3B8"/>
                </a:solidFill>
                <a:latin typeface="Consolas"/>
              </a:rPr>
              <a:t>// Inner Check: Honors?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"Passed with Grade A+\n"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 </a:t>
            </a:r>
            <a:r>
              <a:rPr sz="1000">
                <a:solidFill>
                  <a:srgbClr val="C084FC"/>
                </a:solidFill>
                <a:latin typeface="Consolas"/>
              </a:rPr>
              <a:t>else </a:t>
            </a: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"Passed successfully\n"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 </a:t>
            </a:r>
            <a:r>
              <a:rPr sz="1000">
                <a:solidFill>
                  <a:srgbClr val="C084FC"/>
                </a:solidFill>
                <a:latin typeface="Consolas"/>
              </a:rPr>
              <a:t>else </a:t>
            </a:r>
            <a:r>
              <a:rPr sz="10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"Failed. Please Retake\n"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Tip: Nested if-else can often be simplified using Logical Operators (&amp;&amp;, ||)!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Trace complex problem live: Finding the largest of 3 numbers or Leap Year logic with nested tree]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Loops: for, while, do-while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Iterative Statements (Loops in C)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Why Use Loops?: </a:t>
            </a:r>
            <a:r>
              <a:rPr sz="1000">
                <a:solidFill>
                  <a:srgbClr val="E2E8F0"/>
                </a:solidFill>
                <a:latin typeface="Calibri"/>
              </a:rPr>
              <a:t>To repeat a block of code multiple times without rewriting statements.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3 Essential Loop Components:: </a:t>
            </a:r>
            <a:r>
              <a:rPr sz="1000">
                <a:solidFill>
                  <a:srgbClr val="E2E8F0"/>
                </a:solidFill>
                <a:latin typeface="Calibri"/>
              </a:rPr>
              <a:t>Every loop requires: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1. Initialization: </a:t>
            </a:r>
            <a:r>
              <a:rPr sz="1000">
                <a:solidFill>
                  <a:srgbClr val="E2E8F0"/>
                </a:solidFill>
                <a:latin typeface="Calibri"/>
              </a:rPr>
              <a:t>Setting starting counter value (e.g. int i = 1).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2. Condition Test: </a:t>
            </a:r>
            <a:r>
              <a:rPr sz="1000">
                <a:solidFill>
                  <a:srgbClr val="E2E8F0"/>
                </a:solidFill>
                <a:latin typeface="Calibri"/>
              </a:rPr>
              <a:t>Boolean check evaluated before/after each cycle (i &lt;= n).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3. Update / Step: </a:t>
            </a:r>
            <a:r>
              <a:rPr sz="1000">
                <a:solidFill>
                  <a:srgbClr val="E2E8F0"/>
                </a:solidFill>
                <a:latin typeface="Calibri"/>
              </a:rPr>
              <a:t>Modifying counter (i++, i += 2) to eventually break loop!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for Loop: </a:t>
            </a:r>
            <a:r>
              <a:rPr sz="1000">
                <a:solidFill>
                  <a:srgbClr val="E2E8F0"/>
                </a:solidFill>
                <a:latin typeface="Calibri"/>
              </a:rPr>
              <a:t>Best when number of iterations is known in advance.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while Loop: </a:t>
            </a:r>
            <a:r>
              <a:rPr sz="1000">
                <a:solidFill>
                  <a:srgbClr val="E2E8F0"/>
                </a:solidFill>
                <a:latin typeface="Calibri"/>
              </a:rPr>
              <a:t>Entry-controlled loop; checks condition BEFORE running body.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do-while Loop: </a:t>
            </a:r>
            <a:r>
              <a:rPr sz="1000">
                <a:solidFill>
                  <a:srgbClr val="E2E8F0"/>
                </a:solidFill>
                <a:latin typeface="Calibri"/>
              </a:rPr>
              <a:t>Exit-controlled loop; GUARANTEED to execute at least ONCE!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66160"/>
            <a:ext cx="52120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Comparison of Loop Syntaxes (Print 1 to 5)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// 1. for loop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for </a:t>
            </a:r>
            <a:r>
              <a:rPr sz="1000">
                <a:solidFill>
                  <a:srgbClr val="E2E8F0"/>
                </a:solidFill>
                <a:latin typeface="Consolas"/>
              </a:rPr>
              <a:t>(int i = 1; i &lt;= 5; i++) { printf("%d ", i); }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// 2. while loop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i = 1; while (i &lt;= 5) { printf("%d ", i); i++; }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94A3B8"/>
                </a:solidFill>
                <a:latin typeface="Consolas"/>
              </a:rPr>
              <a:t>// 3. do-while loop (runs at least once)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int i = 1; do { printf("%d ", i); i++; } while (i &lt;= 5);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⚠️ Infinite Loop Danger: If the update step (i++) is omitted, condition stays true forever!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Draw Iteration Trace Table live: Step | i value | Condition (i&lt;=5) | Output | New i]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Nested Loops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Nested Loops &amp; Multi-Dimensional Traversal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Concept of Nested Loops: </a:t>
            </a:r>
            <a:r>
              <a:rPr sz="1000">
                <a:solidFill>
                  <a:srgbClr val="E2E8F0"/>
                </a:solidFill>
                <a:latin typeface="Calibri"/>
              </a:rPr>
              <a:t>A loop placed inside the body of another loop.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How Nested Loops Run:: </a:t>
            </a:r>
            <a:r>
              <a:rPr sz="1000">
                <a:solidFill>
                  <a:srgbClr val="E2E8F0"/>
                </a:solidFill>
                <a:latin typeface="Calibri"/>
              </a:rPr>
              <a:t>For every SINGLE iteration of the outer loop, the inner loop completes its ENTIRE iteration cycle!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Total Iterations Formula: </a:t>
            </a:r>
            <a:r>
              <a:rPr sz="1000">
                <a:solidFill>
                  <a:srgbClr val="E2E8F0"/>
                </a:solidFill>
                <a:latin typeface="Calibri"/>
              </a:rPr>
              <a:t>Total executions = (Outer Count) × (Inner Count).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Time Complexity: </a:t>
            </a:r>
            <a:r>
              <a:rPr sz="1000">
                <a:solidFill>
                  <a:srgbClr val="E2E8F0"/>
                </a:solidFill>
                <a:latin typeface="Calibri"/>
              </a:rPr>
              <a:t>Two loops running N times results in O(N × N) = O(N^2).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Primary Applications: </a:t>
            </a:r>
            <a:r>
              <a:rPr sz="1000">
                <a:solidFill>
                  <a:srgbClr val="E2E8F0"/>
                </a:solidFill>
                <a:latin typeface="Calibri"/>
              </a:rPr>
              <a:t>Printing 2D star patterns, coordinate grids, and traversing 2D matrices/tables.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154680"/>
            <a:ext cx="521208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Pattern Example: 3 Rows x 4 Stars Grid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for </a:t>
            </a:r>
            <a:r>
              <a:rPr sz="1000">
                <a:solidFill>
                  <a:srgbClr val="E2E8F0"/>
                </a:solidFill>
                <a:latin typeface="Consolas"/>
              </a:rPr>
              <a:t>(int r = 1; r &lt;= 3; r++) {      </a:t>
            </a:r>
            <a:r>
              <a:rPr sz="1000">
                <a:solidFill>
                  <a:srgbClr val="94A3B8"/>
                </a:solidFill>
                <a:latin typeface="Consolas"/>
              </a:rPr>
              <a:t>// Outer Loop (Rows)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    for </a:t>
            </a:r>
            <a:r>
              <a:rPr sz="1000">
                <a:solidFill>
                  <a:srgbClr val="E2E8F0"/>
                </a:solidFill>
                <a:latin typeface="Consolas"/>
              </a:rPr>
              <a:t>(int c = 1; c &lt;= 4; c++) {  </a:t>
            </a:r>
            <a:r>
              <a:rPr sz="1000">
                <a:solidFill>
                  <a:srgbClr val="94A3B8"/>
                </a:solidFill>
                <a:latin typeface="Consolas"/>
              </a:rPr>
              <a:t>// Inner Loop (Cols)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"* 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"\n"</a:t>
            </a:r>
            <a:r>
              <a:rPr sz="1000">
                <a:solidFill>
                  <a:srgbClr val="E2E8F0"/>
                </a:solidFill>
                <a:latin typeface="Consolas"/>
              </a:rPr>
              <a:t>);              </a:t>
            </a:r>
            <a:r>
              <a:rPr sz="1000">
                <a:solidFill>
                  <a:srgbClr val="94A3B8"/>
                </a:solidFill>
                <a:latin typeface="Consolas"/>
              </a:rPr>
              <a:t>// Move to next row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Pattern Rule: Outer loop always controls Rows (r); Inner loop controls Columns (c)!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Trace live row-column matrix, variable values (r, c), and draw triangular pyramid patterns: (c &lt;= r)]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1D Arrays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1D Arrays: Memory Layout &amp; Indexing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What is an Array?: </a:t>
            </a:r>
            <a:r>
              <a:rPr sz="1000">
                <a:solidFill>
                  <a:srgbClr val="E2E8F0"/>
                </a:solidFill>
                <a:latin typeface="Calibri"/>
              </a:rPr>
              <a:t>A contiguous collection of elements of the same data type stored in consecutive RAM memory cells.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Fixed Size: </a:t>
            </a:r>
            <a:r>
              <a:rPr sz="1000">
                <a:solidFill>
                  <a:srgbClr val="E2E8F0"/>
                </a:solidFill>
                <a:latin typeface="Calibri"/>
              </a:rPr>
              <a:t>Array capacity is fixed at declaration: int arr[5];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0-Based Indexing: </a:t>
            </a:r>
            <a:r>
              <a:rPr sz="1000">
                <a:solidFill>
                  <a:srgbClr val="E2E8F0"/>
                </a:solidFill>
                <a:latin typeface="Calibri"/>
              </a:rPr>
              <a:t>Indices always start at 0 and end at (size - 1):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onsolas"/>
              </a:rPr>
              <a:t>•   Valid Indices for size 5: </a:t>
            </a:r>
            <a:r>
              <a:rPr sz="1000">
                <a:solidFill>
                  <a:srgbClr val="E2E8F0"/>
                </a:solidFill>
                <a:latin typeface="Calibri"/>
              </a:rPr>
              <a:t>arr[0], arr[1], arr[2], arr[3], arr[4].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Contiguous Memory Address: </a:t>
            </a:r>
            <a:r>
              <a:rPr sz="1000">
                <a:solidFill>
                  <a:srgbClr val="E2E8F0"/>
                </a:solidFill>
                <a:latin typeface="Calibri"/>
              </a:rPr>
              <a:t>Each integer occupies 4 bytes. Address jumps by 4: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  Formula: </a:t>
            </a:r>
            <a:r>
              <a:rPr sz="1000">
                <a:solidFill>
                  <a:srgbClr val="E2E8F0"/>
                </a:solidFill>
                <a:latin typeface="Calibri"/>
              </a:rPr>
              <a:t>Address(arr[i]) = Base_Address + (i × sizeof(type)).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Array Traversal: </a:t>
            </a:r>
            <a:r>
              <a:rPr sz="1000">
                <a:solidFill>
                  <a:srgbClr val="E2E8F0"/>
                </a:solidFill>
                <a:latin typeface="Calibri"/>
              </a:rPr>
              <a:t>Use a standard for loop from i = 0 to i &lt; size.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66160"/>
            <a:ext cx="521208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1D Array Declaration, Input &amp; Output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arr[5] = {10, 20, 30, 40, 50};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for </a:t>
            </a:r>
            <a:r>
              <a:rPr sz="1000">
                <a:solidFill>
                  <a:srgbClr val="E2E8F0"/>
                </a:solidFill>
                <a:latin typeface="Consolas"/>
              </a:rPr>
              <a:t>(int i = 0; i &lt; 5; i++) {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"arr[%d] = %d\n"</a:t>
            </a:r>
            <a:r>
              <a:rPr sz="1000">
                <a:solidFill>
                  <a:srgbClr val="E2E8F0"/>
                </a:solidFill>
                <a:latin typeface="Consolas"/>
              </a:rPr>
              <a:t>, i, arr[i]);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⚠️ Out of Bounds: Accessing arr[5] in a size-5 array leads to undefined behavior / garbage memory!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Draw continuous RAM memory boxes, show index 0..4 vs memory addresses (1000, 1004, 1008..), and pointer decay]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anchor="ctr" lIns="0" tIns="0" rIns="0" bIns="0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2D Arrays (Matrices)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01168"/>
          <a:lstStyle/>
          <a:p>
            <a:pPr algn="ctr"/>
            <a:r>
              <a:rPr sz="1550" b="1">
                <a:solidFill>
                  <a:srgbClr val="00B0F0"/>
                </a:solidFill>
                <a:latin typeface="Calibri"/>
              </a:rPr>
              <a:t>2D Arrays (Matrices): Grid &amp; Memory Mapping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What is a 2D Array?: </a:t>
            </a:r>
            <a:r>
              <a:rPr sz="1000">
                <a:solidFill>
                  <a:srgbClr val="E2E8F0"/>
                </a:solidFill>
                <a:latin typeface="Calibri"/>
              </a:rPr>
              <a:t>An array of arrays, conceptually organized as a table/grid of Rows and Columns.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Declaration Syntax: </a:t>
            </a:r>
            <a:r>
              <a:rPr sz="1000">
                <a:solidFill>
                  <a:srgbClr val="E2E8F0"/>
                </a:solidFill>
                <a:latin typeface="Calibri"/>
              </a:rPr>
              <a:t>dataType name[ROWS][COLUMNS]; (e.g. int matrix[3][4];).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Element Access: </a:t>
            </a:r>
            <a:r>
              <a:rPr sz="1000">
                <a:solidFill>
                  <a:srgbClr val="E2E8F0"/>
                </a:solidFill>
                <a:latin typeface="Calibri"/>
              </a:rPr>
              <a:t>matrix[r][c] accesses the item at Row r and Column c.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Nested Loop Traversal: </a:t>
            </a:r>
            <a:r>
              <a:rPr sz="1000">
                <a:solidFill>
                  <a:srgbClr val="E2E8F0"/>
                </a:solidFill>
                <a:latin typeface="Calibri"/>
              </a:rPr>
              <a:t>Outer loop iterates rows (i); Inner loop iterates cols (j).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050" b="1">
                <a:solidFill>
                  <a:srgbClr val="FCD34D"/>
                </a:solidFill>
                <a:latin typeface="Calibri"/>
              </a:rPr>
              <a:t>• Row-Major Memory Order: </a:t>
            </a:r>
            <a:r>
              <a:rPr sz="1000">
                <a:solidFill>
                  <a:srgbClr val="E2E8F0"/>
                </a:solidFill>
                <a:latin typeface="Calibri"/>
              </a:rPr>
              <a:t>In C, 2D arrays are stored linearly in RAM row-by-row (Row 0 elements, then Row 1 elements, etc.).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17520"/>
            <a:ext cx="521208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28016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2D Array: Reading &amp; Printing a Matrix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38BDF8"/>
                </a:solidFill>
                <a:latin typeface="Consolas"/>
              </a:rPr>
              <a:t>int </a:t>
            </a:r>
            <a:r>
              <a:rPr sz="1000">
                <a:solidFill>
                  <a:srgbClr val="E2E8F0"/>
                </a:solidFill>
                <a:latin typeface="Consolas"/>
              </a:rPr>
              <a:t>mat[2][3] = {{1, 2, 3}, {4, 5, 6}};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for </a:t>
            </a:r>
            <a:r>
              <a:rPr sz="1000">
                <a:solidFill>
                  <a:srgbClr val="E2E8F0"/>
                </a:solidFill>
                <a:latin typeface="Consolas"/>
              </a:rPr>
              <a:t>(int i = 0; i &lt; 2; i++) {      </a:t>
            </a:r>
            <a:r>
              <a:rPr sz="1000">
                <a:solidFill>
                  <a:srgbClr val="94A3B8"/>
                </a:solidFill>
                <a:latin typeface="Consolas"/>
              </a:rPr>
              <a:t>// Rows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C084FC"/>
                </a:solidFill>
                <a:latin typeface="Consolas"/>
              </a:rPr>
              <a:t>    for </a:t>
            </a:r>
            <a:r>
              <a:rPr sz="1000">
                <a:solidFill>
                  <a:srgbClr val="E2E8F0"/>
                </a:solidFill>
                <a:latin typeface="Consolas"/>
              </a:rPr>
              <a:t>(int j = 0; j &lt; 3; j++) {  </a:t>
            </a:r>
            <a:r>
              <a:rPr sz="1000">
                <a:solidFill>
                  <a:srgbClr val="94A3B8"/>
                </a:solidFill>
                <a:latin typeface="Consolas"/>
              </a:rPr>
              <a:t>// Columns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"%d "</a:t>
            </a:r>
            <a:r>
              <a:rPr sz="1000">
                <a:solidFill>
                  <a:srgbClr val="E2E8F0"/>
                </a:solidFill>
                <a:latin typeface="Consolas"/>
              </a:rPr>
              <a:t>, mat[i][j]);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}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printf(</a:t>
            </a:r>
            <a:r>
              <a:rPr sz="1000">
                <a:solidFill>
                  <a:srgbClr val="34D399"/>
                </a:solidFill>
                <a:latin typeface="Consolas"/>
              </a:rPr>
              <a:t>"\n"</a:t>
            </a:r>
            <a:r>
              <a:rPr sz="100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250"/>
              </a:spcBef>
              <a:spcAft>
                <a:spcPts val="1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950" b="1">
                <a:solidFill>
                  <a:srgbClr val="38BDF8"/>
                </a:solidFill>
                <a:latin typeface="Calibri"/>
              </a:rPr>
              <a:t>💡 Linear Offset Formula: Address(mat[i][j]) = Base + (i × COLS + j) × sizeof(type)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 i="1">
                <a:solidFill>
                  <a:srgbClr val="94A3B8"/>
                </a:solidFill>
                <a:latin typeface="Calibri"/>
              </a:rPr>
              <a:t>[Teacher's Note: Draw 2x3 Matrix Grid [row][col] and show the linear 1D memory unrolling (Row-Major Storage) in RAM]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468880"/>
            <a:ext cx="3959352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masis MT Pro Ligh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355848"/>
            <a:ext cx="3959352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520440"/>
            <a:ext cx="487375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0B0F0"/>
                </a:solidFill>
                <a:latin typeface="Calibri"/>
              </a:rPr>
              <a:t>Happy Coding with C &amp; NovoNex Delta!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623560"/>
            <a:ext cx="1362456" cy="941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40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</vt:lpstr>
      <vt:lpstr>Amasis MT Pro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Anik Bhowmik</dc:creator>
  <cp:lastModifiedBy>Md.Tamim Hossain</cp:lastModifiedBy>
  <cp:revision>11</cp:revision>
  <dcterms:created xsi:type="dcterms:W3CDTF">2025-11-12T20:54:57Z</dcterms:created>
  <dcterms:modified xsi:type="dcterms:W3CDTF">2026-10-11T20:48:51Z</dcterms:modified>
</cp:coreProperties>
</file>