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media/image3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Master title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01CB82-DEB4-4D99-A770-58DEEC2ED328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Master title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2C6E6A-B2E7-4CC3-B1C8-8473C09405AC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Master title </a:t>
            </a: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0D8C9D-84D5-4617-8FA3-7BBB2F957AE4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2DB6ED-0D46-435D-A3FC-25A03394131B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8A24EA-6160-4183-9300-08C98EF3F84B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36F1D3-4266-48F1-9B23-040E8D1A34E9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2B5E1C-DD07-4564-8DBB-C917CBEB452D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B03FA4-E27C-457A-B0E8-4395AD4857F6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6312F1-FD44-4644-B742-CA6561865F2F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EF51E7-FC41-43F2-8AA7-236A8B8CFEA3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059C71-D346-4897-9E87-40DB3961EDE3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2011680"/>
            <a:ext cx="103590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rogramming and Problem Solving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3474720" y="2880360"/>
            <a:ext cx="5238360" cy="2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200400" y="3017520"/>
            <a:ext cx="5787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00B2FF"/>
                </a:solidFill>
                <a:effectLst/>
                <a:uFillTx/>
                <a:latin typeface="Amasis MT Pro"/>
              </a:rPr>
              <a:t>N</a:t>
            </a:r>
            <a:r>
              <a:rPr lang="en-US" sz="2400" b="0" u="none" strike="noStrike">
                <a:solidFill>
                  <a:srgbClr val="00B2FF"/>
                </a:solidFill>
                <a:effectLst/>
                <a:uFillTx/>
                <a:latin typeface="Amasis MT Pro"/>
              </a:rPr>
              <a:t>ovo</a:t>
            </a:r>
            <a:r>
              <a:rPr lang="en-US" sz="2400" b="0" u="none" strike="noStrike">
                <a:solidFill>
                  <a:srgbClr val="D12524"/>
                </a:solidFill>
                <a:effectLst/>
                <a:uFillTx/>
                <a:latin typeface="Amasis MT Pro"/>
              </a:rPr>
              <a:t>Nex</a:t>
            </a: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masis MT Pro"/>
              </a:rPr>
              <a:t>  </a:t>
            </a:r>
            <a:r>
              <a:rPr lang="en-US" sz="3200" b="0" u="none" strike="noStrike">
                <a:solidFill>
                  <a:srgbClr val="00B2FF"/>
                </a:solidFill>
                <a:effectLst/>
                <a:uFillTx/>
                <a:latin typeface="Amasis MT Pro"/>
              </a:rPr>
              <a:t>D</a:t>
            </a:r>
            <a:r>
              <a:rPr lang="en-US" sz="2400" b="0" u="none" strike="noStrike">
                <a:solidFill>
                  <a:srgbClr val="00B2FF"/>
                </a:solidFill>
                <a:effectLst/>
                <a:uFillTx/>
                <a:latin typeface="Amasis MT Pro"/>
              </a:rPr>
              <a:t>el</a:t>
            </a:r>
            <a:r>
              <a:rPr lang="en-US" sz="2400" b="0" u="none" strike="noStrike">
                <a:solidFill>
                  <a:srgbClr val="D12524"/>
                </a:solidFill>
                <a:effectLst/>
                <a:uFillTx/>
                <a:latin typeface="Amasis MT Pro"/>
              </a:rPr>
              <a:t>ta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4" descr="novonex_logo.png"/>
          <p:cNvPicPr/>
          <p:nvPr/>
        </p:nvPicPr>
        <p:blipFill>
          <a:blip r:embed="rId1"/>
          <a:stretch/>
        </p:blipFill>
        <p:spPr>
          <a:xfrm>
            <a:off x="5394960" y="4937760"/>
            <a:ext cx="1370520" cy="86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01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Introduction to Programming &amp; Compilers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Programming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Hardware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Compilation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Binaries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Execution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Introduction &amp; Compilers 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Introduction to Programming &amp; Compilers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1440000"/>
            <a:ext cx="5302440" cy="181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Programming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Hardware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Compilation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Binaries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Execution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9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Trace &amp; Explanation Board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[Teacher's Note: Architecture trace from high-level .c source to CPU execution]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2"/>
          <p:cNvSpPr/>
          <p:nvPr/>
        </p:nvSpPr>
        <p:spPr>
          <a:xfrm>
            <a:off x="457200" y="3548880"/>
            <a:ext cx="5265720" cy="23940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1828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From Source Code to Machine Execution:</a:t>
            </a:r>
            <a:br>
              <a:rPr sz="1200"/>
            </a:b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1. Source File (.c):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Human-readable C syntax statements and functions.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2. GCC Compilation Process: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 Preprocessor ] -&gt; [ Compiler ] -&gt; [ Assembler ] -&gt; [ Linker 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02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C Program Structure &amp; Syntax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Headers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Main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Statements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Blocks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Comments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Structure &amp; Syntax 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C Program Structure &amp; Execution Flow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8"/>
          <p:cNvSpPr/>
          <p:nvPr/>
        </p:nvSpPr>
        <p:spPr>
          <a:xfrm>
            <a:off x="594360" y="4343400"/>
            <a:ext cx="5211000" cy="159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Mandatory C Skeleton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#include &lt;stdio.h&gt;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main()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printf("Hello, World!\n");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return 0; // Signals OS success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Trace &amp; Execution Flow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[Line-by-line execution walkthrough of main entry point]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3"/>
          <p:cNvSpPr/>
          <p:nvPr/>
        </p:nvSpPr>
        <p:spPr>
          <a:xfrm>
            <a:off x="548640" y="1600200"/>
            <a:ext cx="5265720" cy="25138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1828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Program Execution Anatomy:</a:t>
            </a:r>
            <a:br>
              <a:rPr sz="1200"/>
            </a:b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1. Preprocessor (#include):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Pastes standard header declarations into compilation unit.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2. Function Header (int main()):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Defines return type (int) and program entry point.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3. Standard Function Call (printf):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Transfers bytes to stdout; '\n' moves terminal cursor.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03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Variables, Data Types &amp; Standard I/O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Variables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Types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Specifiers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Input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Output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Variables &amp; Data Types ⭐⭐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Variables, Data Types &amp; Memory Allocation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548640" y="1440000"/>
            <a:ext cx="53024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Variables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Types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Specifiers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6400800" y="1371240"/>
            <a:ext cx="5211000" cy="1599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Data Type Declarations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count = 42;         // 4 Bytes: Whole numbers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float price = 19.99f;   // 4 Bytes: 6 decimal places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double pi = 3.14159265; // 8 Bytes: 15 decimal places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char grade = 'A';       // 1 Byte:  ASCII character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🧠 RAM Memory Box Architecture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677160" y="3092760"/>
            <a:ext cx="5037120" cy="2440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1828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Physical Memory Architecture:</a:t>
            </a:r>
            <a:br>
              <a:rPr sz="1200"/>
            </a:b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Variable Storage in Hardware RAM: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┌───────────┬──────────┬───────────┬──────────────────┐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│ Variable  │ Type     │ Size (B)  │ Memory Address   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├───────────┼──────────┼───────────┼──────────────────┤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│ count     │ int      │ 4 Bytes   │ 0x7ffd5e20 (RAM) 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│ price     │ float    │ 4 Bytes   │ 0x7ffd5e24 (RAM) 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│ pi        │ double   │ 8 Bytes   │ 0x7ffd5e28 (RAM) 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│ grade     │ char     │ 1 Byte    │ 0x7ffd5e30 (RAM) │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└───────────┴──────────┴───────────┴──────────────────┘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Standard I/O ⭐⭐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Rectangle 5"/>
          <p:cNvSpPr/>
          <p:nvPr/>
        </p:nvSpPr>
        <p:spPr>
          <a:xfrm>
            <a:off x="457200" y="91440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Standard Console Input &amp; Output Streams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548640" y="1440000"/>
            <a:ext cx="53024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Specifiers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Input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Output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8"/>
          <p:cNvSpPr/>
          <p:nvPr/>
        </p:nvSpPr>
        <p:spPr>
          <a:xfrm>
            <a:off x="822960" y="4579920"/>
            <a:ext cx="4891320" cy="113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Formatted Console Reading &amp; Writing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age; double gpa;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printf("Enter age and gpa: 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scanf("%d %lf", &amp;age, &amp;gpa);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printf("Age = %d | GPA = %.2lf\n", age, gpa);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4"/>
          <p:cNvSpPr/>
          <p:nvPr/>
        </p:nvSpPr>
        <p:spPr>
          <a:xfrm>
            <a:off x="685800" y="2514600"/>
            <a:ext cx="5028480" cy="15994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098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2. Common Format Specifiers</a:t>
            </a:r>
            <a:br>
              <a:rPr sz="1600"/>
            </a:b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%d  -&gt; Signed decimal integer (int)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%f  -&gt; Single-precision float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%lf -&gt; Double-precision float (in scanf)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%c  -&gt; Single character (char)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04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Operators, Identifiers, &amp; Expression Evaluation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Identifiers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Arithmetic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Relational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Logical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Precedence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Operators &amp; Identifiers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Identifiers &amp; Basic Operator Mechanics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Identifiers: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Programmer-defined variable and function names following strict naming rules.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Arithmetic: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Math operators: +, -, *, / (quotient), and % (modulo integer remainder).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Relational: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Comparison operators (==, !=, &lt;, &gt;, &lt;=, &gt;=) evaluate to 1 (True) or 0 (False).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Arithmetic &amp; Relational Evaluation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 = 7, b = 2;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quot = a / b;     // 3 (integer truncation!)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rem = a % b;      // 1 (remainder)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is_greater = a &gt; b; // 1 (True)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⚠️ Integer Division Trap: 7 / 2 yields 3! Use 7.0 / 2 to obtain 3.5 float result!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Operator Evaluation Board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[Identifier rules &amp; arithmetic truncation behavior]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Operators &amp; Precedence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548640" y="86868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Logical Operators &amp; Precedence Ladder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8"/>
          <p:cNvSpPr/>
          <p:nvPr/>
        </p:nvSpPr>
        <p:spPr>
          <a:xfrm>
            <a:off x="685800" y="4800600"/>
            <a:ext cx="5211000" cy="1142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Compound Logic &amp; Precedence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x = 5, y = 10;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&amp;&amp; has higher precedence than ||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res = (x &gt; 0) &amp;&amp; (y &lt; 20); // 1 (True)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calc = x + y * 2;          // 25 (* precedes +)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4"/>
          <p:cNvSpPr/>
          <p:nvPr/>
        </p:nvSpPr>
        <p:spPr>
          <a:xfrm>
            <a:off x="677160" y="13716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1. Unary Operators: ++  --  !  sizeof  &amp;  | Right to Left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5"/>
          <p:cNvSpPr/>
          <p:nvPr/>
        </p:nvSpPr>
        <p:spPr>
          <a:xfrm>
            <a:off x="677160" y="18414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2. Multiplicative: *  /  %  | Left to Right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6"/>
          <p:cNvSpPr/>
          <p:nvPr/>
        </p:nvSpPr>
        <p:spPr>
          <a:xfrm>
            <a:off x="677160" y="23112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3. Additive: +  -  | Left to Right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7"/>
          <p:cNvSpPr/>
          <p:nvPr/>
        </p:nvSpPr>
        <p:spPr>
          <a:xfrm>
            <a:off x="677160" y="27810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4. Relational: &lt;  &lt;=  &gt;  &gt;=  | Left to Right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8"/>
          <p:cNvSpPr/>
          <p:nvPr/>
        </p:nvSpPr>
        <p:spPr>
          <a:xfrm>
            <a:off x="677160" y="32508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. Equality: ==  !=  | Left to Right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9"/>
          <p:cNvSpPr/>
          <p:nvPr/>
        </p:nvSpPr>
        <p:spPr>
          <a:xfrm>
            <a:off x="677160" y="37206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6. Logical AND / OR: &amp;&amp; then ||  | Left to Right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0"/>
          <p:cNvSpPr/>
          <p:nvPr/>
        </p:nvSpPr>
        <p:spPr>
          <a:xfrm>
            <a:off x="677160" y="4190400"/>
            <a:ext cx="5265720" cy="4690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730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7. Assignment: =  +=  -=  *=  | Right to Left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05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Conditional Statements (if, else if, else) and Nested Logic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Branching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Conditions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Alternatives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Nesting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Fallthrough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Conditionals: if-else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Conditional Statements: if, else if, else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548640" y="1440000"/>
            <a:ext cx="5302440" cy="6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00000"/>
              </a:lnSpc>
              <a:spcAft>
                <a:spcPts val="601"/>
              </a:spcAft>
              <a:buClr>
                <a:srgbClr val="FCD34D"/>
              </a:buClr>
              <a:buFont typeface="Wingdings" charset="2"/>
              <a:buChar char=""/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 Conditions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Alternatives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8"/>
          <p:cNvSpPr/>
          <p:nvPr/>
        </p:nvSpPr>
        <p:spPr>
          <a:xfrm>
            <a:off x="594360" y="4800600"/>
            <a:ext cx="5211000" cy="127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if (score &gt;= 90)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printf("Grade: A\n");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} else if (score &gt;= 80)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printf("Grade: B\n");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} else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printf("Grade: C\n");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Trace &amp; Decision Trees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3"/>
          <p:cNvSpPr/>
          <p:nvPr/>
        </p:nvSpPr>
        <p:spPr>
          <a:xfrm>
            <a:off x="685800" y="2177280"/>
            <a:ext cx="5028480" cy="23940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tIns="18288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Decision Logic Architecture:</a:t>
            </a:r>
            <a:br>
              <a:rPr sz="1200"/>
            </a:b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1. Single if: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 Condition True? ] ──Yes──&gt; [ Execute Body 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           │ No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           ▼ (Continue sequential flow)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2. Two-way if-else: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 Condition True? ] ──Yes──&gt; [ True Branch 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           │ No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50" b="0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           └─────────&gt; [ False Branch 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Nested Logic &amp; Switch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Rectangle 5"/>
          <p:cNvSpPr/>
          <p:nvPr/>
        </p:nvSpPr>
        <p:spPr>
          <a:xfrm>
            <a:off x="457200" y="91440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548640" y="81720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Nested Conditionals &amp; Switch Logic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548640" y="1236960"/>
            <a:ext cx="530244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Nesting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Fallthrough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Alternatives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8"/>
          <p:cNvSpPr/>
          <p:nvPr/>
        </p:nvSpPr>
        <p:spPr>
          <a:xfrm>
            <a:off x="640080" y="2211120"/>
            <a:ext cx="5211000" cy="136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Multi-Way Decision: switch with break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switch (op)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case '+': res = a + b; break;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case '-': res = a - b; break;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case '*': res = a * b; break;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default:  printf("Invalid operator\n");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11"/>
          <p:cNvSpPr/>
          <p:nvPr/>
        </p:nvSpPr>
        <p:spPr>
          <a:xfrm>
            <a:off x="6309360" y="960120"/>
            <a:ext cx="3217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13"/>
          <p:cNvSpPr/>
          <p:nvPr/>
        </p:nvSpPr>
        <p:spPr>
          <a:xfrm>
            <a:off x="677160" y="3657600"/>
            <a:ext cx="5265720" cy="13708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098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onsolas"/>
              </a:rPr>
              <a:t>1. Nested If-Else Decision Tree</a:t>
            </a:r>
            <a:br>
              <a:rPr sz="1100"/>
            </a:b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Checks conditions sequentially: O(N) comparisons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Ideal for ranges (score &gt;= 80 &amp;&amp; score &lt; 90)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High nesting levels reduce code readability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4"/>
          <p:cNvSpPr/>
          <p:nvPr/>
        </p:nvSpPr>
        <p:spPr>
          <a:xfrm>
            <a:off x="677160" y="5029200"/>
            <a:ext cx="5265720" cy="1048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1098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CD34D"/>
                </a:solidFill>
                <a:effectLst/>
                <a:uFillTx/>
                <a:latin typeface="Consolas"/>
              </a:rPr>
              <a:t>2. Switch-Case Jump Table</a:t>
            </a:r>
            <a:br>
              <a:rPr sz="1100"/>
            </a:b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Compiler compiles into direct O(1) jump table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Strictly tests discrete integer or char values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• Missing 'break;' triggers case fallthrough!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06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Flow chart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Flowcharts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Terminals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Processes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Decisions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Connectors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4"/>
          <p:cNvSpPr/>
          <p:nvPr/>
        </p:nvSpPr>
        <p:spPr>
          <a:xfrm>
            <a:off x="411840" y="192240"/>
            <a:ext cx="11365200" cy="52056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49000" y="219960"/>
            <a:ext cx="4161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6"/>
          <p:cNvSpPr/>
          <p:nvPr/>
        </p:nvSpPr>
        <p:spPr>
          <a:xfrm>
            <a:off x="7781760" y="256320"/>
            <a:ext cx="3839760" cy="38340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Flowchart Shapes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1" descr="novonex_logo.png"/>
          <p:cNvPicPr/>
          <p:nvPr/>
        </p:nvPicPr>
        <p:blipFill>
          <a:blip r:embed="rId1"/>
          <a:stretch/>
        </p:blipFill>
        <p:spPr>
          <a:xfrm>
            <a:off x="5724360" y="6264000"/>
            <a:ext cx="749160" cy="52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angle 7"/>
          <p:cNvSpPr/>
          <p:nvPr/>
        </p:nvSpPr>
        <p:spPr>
          <a:xfrm>
            <a:off x="411840" y="869040"/>
            <a:ext cx="5577120" cy="521136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549000" y="960480"/>
            <a:ext cx="530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Core Process &amp; I/O Symbols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549000" y="1310400"/>
            <a:ext cx="32652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[Visual shapes and standard operations for program flow]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1"/>
          <p:cNvSpPr/>
          <p:nvPr/>
        </p:nvSpPr>
        <p:spPr>
          <a:xfrm>
            <a:off x="6199920" y="869040"/>
            <a:ext cx="5577120" cy="521136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6309720" y="960480"/>
            <a:ext cx="5348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Decision &amp; Routing Symbols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6309720" y="1310400"/>
            <a:ext cx="35082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[Branching conditions, connector junctions &amp; directional flow]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1"/>
          <p:cNvSpPr/>
          <p:nvPr/>
        </p:nvSpPr>
        <p:spPr>
          <a:xfrm>
            <a:off x="549000" y="160020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ounded Rectangle 2"/>
          <p:cNvSpPr/>
          <p:nvPr/>
        </p:nvSpPr>
        <p:spPr>
          <a:xfrm>
            <a:off x="677160" y="1847520"/>
            <a:ext cx="1279440" cy="685080"/>
          </a:xfrm>
          <a:prstGeom prst="roundRect">
            <a:avLst>
              <a:gd name="adj" fmla="val 16667"/>
            </a:avLst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START / END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2085120" y="165528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Terminator (Oval / Rounded Pill)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Defines the mandatory entry (Start) and exit (End / Stop) boundary terminals of program flow.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Entry at main() and exit at return 0;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3"/>
          <p:cNvSpPr/>
          <p:nvPr/>
        </p:nvSpPr>
        <p:spPr>
          <a:xfrm>
            <a:off x="549000" y="286524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15"/>
          <p:cNvSpPr/>
          <p:nvPr/>
        </p:nvSpPr>
        <p:spPr>
          <a:xfrm>
            <a:off x="677160" y="3112560"/>
            <a:ext cx="1279440" cy="685080"/>
          </a:xfrm>
          <a:prstGeom prst="rect">
            <a:avLst/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Process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6"/>
          <p:cNvSpPr/>
          <p:nvPr/>
        </p:nvSpPr>
        <p:spPr>
          <a:xfrm>
            <a:off x="2085120" y="292032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Process Box (Rectangle)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Represents computational tasks, arithmetic calculations, data transformations, and assignments.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sum = a + b;  |  count = 0;  |  x++;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4"/>
          <p:cNvSpPr/>
          <p:nvPr/>
        </p:nvSpPr>
        <p:spPr>
          <a:xfrm>
            <a:off x="549000" y="413028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Parallelogram 18"/>
          <p:cNvSpPr/>
          <p:nvPr/>
        </p:nvSpPr>
        <p:spPr>
          <a:xfrm>
            <a:off x="677160" y="4377600"/>
            <a:ext cx="1279440" cy="685080"/>
          </a:xfrm>
          <a:prstGeom prst="parallelogram">
            <a:avLst>
              <a:gd name="adj" fmla="val 25000"/>
            </a:avLst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Input / Output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9"/>
          <p:cNvSpPr/>
          <p:nvPr/>
        </p:nvSpPr>
        <p:spPr>
          <a:xfrm>
            <a:off x="2085120" y="418536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Input / Output (Parallelogram)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Represents data receiving operations from user input or printing results to output displays.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scanf("%d", &amp;a);  |  printf("Result: %d", sum);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5"/>
          <p:cNvSpPr/>
          <p:nvPr/>
        </p:nvSpPr>
        <p:spPr>
          <a:xfrm>
            <a:off x="6335280" y="160020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Diamond 21"/>
          <p:cNvSpPr/>
          <p:nvPr/>
        </p:nvSpPr>
        <p:spPr>
          <a:xfrm>
            <a:off x="6445080" y="1815480"/>
            <a:ext cx="1325160" cy="749160"/>
          </a:xfrm>
          <a:prstGeom prst="diamond">
            <a:avLst/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Decision?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2"/>
          <p:cNvSpPr/>
          <p:nvPr/>
        </p:nvSpPr>
        <p:spPr>
          <a:xfrm>
            <a:off x="7871400" y="165528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Decision Box (Diamond)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Evaluates a boolean conditional question; splits flow into divergent True / False paths.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if (score &gt;= 50)  |  while (i &lt; n)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23"/>
          <p:cNvSpPr/>
          <p:nvPr/>
        </p:nvSpPr>
        <p:spPr>
          <a:xfrm>
            <a:off x="6335280" y="286524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Oval 24"/>
          <p:cNvSpPr/>
          <p:nvPr/>
        </p:nvSpPr>
        <p:spPr>
          <a:xfrm>
            <a:off x="6701040" y="3066840"/>
            <a:ext cx="776520" cy="776520"/>
          </a:xfrm>
          <a:prstGeom prst="ellipse">
            <a:avLst/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●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5"/>
          <p:cNvSpPr/>
          <p:nvPr/>
        </p:nvSpPr>
        <p:spPr>
          <a:xfrm>
            <a:off x="7871400" y="292032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Connector (Circle)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Joins multiple intersecting flow lines into a single point to prevent messy crossing lines.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Merge point of if-else branches, loop returns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26"/>
          <p:cNvSpPr/>
          <p:nvPr/>
        </p:nvSpPr>
        <p:spPr>
          <a:xfrm>
            <a:off x="6335280" y="4130280"/>
            <a:ext cx="5302800" cy="11793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ight Arrow 27"/>
          <p:cNvSpPr/>
          <p:nvPr/>
        </p:nvSpPr>
        <p:spPr>
          <a:xfrm>
            <a:off x="6463440" y="4423320"/>
            <a:ext cx="1279440" cy="593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1E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Flow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8"/>
          <p:cNvSpPr/>
          <p:nvPr/>
        </p:nvSpPr>
        <p:spPr>
          <a:xfrm>
            <a:off x="7871400" y="4185360"/>
            <a:ext cx="365688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45000" anchor="t">
            <a:sp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Flow Line / Arrow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95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Purpose: </a:t>
            </a: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Indicates the exact sequence order and directional path of instruction execution.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</a:t>
            </a: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C: Sequential step-by-step instruction execution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29"/>
          <p:cNvSpPr/>
          <p:nvPr/>
        </p:nvSpPr>
        <p:spPr>
          <a:xfrm>
            <a:off x="549000" y="5441040"/>
            <a:ext cx="5302800" cy="456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💡 Golden Rule: Every flowchart must have exactly 1 Start and at least 1 End point!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30"/>
          <p:cNvSpPr/>
          <p:nvPr/>
        </p:nvSpPr>
        <p:spPr>
          <a:xfrm>
            <a:off x="6335280" y="5441040"/>
            <a:ext cx="5302800" cy="456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⚡ Key Rule: Decision diamonds must always branch into at least 2 labeled paths!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2"/>
          <p:cNvSpPr/>
          <p:nvPr/>
        </p:nvSpPr>
        <p:spPr>
          <a:xfrm>
            <a:off x="411840" y="192240"/>
            <a:ext cx="11365560" cy="5209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549000" y="219960"/>
            <a:ext cx="416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13"/>
          <p:cNvSpPr/>
          <p:nvPr/>
        </p:nvSpPr>
        <p:spPr>
          <a:xfrm>
            <a:off x="7781760" y="256320"/>
            <a:ext cx="3840120" cy="38376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Flow Charts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Picture 3" descr="novonex_logo.png"/>
          <p:cNvPicPr/>
          <p:nvPr/>
        </p:nvPicPr>
        <p:blipFill>
          <a:blip r:embed="rId1"/>
          <a:stretch/>
        </p:blipFill>
        <p:spPr>
          <a:xfrm>
            <a:off x="5724360" y="6264000"/>
            <a:ext cx="749520" cy="52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Rectangle 14"/>
          <p:cNvSpPr/>
          <p:nvPr/>
        </p:nvSpPr>
        <p:spPr>
          <a:xfrm>
            <a:off x="274680" y="960480"/>
            <a:ext cx="5577480" cy="521172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7"/>
          <p:cNvSpPr/>
          <p:nvPr/>
        </p:nvSpPr>
        <p:spPr>
          <a:xfrm>
            <a:off x="549000" y="960480"/>
            <a:ext cx="530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Flowchart Fundamentals &amp; Logic Flow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549000" y="1440360"/>
            <a:ext cx="5303160" cy="38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16"/>
          <p:cNvSpPr/>
          <p:nvPr/>
        </p:nvSpPr>
        <p:spPr>
          <a:xfrm>
            <a:off x="6199920" y="869040"/>
            <a:ext cx="5577480" cy="521172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0"/>
          <p:cNvSpPr/>
          <p:nvPr/>
        </p:nvSpPr>
        <p:spPr>
          <a:xfrm>
            <a:off x="6309720" y="960480"/>
            <a:ext cx="298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📐 Core Flowchart Control Patterns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1"/>
          <p:cNvSpPr/>
          <p:nvPr/>
        </p:nvSpPr>
        <p:spPr>
          <a:xfrm>
            <a:off x="6309720" y="1326240"/>
            <a:ext cx="42084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[Visual representation of 3 fundamental algorithmic control structures]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661120" y="3706920"/>
            <a:ext cx="180720" cy="23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01040" y="1544400"/>
            <a:ext cx="2903760" cy="424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07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Iterative Statements (Loops) and Nested Loops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Iteration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Initialization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Condition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Update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Nesting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Iterative Loops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Iterative Statements: for, while &amp; do-while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Iteration: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Repeated execution of an instruction block until a stopping condition is met.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Initialization: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Counter variables are initialized once prior to entering the loop cycle.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Condition: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Boolean expression verified before each pass; loop halts immediately when False.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Update: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Loop counter is modified (e.g. i++) after every iteration to progress toward exit.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8"/>
          <p:cNvSpPr/>
          <p:nvPr/>
        </p:nvSpPr>
        <p:spPr>
          <a:xfrm>
            <a:off x="594360" y="4114800"/>
            <a:ext cx="5211000" cy="159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Counter Controlled Loop (for)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for (int i = 0; i &lt; 5; i++)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printf("%d ", i);  // Prints: 0 1 2 3 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Condition Controlled Loop (while)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n = 10;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while (n &gt; 0) { n /= 2;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Nested Loops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Nested Loops &amp; Grid Traversal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Nesting: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 loop placed entirely inside another loop creates multi-dimensional iteration cycles.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Iteration: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The inner loop runs completely from start to finish for every iteration of outer loop.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Update: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Outer loop updates row indices, while inner loop steps through column coordinates.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Pattern Example: 3 Rows x 4 Stars Grid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for (int r = 1; r &lt;= 3; r++) {     // Outer controls Rows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for (int c = 1; c &lt;= 4; c++) { // Inner controls Columns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    printf("* 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💡 Golden Rule: Outer loop always controls Rows (r); Inner loop controls Columns (c)!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📐 Nested Loop Matrix Grid Traversal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[How 2 loops generate 2D grids and patterns]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08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1D Arrays: Memory Layout &amp; Indexing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Arrays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Indexing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Contiguity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Addresses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Bounds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1D Arrays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1D Arrays: Definition &amp; Zero-Based Indexing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Arrays: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Fixed-size collections storing elements of identical data type in contiguous memory.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Indexing: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Zero-based indexing (0 to N-1) grants direct, instant O(1) random access to elements.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Bounds: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 performs no runtime bounds checks; accessing beyond bounds leads to memory corruption.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1D Array Declaration, Input &amp; Output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arr[5] = {10, 20, 30, 40, 50};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for (int i = 0; i &lt; 5; i++)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printf("arr[%d] = %d\n", i, arr[i]);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⚠️ Out of Bounds: Accessing arr[5] in a size-5 array leads to undefined behavior / garbage!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🧠 1D Array Contiguous RAM Layout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[Physical memory allocation in hardware]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1D Arrays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1D Arrays: Memory Layout &amp; Pointer Offsets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Contiguity: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Array elements occupy adjacent, unbroken bytes in physical RAM without any gaps.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Addresses: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Memory location computed via hardware formula: Address(arr[i]) = Base + (i * sizeof(type)).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Bounds: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Array name acts as a constant pointer to the base address of the first element (&amp;arr[0]).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Pointer Arithmetic &amp; Array Addressing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arr[3] = {100, 200, 300};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printf("Base Address: %p\n", (void*)arr);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printf("arr[1] Addr:  %p\n", (void*)&amp;arr[1]);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Address increases by sizeof(int) = 4 bytes!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💡 Golden Rule: Array indexing arr[i] is syntactically equivalent to *(arr + i)!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📐 Hardware Pointer Offset Mechanics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09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2D Arrays (Matrices): Grid &amp; Memory Mapping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Matrices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Rows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Columns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Traversal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Linearization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2D Arrays (Matrices)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2D Arrays: Grid Coordinates &amp; Matrix Model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Matrices: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Two-dimensional arrays structured conceptually as a table grid of Rows and Columns.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Rows: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The primary dimension index referencing the horizontal row partition of matrix data.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Columns: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The secondary dimension index accessing individual element cells along horizontal rows.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2D Array Declaration &amp; Grid Setup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mat[2][3] =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{1, 2, 3},  // Row 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{4, 5, 6}   // Row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printf("Cell (0,1): %d\n", mat[0][1]); //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💡 Convention: In mat[R][C], first index R specifies Row, second index C specifies Column!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📐 2D Coordinate Grid Matrix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2D Arrays (Matrices)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2D Arrays: Traversal &amp; Row-Major RAM Mapping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Traversal: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Nested loops navigate 2D arrays: outer loop steps rows (i), inner loop steps columns (j).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Linearization: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Physical RAM is linear; C flattens 2D matrices into 1D memory using Row-Major order.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Rows: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Row 0 elements are stored consecutively in RAM, followed immediately by Row 1 elements.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2D Array Traversal &amp; Address Tracing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for (int i = 0; i &lt; 2; i++)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for (int j = 0; j &lt; 3; j++)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    printf("mat[%d][%d]=%d ", i, j, mat[i][j]);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💡 Linear Offset Formula: Address(mat[i][j]) = Base + (i x COLS + j) x sizeof(type)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🧠 2D Grid to Row-Major RAM Mapping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2"/>
          <p:cNvSpPr/>
          <p:nvPr/>
        </p:nvSpPr>
        <p:spPr>
          <a:xfrm>
            <a:off x="6309360" y="1325880"/>
            <a:ext cx="53481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[Hardware linearization of 2D matrices]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ounded Rectangle 1"/>
          <p:cNvSpPr/>
          <p:nvPr/>
        </p:nvSpPr>
        <p:spPr>
          <a:xfrm>
            <a:off x="2468880" y="1051560"/>
            <a:ext cx="7250040" cy="4479480"/>
          </a:xfrm>
          <a:prstGeom prst="roundRect">
            <a:avLst>
              <a:gd name="adj" fmla="val 16667"/>
            </a:avLst>
          </a:prstGeom>
          <a:solidFill>
            <a:srgbClr val="0A0F1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7280" tIns="320040" rIns="109728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TOPIC 10 • AGENDA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Error finding in C code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100" b="0" u="none" strike="noStrike">
                <a:solidFill>
                  <a:srgbClr val="FFC000"/>
                </a:solidFill>
                <a:effectLst/>
                <a:uFillTx/>
                <a:latin typeface="Calibri"/>
              </a:rPr>
              <a:t>-------------------------------------------------------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Syntax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Linking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Runtime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Logic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01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•   </a:t>
            </a:r>
            <a:r>
              <a:rPr lang="en-US" sz="1600" b="1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Debugging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Picture 2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Error Finding 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6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Spot the Bug: Syntax &amp; Input/Output Traps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Syntax: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Grammatical mistakes violating C rules like missing semicolons or case errors (Printf).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Linking: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Unresolved symbol references occurring when function declarations have no definitions.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Debugging: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Enabling aggressive compiler warnings (-Wall -Wextra) exposes syntax bugs instantly.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Snippet A: Reading integer from user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age; scanf("%d", age);           // BUG #1: Missing &amp;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Snippet B: Score output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score = 95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Printf("Score: %d\n", score);       // BUGS #2 &amp; #3: Semicolon &amp; Printf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Snippet C: Float printing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float gpa = 3.85; printf("%d", gpa); // BUG #4: %d with float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🔍 Student Challenge: Identify the 4 errors above and explain the compiler errors!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Trace &amp; Bug Fix Board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411480" y="191880"/>
            <a:ext cx="11364840" cy="520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48640" y="219600"/>
            <a:ext cx="69987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Programming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 and Problem Solving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7781400" y="255960"/>
            <a:ext cx="3839400" cy="383040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Error Finding ⭐⭐⭐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4" descr="novonex_logo.png"/>
          <p:cNvPicPr/>
          <p:nvPr/>
        </p:nvPicPr>
        <p:blipFill>
          <a:blip r:embed="rId1"/>
          <a:stretch/>
        </p:blipFill>
        <p:spPr>
          <a:xfrm>
            <a:off x="5724000" y="6263640"/>
            <a:ext cx="748800" cy="52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Rectangle 5"/>
          <p:cNvSpPr/>
          <p:nvPr/>
        </p:nvSpPr>
        <p:spPr>
          <a:xfrm>
            <a:off x="411480" y="868680"/>
            <a:ext cx="5576760" cy="521100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548640" y="960120"/>
            <a:ext cx="5302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00B0F0"/>
                </a:solidFill>
                <a:effectLst/>
                <a:uFillTx/>
                <a:latin typeface="Amasis MT Pro Light"/>
              </a:rPr>
              <a:t>Spot the Bug: Logic, Loops &amp; Array Traps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548640" y="1440000"/>
            <a:ext cx="5302440" cy="16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Logic: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Using assignment '=' instead of equality '==' in conditionals always evaluates to True.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Runtime: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Off-by-one array boundary violations (i &lt;= N) read or overwrite garbage memory.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CD34D"/>
                </a:solidFill>
                <a:effectLst/>
                <a:uFillTx/>
                <a:latin typeface="Calibri"/>
              </a:rPr>
              <a:t>•  Debugging: </a:t>
            </a:r>
            <a:r>
              <a:rPr lang="en-US" sz="1600" b="0" u="none" strike="noStrike">
                <a:solidFill>
                  <a:srgbClr val="E2E8F0"/>
                </a:solidFill>
                <a:effectLst/>
                <a:uFillTx/>
                <a:latin typeface="Calibri"/>
              </a:rPr>
              <a:t>Tracing variable states across loop boundary iterations quickly exposes off-by-one flaws.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8"/>
          <p:cNvSpPr/>
          <p:nvPr/>
        </p:nvSpPr>
        <p:spPr>
          <a:xfrm>
            <a:off x="594360" y="3300120"/>
            <a:ext cx="5211000" cy="19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tIns="91440" rIns="90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Snippet D: Conditional Security Check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is_admin = 0;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if (is_admin = 1) {       // BUG #5: Assignment '=' vs '=='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printf("Admin Access Granted!\n");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</a:rPr>
              <a:t>// Snippet E: Array Traversal &amp; Printing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int arr[5] = {10, 20, 30, 40, 50};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for (int i = 0; i &lt;= 5; ) { // BUGS #6 &amp; #7: Bounds &lt;= 5 &amp; missing i++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    printf("%d ", arr[i]);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0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9"/>
          <p:cNvSpPr/>
          <p:nvPr/>
        </p:nvSpPr>
        <p:spPr>
          <a:xfrm>
            <a:off x="594360" y="5440680"/>
            <a:ext cx="5211000" cy="45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🔍 Student Challenge: These compile without error but give wrong results! Why?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0"/>
          <p:cNvSpPr/>
          <p:nvPr/>
        </p:nvSpPr>
        <p:spPr>
          <a:xfrm>
            <a:off x="6199560" y="868680"/>
            <a:ext cx="5576760" cy="521100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1"/>
          <p:cNvSpPr/>
          <p:nvPr/>
        </p:nvSpPr>
        <p:spPr>
          <a:xfrm>
            <a:off x="6309360" y="960120"/>
            <a:ext cx="53481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✏️  Live Trace &amp; Bug Fix Board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1"/>
          <p:cNvSpPr/>
          <p:nvPr/>
        </p:nvSpPr>
        <p:spPr>
          <a:xfrm>
            <a:off x="3200400" y="2103120"/>
            <a:ext cx="57870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masis MT Pro Light"/>
              </a:rPr>
              <a:t>Thank You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2"/>
          <p:cNvSpPr/>
          <p:nvPr/>
        </p:nvSpPr>
        <p:spPr>
          <a:xfrm>
            <a:off x="3840480" y="3017520"/>
            <a:ext cx="4506840" cy="24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2286000" y="3154680"/>
            <a:ext cx="7615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B0F0"/>
                </a:solidFill>
                <a:effectLst/>
                <a:uFillTx/>
                <a:latin typeface="Calibri"/>
              </a:rPr>
              <a:t>Happy Coding with NovoNex Delta!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8" name="Picture 4" descr="novonex_logo.png"/>
          <p:cNvPicPr/>
          <p:nvPr/>
        </p:nvPicPr>
        <p:blipFill>
          <a:blip r:embed="rId1"/>
          <a:stretch/>
        </p:blipFill>
        <p:spPr>
          <a:xfrm>
            <a:off x="5303520" y="4754880"/>
            <a:ext cx="1553400" cy="10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Application>LibreOffice/26.2.6.3$Linux_X86_64 LibreOffice_project/620$Build-3</Application>
  <AppVersion>15.0000</AppVersion>
  <Words>40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2025-11-12T20:54:57Z</dcterms:created>
  <dc:creator>Anik Bhowmik</dc:creator>
  <dc:description/>
  <dc:language>en-US</dc:language>
  <cp:lastModifiedBy/>
  <dcterms:modified xsi:type="dcterms:W3CDTF">2026-10-22T02:33:54Z</dcterms:modified>
  <cp:revision>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