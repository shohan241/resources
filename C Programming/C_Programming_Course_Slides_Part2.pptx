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5"/>
    <p:sldId id="262" r:id="rId4"/>
    <p:sldId id="263" r:id="rId3"/>
    <p:sldId id="264" r:id="rId2"/>
    <p:sldId id="265" r:id="rId15"/>
    <p:sldId id="266" r:id="rId16"/>
    <p:sldId id="267" r:id="rId17"/>
    <p:sldId id="268" r:id="rId18"/>
    <p:sldId id="26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12524"/>
    <a:srgbClr val="00B2FF"/>
    <a:srgbClr val="9C1D1C"/>
    <a:srgbClr val="0146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FAB6A-02CD-4747-AA87-780F4F8E68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669E25-C254-4F7D-9D69-E843AEC706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C55F53-8BCE-494A-AD40-700101418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CB27-F112-42CB-92AF-CA9308C082A3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4C8369-BFF0-4025-A835-C907C0648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A475F-3762-481A-99F6-D3E99CF57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71608-76F4-48A3-839C-E690E9958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753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9323D-2713-4825-994F-7C10B6CAE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28B0B-25C5-448C-BA9A-16AADAA38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7B6B4-68D2-4992-B3E4-D8E86E1BB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CB27-F112-42CB-92AF-CA9308C082A3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129EE9-959D-489F-9D2D-BC1C89D9D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8C247-2D52-4C4C-BB37-64F73BF9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71608-76F4-48A3-839C-E690E9958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182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E6C16-9698-49B1-B18E-5E75B95C1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D34E27-01C8-4B90-9367-ED05B38B04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F259D-6D1D-48A2-BDBC-E25C0787F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CB27-F112-42CB-92AF-CA9308C082A3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9EB7B8-47F5-4CE8-8FED-1218B02C0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43F683-ABE9-4D17-A2E1-37A3BA4FE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71608-76F4-48A3-839C-E690E9958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476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540F8-67D3-46D6-ACCC-A0927BEC3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D5AA3-B4D6-48FF-A2B2-D6FA75BEF1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D0EABF-FE1D-41C2-AD95-B7A728C113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B27C50-8AC7-4B27-9E80-A98FD26F3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CB27-F112-42CB-92AF-CA9308C082A3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10CC67-C2C3-4843-9182-2A4FEDBA8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21FDF6-531B-468A-B173-841FE1CA4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71608-76F4-48A3-839C-E690E9958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240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01909-0BFE-4B80-905F-0FDAEBF28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39B871-80B2-4AF2-9AB7-BE6E9374BB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9616C7-B587-43EA-9A0C-295DF96A05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38572E-9A21-4AF6-AF4F-CBB6E3FB4B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8E730C-9E3E-4BB6-A059-6E083EBBDA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AEE6EC-A2E4-49DF-BD70-7DDEF7273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CB27-F112-42CB-92AF-CA9308C082A3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632840-E5F0-4DE1-9571-DE724925C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B3C098-B6DA-4D6B-A815-EDBBE8607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71608-76F4-48A3-839C-E690E9958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976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79BC5-36AF-4C39-ADE1-AAE84951C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E2A37-134B-4CD1-9A8C-E3AB813E9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CB27-F112-42CB-92AF-CA9308C082A3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95AED9-A892-4DF4-ACD1-42BE962A9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E96CA2-9806-4F85-B74C-CBB0DE30D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71608-76F4-48A3-839C-E690E9958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027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B8C8AA-02E0-4ABC-9610-8834278E3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CB27-F112-42CB-92AF-CA9308C082A3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E42843-8BE0-4117-9E4C-C53E2CE89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F639CA-EFDE-436E-AE04-BBF7EAF3F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71608-76F4-48A3-839C-E690E9958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2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08FFB-90CA-4C7D-8B14-B5BA74A0C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DC858D-CA70-4598-9364-F5E959672C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E4B88C-3CD4-4A6A-B2F8-FDF931486E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3602E7-3D2A-4545-91C5-86A504FE5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CB27-F112-42CB-92AF-CA9308C082A3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2DB29E-AE16-4B7E-B319-8E1639AE3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2BF98-DEEB-45A9-8C3A-A8F8044BC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71608-76F4-48A3-839C-E690E9958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428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98C2C-A09C-4AEF-A050-C52125E3F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924190-F406-4036-B298-D9E681F10B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0EF5BB-D0D0-46B5-82D9-02B24112C4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3A3A82-0D07-4C40-9EAD-50773D224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CB27-F112-42CB-92AF-CA9308C082A3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10BB98-AAEC-48A8-8078-8E8F6DA99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0E3BA3-4A46-4611-B374-1DC51210B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71608-76F4-48A3-839C-E690E9958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346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1FD54-C55A-49D9-AED7-8142B1476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DC1C04-6AD8-453C-9178-BDBAA7F3F7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1DC10A-55B5-498F-9621-B71AD3F1D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CB27-F112-42CB-92AF-CA9308C082A3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817D37-2EB1-4533-ABAA-E333E8E0C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83E5D3-069D-4DC8-A4E9-F6D15EBA5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71608-76F4-48A3-839C-E690E9958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407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2A34B2-BF9D-4822-B078-265D93FBC9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72BF12-EF0F-4ACE-9E4C-669C1ED595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5E2706-38F4-467B-8323-91EBA8DED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5CB27-F112-42CB-92AF-CA9308C082A3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B4D326-BB3E-4DB8-83DF-90E9E1F71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912321-5139-4D99-8923-59DB1C83A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71608-76F4-48A3-839C-E690E9958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92863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429967-2FBE-4A64-86B6-A8A4D13C3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AE3FB3-35B7-4A64-A236-9F67FAA03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CF5C47-E493-4554-A680-77B0EB8F87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95CB27-F112-42CB-92AF-CA9308C082A3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4B9F4-9595-4D18-976E-75B7156378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CDBCA6-BBEC-40A3-959C-F431CA9FA2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71608-76F4-48A3-839C-E690E9958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2125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0" y="2560320"/>
            <a:ext cx="457200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000" b="1">
                <a:solidFill>
                  <a:srgbClr val="00B0F0"/>
                </a:solidFill>
                <a:latin typeface="Amasis MT Pro Light"/>
              </a:rPr>
              <a:t>C</a:t>
            </a:r>
            <a:r>
              <a:rPr sz="2800" b="1">
                <a:solidFill>
                  <a:srgbClr val="FFFFFF"/>
                </a:solidFill>
                <a:latin typeface="Amasis MT Pro Light"/>
              </a:rPr>
              <a:t> Programming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3840480" y="3319272"/>
            <a:ext cx="4507992" cy="1828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0" y="3429000"/>
            <a:ext cx="393192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200">
                <a:solidFill>
                  <a:srgbClr val="00B2FF"/>
                </a:solidFill>
                <a:latin typeface="Amasis MT Pro"/>
              </a:rPr>
              <a:t>N</a:t>
            </a:r>
            <a:r>
              <a:rPr sz="2400">
                <a:solidFill>
                  <a:srgbClr val="00B2FF"/>
                </a:solidFill>
                <a:latin typeface="Amasis MT Pro"/>
              </a:rPr>
              <a:t>ovo</a:t>
            </a:r>
            <a:r>
              <a:rPr sz="2400">
                <a:solidFill>
                  <a:srgbClr val="D12524"/>
                </a:solidFill>
                <a:latin typeface="Amasis MT Pro"/>
              </a:rPr>
              <a:t>Nex</a:t>
            </a:r>
            <a:r>
              <a:rPr sz="2400">
                <a:solidFill>
                  <a:srgbClr val="FFFFFF"/>
                </a:solidFill>
                <a:latin typeface="Amasis MT Pro"/>
              </a:rPr>
              <a:t> </a:t>
            </a:r>
            <a:r>
              <a:rPr sz="3200">
                <a:solidFill>
                  <a:srgbClr val="00B2FF"/>
                </a:solidFill>
                <a:latin typeface="Amasis MT Pro"/>
              </a:rPr>
              <a:t>D</a:t>
            </a:r>
            <a:r>
              <a:rPr sz="2400">
                <a:solidFill>
                  <a:srgbClr val="00B2FF"/>
                </a:solidFill>
                <a:latin typeface="Amasis MT Pro"/>
              </a:rPr>
              <a:t>el</a:t>
            </a:r>
            <a:r>
              <a:rPr sz="2400">
                <a:solidFill>
                  <a:srgbClr val="D12524"/>
                </a:solidFill>
                <a:latin typeface="Amasis MT Pro"/>
              </a:rPr>
              <a:t>ta</a:t>
            </a:r>
          </a:p>
        </p:txBody>
      </p:sp>
      <p:pic>
        <p:nvPicPr>
          <p:cNvPr id="5" name="Picture 4" descr="novone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4688" y="5989320"/>
            <a:ext cx="105156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192024"/>
            <a:ext cx="11365992" cy="521207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41148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0B0F0"/>
                </a:solidFill>
                <a:latin typeface="Amasis MT Pro Light"/>
              </a:rPr>
              <a:t>C</a:t>
            </a:r>
            <a:r>
              <a:rPr sz="1800" b="1">
                <a:solidFill>
                  <a:srgbClr val="FFFFFF"/>
                </a:solidFill>
                <a:latin typeface="Amasis MT Pro Light"/>
              </a:rPr>
              <a:t> 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0" y="256032"/>
            <a:ext cx="2926080" cy="384048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Strings: Fundamentals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144" y="6263640"/>
            <a:ext cx="749808" cy="52120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868680"/>
            <a:ext cx="5577840" cy="5212080"/>
          </a:xfrm>
          <a:prstGeom prst="rect">
            <a:avLst/>
          </a:prstGeom>
          <a:solidFill>
            <a:srgbClr val="0A0F1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180000"/>
          <a:lstStyle/>
          <a:p>
            <a:pPr algn="ctr"/>
            <a:r>
              <a:rPr sz="1500" b="1">
                <a:solidFill>
                  <a:srgbClr val="00B0F0"/>
                </a:solidFill>
                <a:latin typeface="Calibri"/>
              </a:rPr>
              <a:t>Strings: Character Arrays &amp; Null Character (\0)</a:t>
            </a:r>
          </a:p>
          <a:p>
            <a:pPr>
              <a:spcBef>
                <a:spcPts val="354"/>
              </a:spcBef>
              <a:spcAft>
                <a:spcPts val="78"/>
              </a:spcAft>
            </a:pPr>
            <a:r>
              <a:rPr sz="1000" b="1">
                <a:solidFill>
                  <a:srgbClr val="FCD34D"/>
                </a:solidFill>
                <a:latin typeface="Calibri"/>
              </a:rPr>
              <a:t>• What is a String?: </a:t>
            </a:r>
            <a:r>
              <a:rPr sz="950">
                <a:solidFill>
                  <a:srgbClr val="E2E8F0"/>
                </a:solidFill>
                <a:latin typeface="Calibri"/>
              </a:rPr>
              <a:t>In C, strings are 1D character arrays terminated by a special null character '\0' (ASCII 0).</a:t>
            </a:r>
          </a:p>
          <a:p>
            <a:pPr>
              <a:spcBef>
                <a:spcPts val="354"/>
              </a:spcBef>
              <a:spcAft>
                <a:spcPts val="78"/>
              </a:spcAft>
            </a:pPr>
            <a:r>
              <a:rPr sz="1000" b="1">
                <a:solidFill>
                  <a:srgbClr val="FCD34D"/>
                </a:solidFill>
                <a:latin typeface="Calibri"/>
              </a:rPr>
              <a:t>• Memory Layout: </a:t>
            </a:r>
            <a:r>
              <a:rPr sz="950">
                <a:solidFill>
                  <a:srgbClr val="E2E8F0"/>
                </a:solidFill>
                <a:latin typeface="Calibri"/>
              </a:rPr>
              <a:t>String literal "HELLO" occupies 6 contiguous bytes in RAM: ['H', 'E', 'L', 'L', 'O', '\0'].</a:t>
            </a:r>
          </a:p>
          <a:p>
            <a:pPr>
              <a:spcBef>
                <a:spcPts val="354"/>
              </a:spcBef>
              <a:spcAft>
                <a:spcPts val="78"/>
              </a:spcAft>
            </a:pPr>
            <a:r>
              <a:rPr sz="1000" b="1">
                <a:solidFill>
                  <a:srgbClr val="FCD34D"/>
                </a:solidFill>
                <a:latin typeface="Calibri"/>
              </a:rPr>
              <a:t>• Declaration &amp; Init: </a:t>
            </a:r>
            <a:r>
              <a:rPr sz="950">
                <a:solidFill>
                  <a:srgbClr val="E2E8F0"/>
                </a:solidFill>
                <a:latin typeface="Calibri"/>
              </a:rPr>
              <a:t>char s[] = "Hello"; or char s[6] = {'H','e','l','l','o','\0'};</a:t>
            </a:r>
          </a:p>
          <a:p>
            <a:pPr>
              <a:spcBef>
                <a:spcPts val="354"/>
              </a:spcBef>
              <a:spcAft>
                <a:spcPts val="78"/>
              </a:spcAft>
            </a:pPr>
            <a:r>
              <a:rPr sz="1000" b="1">
                <a:solidFill>
                  <a:srgbClr val="FCD34D"/>
                </a:solidFill>
                <a:latin typeface="Calibri"/>
              </a:rPr>
              <a:t>• Safe Input (fgets vs scanf): </a:t>
            </a:r>
            <a:r>
              <a:rPr sz="950">
                <a:solidFill>
                  <a:srgbClr val="E2E8F0"/>
                </a:solidFill>
                <a:latin typeface="Calibri"/>
              </a:rPr>
              <a:t>scanf("%s") stops at spaces and overflows; fgets(s, sizeof(s), stdin) is safe!</a:t>
            </a:r>
          </a:p>
          <a:p>
            <a:pPr>
              <a:spcBef>
                <a:spcPts val="354"/>
              </a:spcBef>
              <a:spcAft>
                <a:spcPts val="78"/>
              </a:spcAft>
            </a:pPr>
            <a:r>
              <a:rPr sz="1000" b="1">
                <a:solidFill>
                  <a:srgbClr val="FCD34D"/>
                </a:solidFill>
                <a:latin typeface="Calibri"/>
              </a:rPr>
              <a:t>• String Traversal: </a:t>
            </a:r>
            <a:r>
              <a:rPr sz="950">
                <a:solidFill>
                  <a:srgbClr val="E2E8F0"/>
                </a:solidFill>
                <a:latin typeface="Calibri"/>
              </a:rPr>
              <a:t>Traverse sequentially using a loop until str[i] == '\0' is encountered.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226400"/>
            <a:ext cx="5212080" cy="226000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00000"/>
          <a:lstStyle/>
          <a:p>
            <a:pPr algn="ctr"/>
            <a:r>
              <a:rPr sz="950">
                <a:solidFill>
                  <a:srgbClr val="94A3B8"/>
                </a:solidFill>
                <a:latin typeface="Consolas"/>
              </a:rPr>
              <a:t>// Safe String Input, Traversal &amp; Output</a:t>
            </a:r>
          </a:p>
          <a:p>
            <a:pPr>
              <a:spcBef>
                <a:spcPts val="196"/>
              </a:spcBef>
              <a:spcAft>
                <a:spcPts val="78"/>
              </a:spcAft>
              <a:defRPr sz="950">
                <a:latin typeface="Consolas"/>
              </a:defRPr>
            </a:pPr>
            <a:r>
              <a:rPr sz="950">
                <a:solidFill>
                  <a:srgbClr val="38BDF8"/>
                </a:solidFill>
                <a:latin typeface="Consolas"/>
              </a:rPr>
              <a:t>char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name</a:t>
            </a:r>
            <a:r>
              <a:rPr sz="950">
                <a:solidFill>
                  <a:srgbClr val="E2E8F0"/>
                </a:solidFill>
                <a:latin typeface="Consolas"/>
              </a:rPr>
              <a:t>[</a:t>
            </a:r>
            <a:r>
              <a:rPr sz="950">
                <a:solidFill>
                  <a:srgbClr val="F59E0B"/>
                </a:solidFill>
                <a:latin typeface="Consolas"/>
              </a:rPr>
              <a:t>50</a:t>
            </a:r>
            <a:r>
              <a:rPr sz="950">
                <a:solidFill>
                  <a:srgbClr val="E2E8F0"/>
                </a:solidFill>
                <a:latin typeface="Consolas"/>
              </a:rPr>
              <a:t>];</a:t>
            </a:r>
          </a:p>
          <a:p>
            <a:pPr>
              <a:spcBef>
                <a:spcPts val="196"/>
              </a:spcBef>
              <a:spcAft>
                <a:spcPts val="78"/>
              </a:spcAft>
              <a:defRPr sz="950">
                <a:latin typeface="Consolas"/>
              </a:defRPr>
            </a:pPr>
            <a:r>
              <a:rPr sz="950">
                <a:solidFill>
                  <a:srgbClr val="FCD34D"/>
                </a:solidFill>
                <a:latin typeface="Consolas"/>
              </a:rPr>
              <a:t>printf</a:t>
            </a:r>
            <a:r>
              <a:rPr sz="950">
                <a:solidFill>
                  <a:srgbClr val="E2E8F0"/>
                </a:solidFill>
                <a:latin typeface="Consolas"/>
              </a:rPr>
              <a:t>(</a:t>
            </a:r>
            <a:r>
              <a:rPr sz="950">
                <a:solidFill>
                  <a:srgbClr val="34D399"/>
                </a:solidFill>
                <a:latin typeface="Consolas"/>
              </a:rPr>
              <a:t>"Enter full name: "</a:t>
            </a:r>
            <a:r>
              <a:rPr sz="950">
                <a:solidFill>
                  <a:srgbClr val="E2E8F0"/>
                </a:solidFill>
                <a:latin typeface="Consolas"/>
              </a:rPr>
              <a:t>);</a:t>
            </a:r>
          </a:p>
          <a:p>
            <a:pPr>
              <a:spcBef>
                <a:spcPts val="196"/>
              </a:spcBef>
              <a:spcAft>
                <a:spcPts val="78"/>
              </a:spcAft>
              <a:defRPr sz="950">
                <a:latin typeface="Consolas"/>
              </a:defRPr>
            </a:pPr>
            <a:r>
              <a:rPr sz="950">
                <a:solidFill>
                  <a:srgbClr val="FCD34D"/>
                </a:solidFill>
                <a:latin typeface="Consolas"/>
              </a:rPr>
              <a:t>fgets</a:t>
            </a:r>
            <a:r>
              <a:rPr sz="950">
                <a:solidFill>
                  <a:srgbClr val="E2E8F0"/>
                </a:solidFill>
                <a:latin typeface="Consolas"/>
              </a:rPr>
              <a:t>(</a:t>
            </a:r>
            <a:r>
              <a:rPr sz="950">
                <a:solidFill>
                  <a:srgbClr val="E2E8F0"/>
                </a:solidFill>
                <a:latin typeface="Consolas"/>
              </a:rPr>
              <a:t>name</a:t>
            </a:r>
            <a:r>
              <a:rPr sz="950">
                <a:solidFill>
                  <a:srgbClr val="E2E8F0"/>
                </a:solidFill>
                <a:latin typeface="Consolas"/>
              </a:rPr>
              <a:t>,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C084FC"/>
                </a:solidFill>
                <a:latin typeface="Consolas"/>
              </a:rPr>
              <a:t>sizeof</a:t>
            </a:r>
            <a:r>
              <a:rPr sz="950">
                <a:solidFill>
                  <a:srgbClr val="E2E8F0"/>
                </a:solidFill>
                <a:latin typeface="Consolas"/>
              </a:rPr>
              <a:t>(</a:t>
            </a:r>
            <a:r>
              <a:rPr sz="950">
                <a:solidFill>
                  <a:srgbClr val="E2E8F0"/>
                </a:solidFill>
                <a:latin typeface="Consolas"/>
              </a:rPr>
              <a:t>name</a:t>
            </a:r>
            <a:r>
              <a:rPr sz="950">
                <a:solidFill>
                  <a:srgbClr val="E2E8F0"/>
                </a:solidFill>
                <a:latin typeface="Consolas"/>
              </a:rPr>
              <a:t>),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stdin</a:t>
            </a:r>
            <a:r>
              <a:rPr sz="950">
                <a:solidFill>
                  <a:srgbClr val="E2E8F0"/>
                </a:solidFill>
                <a:latin typeface="Consolas"/>
              </a:rPr>
              <a:t>);</a:t>
            </a:r>
          </a:p>
          <a:p>
            <a:pPr>
              <a:spcBef>
                <a:spcPts val="196"/>
              </a:spcBef>
              <a:spcAft>
                <a:spcPts val="78"/>
              </a:spcAft>
              <a:defRPr sz="950">
                <a:latin typeface="Consolas"/>
              </a:defRPr>
            </a:pPr>
            <a:r>
              <a:rPr sz="950">
                <a:solidFill>
                  <a:srgbClr val="38BDF8"/>
                </a:solidFill>
                <a:latin typeface="Consolas"/>
              </a:rPr>
              <a:t>int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len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=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F59E0B"/>
                </a:solidFill>
                <a:latin typeface="Consolas"/>
              </a:rPr>
              <a:t>0</a:t>
            </a:r>
            <a:r>
              <a:rPr sz="950">
                <a:solidFill>
                  <a:srgbClr val="E2E8F0"/>
                </a:solidFill>
                <a:latin typeface="Consolas"/>
              </a:rPr>
              <a:t>;</a:t>
            </a:r>
          </a:p>
          <a:p>
            <a:pPr>
              <a:spcBef>
                <a:spcPts val="196"/>
              </a:spcBef>
              <a:spcAft>
                <a:spcPts val="78"/>
              </a:spcAft>
              <a:defRPr sz="950">
                <a:latin typeface="Consolas"/>
              </a:defRPr>
            </a:pPr>
            <a:r>
              <a:rPr sz="950">
                <a:solidFill>
                  <a:srgbClr val="C084FC"/>
                </a:solidFill>
                <a:latin typeface="Consolas"/>
              </a:rPr>
              <a:t>while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(</a:t>
            </a:r>
            <a:r>
              <a:rPr sz="950">
                <a:solidFill>
                  <a:srgbClr val="E2E8F0"/>
                </a:solidFill>
                <a:latin typeface="Consolas"/>
              </a:rPr>
              <a:t>name</a:t>
            </a:r>
            <a:r>
              <a:rPr sz="950">
                <a:solidFill>
                  <a:srgbClr val="E2E8F0"/>
                </a:solidFill>
                <a:latin typeface="Consolas"/>
              </a:rPr>
              <a:t>[</a:t>
            </a:r>
            <a:r>
              <a:rPr sz="950">
                <a:solidFill>
                  <a:srgbClr val="E2E8F0"/>
                </a:solidFill>
                <a:latin typeface="Consolas"/>
              </a:rPr>
              <a:t>len</a:t>
            </a:r>
            <a:r>
              <a:rPr sz="950">
                <a:solidFill>
                  <a:srgbClr val="E2E8F0"/>
                </a:solidFill>
                <a:latin typeface="Consolas"/>
              </a:rPr>
              <a:t>]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!=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34D399"/>
                </a:solidFill>
                <a:latin typeface="Consolas"/>
              </a:rPr>
              <a:t>'\0'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&amp;&amp;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name</a:t>
            </a:r>
            <a:r>
              <a:rPr sz="950">
                <a:solidFill>
                  <a:srgbClr val="E2E8F0"/>
                </a:solidFill>
                <a:latin typeface="Consolas"/>
              </a:rPr>
              <a:t>[</a:t>
            </a:r>
            <a:r>
              <a:rPr sz="950">
                <a:solidFill>
                  <a:srgbClr val="E2E8F0"/>
                </a:solidFill>
                <a:latin typeface="Consolas"/>
              </a:rPr>
              <a:t>len</a:t>
            </a:r>
            <a:r>
              <a:rPr sz="950">
                <a:solidFill>
                  <a:srgbClr val="E2E8F0"/>
                </a:solidFill>
                <a:latin typeface="Consolas"/>
              </a:rPr>
              <a:t>]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!=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34D399"/>
                </a:solidFill>
                <a:latin typeface="Consolas"/>
              </a:rPr>
              <a:t>'\n'</a:t>
            </a:r>
            <a:r>
              <a:rPr sz="950">
                <a:solidFill>
                  <a:srgbClr val="E2E8F0"/>
                </a:solidFill>
                <a:latin typeface="Consolas"/>
              </a:rPr>
              <a:t>)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{</a:t>
            </a:r>
          </a:p>
          <a:p>
            <a:pPr>
              <a:spcBef>
                <a:spcPts val="196"/>
              </a:spcBef>
              <a:spcAft>
                <a:spcPts val="78"/>
              </a:spcAft>
              <a:defRPr sz="950">
                <a:latin typeface="Consolas"/>
              </a:defRPr>
            </a:pPr>
            <a:r>
              <a:rPr sz="950">
                <a:solidFill>
                  <a:srgbClr val="E2E8F0"/>
                </a:solidFill>
                <a:latin typeface="Consolas"/>
              </a:rPr>
              <a:t>    </a:t>
            </a:r>
            <a:r>
              <a:rPr sz="950">
                <a:solidFill>
                  <a:srgbClr val="E2E8F0"/>
                </a:solidFill>
                <a:latin typeface="Consolas"/>
              </a:rPr>
              <a:t>len</a:t>
            </a:r>
            <a:r>
              <a:rPr sz="950">
                <a:solidFill>
                  <a:srgbClr val="E2E8F0"/>
                </a:solidFill>
                <a:latin typeface="Consolas"/>
              </a:rPr>
              <a:t>++;</a:t>
            </a:r>
          </a:p>
          <a:p>
            <a:pPr>
              <a:spcBef>
                <a:spcPts val="196"/>
              </a:spcBef>
              <a:spcAft>
                <a:spcPts val="78"/>
              </a:spcAft>
              <a:defRPr sz="950">
                <a:latin typeface="Consolas"/>
              </a:defRPr>
            </a:pPr>
            <a:r>
              <a:rPr sz="95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spcBef>
                <a:spcPts val="196"/>
              </a:spcBef>
              <a:spcAft>
                <a:spcPts val="78"/>
              </a:spcAft>
              <a:defRPr sz="950">
                <a:latin typeface="Consolas"/>
              </a:defRPr>
            </a:pPr>
            <a:r>
              <a:rPr sz="950">
                <a:solidFill>
                  <a:srgbClr val="FCD34D"/>
                </a:solidFill>
                <a:latin typeface="Consolas"/>
              </a:rPr>
              <a:t>printf</a:t>
            </a:r>
            <a:r>
              <a:rPr sz="950">
                <a:solidFill>
                  <a:srgbClr val="E2E8F0"/>
                </a:solidFill>
                <a:latin typeface="Consolas"/>
              </a:rPr>
              <a:t>(</a:t>
            </a:r>
            <a:r>
              <a:rPr sz="950">
                <a:solidFill>
                  <a:srgbClr val="34D399"/>
                </a:solidFill>
                <a:latin typeface="Consolas"/>
              </a:rPr>
              <a:t>"Length = %d, Greeting: %s"</a:t>
            </a:r>
            <a:r>
              <a:rPr sz="950">
                <a:solidFill>
                  <a:srgbClr val="E2E8F0"/>
                </a:solidFill>
                <a:latin typeface="Consolas"/>
              </a:rPr>
              <a:t>,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len</a:t>
            </a:r>
            <a:r>
              <a:rPr sz="950">
                <a:solidFill>
                  <a:srgbClr val="E2E8F0"/>
                </a:solidFill>
                <a:latin typeface="Consolas"/>
              </a:rPr>
              <a:t>,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name</a:t>
            </a:r>
            <a:r>
              <a:rPr sz="950">
                <a:solidFill>
                  <a:srgbClr val="E2E8F0"/>
                </a:solidFill>
                <a:latin typeface="Consolas"/>
              </a:rPr>
              <a:t>);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5532120"/>
            <a:ext cx="5212080" cy="457200"/>
          </a:xfrm>
          <a:prstGeom prst="rect">
            <a:avLst/>
          </a:prstGeom>
          <a:solidFill>
            <a:srgbClr val="111827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38BDF8"/>
                </a:solidFill>
                <a:latin typeface="Calibri"/>
              </a:rPr>
              <a:t>⚠️ Buffer Overflow: Always size array +1 for '\0'! Never use unsafe gets()!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9632" y="868680"/>
            <a:ext cx="5577840" cy="5212080"/>
          </a:xfrm>
          <a:prstGeom prst="rect">
            <a:avLst/>
          </a:prstGeom>
          <a:solidFill>
            <a:srgbClr val="05080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01168"/>
          <a:lstStyle/>
          <a:p>
            <a:pPr algn="ctr"/>
            <a:r>
              <a:rPr sz="1300" b="1">
                <a:solidFill>
                  <a:srgbClr val="00B0F0"/>
                </a:solidFill>
                <a:latin typeface="Calibri"/>
              </a:rPr>
              <a:t>✏️  Live Trace &amp; Explanation Board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  <a:latin typeface="Calibri"/>
              </a:rPr>
              <a:t>[Teacher's Note: Draw RAM memory boxes for 'B','O','O','K','\0' with addresses (0x100..0x104) and show why printf stops precisely at '\0']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192024"/>
            <a:ext cx="11365992" cy="521207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41148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0B0F0"/>
                </a:solidFill>
                <a:latin typeface="Amasis MT Pro Light"/>
              </a:rPr>
              <a:t>C</a:t>
            </a:r>
            <a:r>
              <a:rPr sz="1800" b="1">
                <a:solidFill>
                  <a:srgbClr val="FFFFFF"/>
                </a:solidFill>
                <a:latin typeface="Amasis MT Pro Light"/>
              </a:rPr>
              <a:t> 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0" y="256032"/>
            <a:ext cx="2926080" cy="384048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Strings: &lt;string.h&gt; Library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144" y="6263640"/>
            <a:ext cx="749808" cy="52120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868680"/>
            <a:ext cx="5577840" cy="5212080"/>
          </a:xfrm>
          <a:prstGeom prst="rect">
            <a:avLst/>
          </a:prstGeom>
          <a:solidFill>
            <a:srgbClr val="0A0F1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180000"/>
          <a:lstStyle/>
          <a:p>
            <a:pPr algn="ctr"/>
            <a:r>
              <a:rPr sz="1500" b="1">
                <a:solidFill>
                  <a:srgbClr val="00B0F0"/>
                </a:solidFill>
                <a:latin typeface="Calibri"/>
              </a:rPr>
              <a:t>Standard String Library Functions (&lt;string.h&gt;)</a:t>
            </a:r>
          </a:p>
          <a:p>
            <a:pPr>
              <a:spcBef>
                <a:spcPts val="354"/>
              </a:spcBef>
              <a:spcAft>
                <a:spcPts val="78"/>
              </a:spcAft>
            </a:pPr>
            <a:r>
              <a:rPr sz="1000" b="1">
                <a:solidFill>
                  <a:srgbClr val="FCD34D"/>
                </a:solidFill>
                <a:latin typeface="Calibri"/>
              </a:rPr>
              <a:t>• strlen(str): </a:t>
            </a:r>
            <a:r>
              <a:rPr sz="950">
                <a:solidFill>
                  <a:srgbClr val="E2E8F0"/>
                </a:solidFill>
                <a:latin typeface="Calibri"/>
              </a:rPr>
              <a:t>Returns the count of characters strictly before '\0'. (Time complexity: O(N)).</a:t>
            </a:r>
          </a:p>
          <a:p>
            <a:pPr>
              <a:spcBef>
                <a:spcPts val="354"/>
              </a:spcBef>
              <a:spcAft>
                <a:spcPts val="78"/>
              </a:spcAft>
            </a:pPr>
            <a:r>
              <a:rPr sz="1000" b="1">
                <a:solidFill>
                  <a:srgbClr val="FCD34D"/>
                </a:solidFill>
                <a:latin typeface="Calibri"/>
              </a:rPr>
              <a:t>• strcpy(dest, src): </a:t>
            </a:r>
            <a:r>
              <a:rPr sz="950">
                <a:solidFill>
                  <a:srgbClr val="E2E8F0"/>
                </a:solidFill>
                <a:latin typeface="Calibri"/>
              </a:rPr>
              <a:t>Copies source string into destination. dest must have sufficient allocated memory!</a:t>
            </a:r>
          </a:p>
          <a:p>
            <a:pPr>
              <a:spcBef>
                <a:spcPts val="354"/>
              </a:spcBef>
              <a:spcAft>
                <a:spcPts val="78"/>
              </a:spcAft>
            </a:pPr>
            <a:r>
              <a:rPr sz="1000" b="1">
                <a:solidFill>
                  <a:srgbClr val="FCD34D"/>
                </a:solidFill>
                <a:latin typeface="Calibri"/>
              </a:rPr>
              <a:t>• strcat(dest, src): </a:t>
            </a:r>
            <a:r>
              <a:rPr sz="950">
                <a:solidFill>
                  <a:srgbClr val="E2E8F0"/>
                </a:solidFill>
                <a:latin typeface="Calibri"/>
              </a:rPr>
              <a:t>Concatenates (appends) src to the end of dest, overwriting dest's '\0'.</a:t>
            </a:r>
          </a:p>
          <a:p>
            <a:pPr>
              <a:spcBef>
                <a:spcPts val="354"/>
              </a:spcBef>
              <a:spcAft>
                <a:spcPts val="78"/>
              </a:spcAft>
            </a:pPr>
            <a:r>
              <a:rPr sz="1000" b="1">
                <a:solidFill>
                  <a:srgbClr val="FCD34D"/>
                </a:solidFill>
                <a:latin typeface="Calibri"/>
              </a:rPr>
              <a:t>• strcmp(s1, s2): </a:t>
            </a:r>
            <a:r>
              <a:rPr sz="950">
                <a:solidFill>
                  <a:srgbClr val="E2E8F0"/>
                </a:solidFill>
                <a:latin typeface="Calibri"/>
              </a:rPr>
              <a:t>Lexicographical comparison: returns 0 if equal, &lt;0 if s1 &lt; s2, and &gt;0 if s1 &gt; s2.</a:t>
            </a:r>
          </a:p>
          <a:p>
            <a:pPr>
              <a:spcBef>
                <a:spcPts val="354"/>
              </a:spcBef>
              <a:spcAft>
                <a:spcPts val="78"/>
              </a:spcAft>
            </a:pPr>
            <a:r>
              <a:rPr sz="1000" b="1">
                <a:solidFill>
                  <a:srgbClr val="FCD34D"/>
                </a:solidFill>
                <a:latin typeface="Calibri"/>
              </a:rPr>
              <a:t>• Two-Pointer Reverse: </a:t>
            </a:r>
            <a:r>
              <a:rPr sz="950">
                <a:solidFill>
                  <a:srgbClr val="E2E8F0"/>
                </a:solidFill>
                <a:latin typeface="Calibri"/>
              </a:rPr>
              <a:t>Reverse string in-place by swapping str[left] and str[right] until pointers meet.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666400"/>
            <a:ext cx="5212080" cy="182000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00000"/>
          <a:lstStyle/>
          <a:p>
            <a:pPr algn="ctr"/>
            <a:r>
              <a:rPr sz="950">
                <a:solidFill>
                  <a:srgbClr val="94A3B8"/>
                </a:solidFill>
                <a:latin typeface="Consolas"/>
              </a:rPr>
              <a:t>// Built-in String Operations (&lt;string.h&gt;)</a:t>
            </a:r>
          </a:p>
          <a:p>
            <a:pPr>
              <a:spcBef>
                <a:spcPts val="196"/>
              </a:spcBef>
              <a:spcAft>
                <a:spcPts val="78"/>
              </a:spcAft>
              <a:defRPr sz="950">
                <a:latin typeface="Consolas"/>
              </a:defRPr>
            </a:pPr>
            <a:r>
              <a:rPr sz="950">
                <a:solidFill>
                  <a:srgbClr val="38BDF8"/>
                </a:solidFill>
                <a:latin typeface="Consolas"/>
              </a:rPr>
              <a:t>char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s1</a:t>
            </a:r>
            <a:r>
              <a:rPr sz="950">
                <a:solidFill>
                  <a:srgbClr val="E2E8F0"/>
                </a:solidFill>
                <a:latin typeface="Consolas"/>
              </a:rPr>
              <a:t>[</a:t>
            </a:r>
            <a:r>
              <a:rPr sz="950">
                <a:solidFill>
                  <a:srgbClr val="F59E0B"/>
                </a:solidFill>
                <a:latin typeface="Consolas"/>
              </a:rPr>
              <a:t>30</a:t>
            </a:r>
            <a:r>
              <a:rPr sz="950">
                <a:solidFill>
                  <a:srgbClr val="E2E8F0"/>
                </a:solidFill>
                <a:latin typeface="Consolas"/>
              </a:rPr>
              <a:t>]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=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34D399"/>
                </a:solidFill>
                <a:latin typeface="Consolas"/>
              </a:rPr>
              <a:t>"Novo"</a:t>
            </a:r>
            <a:r>
              <a:rPr sz="950">
                <a:solidFill>
                  <a:srgbClr val="E2E8F0"/>
                </a:solidFill>
                <a:latin typeface="Consolas"/>
              </a:rPr>
              <a:t>,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s2</a:t>
            </a:r>
            <a:r>
              <a:rPr sz="950">
                <a:solidFill>
                  <a:srgbClr val="E2E8F0"/>
                </a:solidFill>
                <a:latin typeface="Consolas"/>
              </a:rPr>
              <a:t>[]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=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34D399"/>
                </a:solidFill>
                <a:latin typeface="Consolas"/>
              </a:rPr>
              <a:t>"Nex"</a:t>
            </a:r>
            <a:r>
              <a:rPr sz="950">
                <a:solidFill>
                  <a:srgbClr val="E2E8F0"/>
                </a:solidFill>
                <a:latin typeface="Consolas"/>
              </a:rPr>
              <a:t>;</a:t>
            </a:r>
          </a:p>
          <a:p>
            <a:pPr>
              <a:spcBef>
                <a:spcPts val="196"/>
              </a:spcBef>
              <a:spcAft>
                <a:spcPts val="78"/>
              </a:spcAft>
              <a:defRPr sz="950">
                <a:latin typeface="Consolas"/>
              </a:defRPr>
            </a:pPr>
            <a:r>
              <a:rPr sz="950">
                <a:solidFill>
                  <a:srgbClr val="FCD34D"/>
                </a:solidFill>
                <a:latin typeface="Consolas"/>
              </a:rPr>
              <a:t>strcat</a:t>
            </a:r>
            <a:r>
              <a:rPr sz="950">
                <a:solidFill>
                  <a:srgbClr val="E2E8F0"/>
                </a:solidFill>
                <a:latin typeface="Consolas"/>
              </a:rPr>
              <a:t>(</a:t>
            </a:r>
            <a:r>
              <a:rPr sz="950">
                <a:solidFill>
                  <a:srgbClr val="E2E8F0"/>
                </a:solidFill>
                <a:latin typeface="Consolas"/>
              </a:rPr>
              <a:t>s1</a:t>
            </a:r>
            <a:r>
              <a:rPr sz="950">
                <a:solidFill>
                  <a:srgbClr val="E2E8F0"/>
                </a:solidFill>
                <a:latin typeface="Consolas"/>
              </a:rPr>
              <a:t>,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s2</a:t>
            </a:r>
            <a:r>
              <a:rPr sz="950">
                <a:solidFill>
                  <a:srgbClr val="E2E8F0"/>
                </a:solidFill>
                <a:latin typeface="Consolas"/>
              </a:rPr>
              <a:t>);</a:t>
            </a:r>
            <a:r>
              <a:rPr sz="950">
                <a:solidFill>
                  <a:srgbClr val="E2E8F0"/>
                </a:solidFill>
                <a:latin typeface="Consolas"/>
              </a:rPr>
              <a:t>             </a:t>
            </a:r>
            <a:r>
              <a:rPr sz="950">
                <a:solidFill>
                  <a:srgbClr val="94A3B8"/>
                </a:solidFill>
                <a:latin typeface="Consolas"/>
              </a:rPr>
              <a:t>// s1 becomes "NovoNex"</a:t>
            </a:r>
          </a:p>
          <a:p>
            <a:pPr>
              <a:spcBef>
                <a:spcPts val="196"/>
              </a:spcBef>
              <a:spcAft>
                <a:spcPts val="78"/>
              </a:spcAft>
              <a:defRPr sz="950">
                <a:latin typeface="Consolas"/>
              </a:defRPr>
            </a:pPr>
            <a:r>
              <a:rPr sz="950">
                <a:solidFill>
                  <a:srgbClr val="38BDF8"/>
                </a:solidFill>
                <a:latin typeface="Consolas"/>
              </a:rPr>
              <a:t>int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cmp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=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FCD34D"/>
                </a:solidFill>
                <a:latin typeface="Consolas"/>
              </a:rPr>
              <a:t>strcmp</a:t>
            </a:r>
            <a:r>
              <a:rPr sz="950">
                <a:solidFill>
                  <a:srgbClr val="E2E8F0"/>
                </a:solidFill>
                <a:latin typeface="Consolas"/>
              </a:rPr>
              <a:t>(</a:t>
            </a:r>
            <a:r>
              <a:rPr sz="950">
                <a:solidFill>
                  <a:srgbClr val="E2E8F0"/>
                </a:solidFill>
                <a:latin typeface="Consolas"/>
              </a:rPr>
              <a:t>s1</a:t>
            </a:r>
            <a:r>
              <a:rPr sz="950">
                <a:solidFill>
                  <a:srgbClr val="E2E8F0"/>
                </a:solidFill>
                <a:latin typeface="Consolas"/>
              </a:rPr>
              <a:t>,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34D399"/>
                </a:solidFill>
                <a:latin typeface="Consolas"/>
              </a:rPr>
              <a:t>"NovoNex"</a:t>
            </a:r>
            <a:r>
              <a:rPr sz="950">
                <a:solidFill>
                  <a:srgbClr val="E2E8F0"/>
                </a:solidFill>
                <a:latin typeface="Consolas"/>
              </a:rPr>
              <a:t>);</a:t>
            </a:r>
          </a:p>
          <a:p>
            <a:pPr>
              <a:spcBef>
                <a:spcPts val="196"/>
              </a:spcBef>
              <a:spcAft>
                <a:spcPts val="78"/>
              </a:spcAft>
              <a:defRPr sz="950">
                <a:latin typeface="Consolas"/>
              </a:defRPr>
            </a:pPr>
            <a:r>
              <a:rPr sz="950">
                <a:solidFill>
                  <a:srgbClr val="C084FC"/>
                </a:solidFill>
                <a:latin typeface="Consolas"/>
              </a:rPr>
              <a:t>if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(</a:t>
            </a:r>
            <a:r>
              <a:rPr sz="950">
                <a:solidFill>
                  <a:srgbClr val="E2E8F0"/>
                </a:solidFill>
                <a:latin typeface="Consolas"/>
              </a:rPr>
              <a:t>cmp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==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F59E0B"/>
                </a:solidFill>
                <a:latin typeface="Consolas"/>
              </a:rPr>
              <a:t>0</a:t>
            </a:r>
            <a:r>
              <a:rPr sz="950">
                <a:solidFill>
                  <a:srgbClr val="E2E8F0"/>
                </a:solidFill>
                <a:latin typeface="Consolas"/>
              </a:rPr>
              <a:t>)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{</a:t>
            </a:r>
            <a:r>
              <a:rPr sz="950">
                <a:solidFill>
                  <a:srgbClr val="E2E8F0"/>
                </a:solidFill>
                <a:latin typeface="Consolas"/>
              </a:rPr>
              <a:t>             </a:t>
            </a:r>
            <a:r>
              <a:rPr sz="950">
                <a:solidFill>
                  <a:srgbClr val="94A3B8"/>
                </a:solidFill>
                <a:latin typeface="Consolas"/>
              </a:rPr>
              <a:t>// 0 means exact MATCH!</a:t>
            </a:r>
          </a:p>
          <a:p>
            <a:pPr>
              <a:spcBef>
                <a:spcPts val="196"/>
              </a:spcBef>
              <a:spcAft>
                <a:spcPts val="78"/>
              </a:spcAft>
              <a:defRPr sz="950">
                <a:latin typeface="Consolas"/>
              </a:defRPr>
            </a:pPr>
            <a:r>
              <a:rPr sz="950">
                <a:solidFill>
                  <a:srgbClr val="E2E8F0"/>
                </a:solidFill>
                <a:latin typeface="Consolas"/>
              </a:rPr>
              <a:t>    </a:t>
            </a:r>
            <a:r>
              <a:rPr sz="950">
                <a:solidFill>
                  <a:srgbClr val="FCD34D"/>
                </a:solidFill>
                <a:latin typeface="Consolas"/>
              </a:rPr>
              <a:t>printf</a:t>
            </a:r>
            <a:r>
              <a:rPr sz="950">
                <a:solidFill>
                  <a:srgbClr val="E2E8F0"/>
                </a:solidFill>
                <a:latin typeface="Consolas"/>
              </a:rPr>
              <a:t>(</a:t>
            </a:r>
            <a:r>
              <a:rPr sz="950">
                <a:solidFill>
                  <a:srgbClr val="34D399"/>
                </a:solidFill>
                <a:latin typeface="Consolas"/>
              </a:rPr>
              <a:t>"Matched! Length = %zu\n"</a:t>
            </a:r>
            <a:r>
              <a:rPr sz="950">
                <a:solidFill>
                  <a:srgbClr val="E2E8F0"/>
                </a:solidFill>
                <a:latin typeface="Consolas"/>
              </a:rPr>
              <a:t>,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FCD34D"/>
                </a:solidFill>
                <a:latin typeface="Consolas"/>
              </a:rPr>
              <a:t>strlen</a:t>
            </a:r>
            <a:r>
              <a:rPr sz="950">
                <a:solidFill>
                  <a:srgbClr val="E2E8F0"/>
                </a:solidFill>
                <a:latin typeface="Consolas"/>
              </a:rPr>
              <a:t>(</a:t>
            </a:r>
            <a:r>
              <a:rPr sz="950">
                <a:solidFill>
                  <a:srgbClr val="E2E8F0"/>
                </a:solidFill>
                <a:latin typeface="Consolas"/>
              </a:rPr>
              <a:t>s1</a:t>
            </a:r>
            <a:r>
              <a:rPr sz="950">
                <a:solidFill>
                  <a:srgbClr val="E2E8F0"/>
                </a:solidFill>
                <a:latin typeface="Consolas"/>
              </a:rPr>
              <a:t>));</a:t>
            </a:r>
          </a:p>
          <a:p>
            <a:pPr>
              <a:spcBef>
                <a:spcPts val="196"/>
              </a:spcBef>
              <a:spcAft>
                <a:spcPts val="78"/>
              </a:spcAft>
              <a:defRPr sz="950">
                <a:latin typeface="Consolas"/>
              </a:defRPr>
            </a:pPr>
            <a:r>
              <a:rPr sz="95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5532120"/>
            <a:ext cx="5212080" cy="457200"/>
          </a:xfrm>
          <a:prstGeom prst="rect">
            <a:avLst/>
          </a:prstGeom>
          <a:solidFill>
            <a:srgbClr val="111827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38BDF8"/>
                </a:solidFill>
                <a:latin typeface="Calibri"/>
              </a:rPr>
              <a:t>💡 strcmp Trap: strcmp returns 0 on MATCH! Condition: if (strcmp(a, b) == 0) means TRUE!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9632" y="868680"/>
            <a:ext cx="5577840" cy="5212080"/>
          </a:xfrm>
          <a:prstGeom prst="rect">
            <a:avLst/>
          </a:prstGeom>
          <a:solidFill>
            <a:srgbClr val="05080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01168"/>
          <a:lstStyle/>
          <a:p>
            <a:pPr algn="ctr"/>
            <a:r>
              <a:rPr sz="1300" b="1">
                <a:solidFill>
                  <a:srgbClr val="00B0F0"/>
                </a:solidFill>
                <a:latin typeface="Calibri"/>
              </a:rPr>
              <a:t>✏️  Live Trace &amp; Explanation Board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  <a:latin typeface="Calibri"/>
              </a:rPr>
              <a:t>[Teacher's Note: Live trace strcmp letter-by-letter ASCII comparison ('A'=65 vs 'B'=66) and demonstrate two-pointer reverse logic]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192024"/>
            <a:ext cx="11365992" cy="521207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41148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0B0F0"/>
                </a:solidFill>
                <a:latin typeface="Amasis MT Pro Light"/>
              </a:rPr>
              <a:t>C</a:t>
            </a:r>
            <a:r>
              <a:rPr sz="1800" b="1">
                <a:solidFill>
                  <a:srgbClr val="FFFFFF"/>
                </a:solidFill>
                <a:latin typeface="Amasis MT Pro Light"/>
              </a:rPr>
              <a:t> 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0" y="256032"/>
            <a:ext cx="2926080" cy="384048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Functions: Fundamentals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144" y="6263640"/>
            <a:ext cx="749808" cy="52120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868680"/>
            <a:ext cx="5577840" cy="5212080"/>
          </a:xfrm>
          <a:prstGeom prst="rect">
            <a:avLst/>
          </a:prstGeom>
          <a:solidFill>
            <a:srgbClr val="0A0F1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180000"/>
          <a:lstStyle/>
          <a:p>
            <a:pPr algn="ctr"/>
            <a:r>
              <a:rPr sz="1500" b="1">
                <a:solidFill>
                  <a:srgbClr val="00B0F0"/>
                </a:solidFill>
                <a:latin typeface="Calibri"/>
              </a:rPr>
              <a:t>Modular Programming &amp; Function Architecture</a:t>
            </a:r>
          </a:p>
          <a:p>
            <a:pPr>
              <a:spcBef>
                <a:spcPts val="354"/>
              </a:spcBef>
              <a:spcAft>
                <a:spcPts val="78"/>
              </a:spcAft>
            </a:pPr>
            <a:r>
              <a:rPr sz="1000" b="1">
                <a:solidFill>
                  <a:srgbClr val="FCD34D"/>
                </a:solidFill>
                <a:latin typeface="Calibri"/>
              </a:rPr>
              <a:t>• Why Functions?: </a:t>
            </a:r>
            <a:r>
              <a:rPr sz="950">
                <a:solidFill>
                  <a:srgbClr val="E2E8F0"/>
                </a:solidFill>
                <a:latin typeface="Calibri"/>
              </a:rPr>
              <a:t>Break complex programs into reusable, isolated, testable modules (DRY principle).</a:t>
            </a:r>
          </a:p>
          <a:p>
            <a:pPr>
              <a:spcBef>
                <a:spcPts val="354"/>
              </a:spcBef>
              <a:spcAft>
                <a:spcPts val="78"/>
              </a:spcAft>
            </a:pPr>
            <a:r>
              <a:rPr sz="1000" b="1">
                <a:solidFill>
                  <a:srgbClr val="FCD34D"/>
                </a:solidFill>
                <a:latin typeface="Calibri"/>
              </a:rPr>
              <a:t>• 3 Essential Components: </a:t>
            </a:r>
            <a:r>
              <a:rPr sz="950">
                <a:solidFill>
                  <a:srgbClr val="E2E8F0"/>
                </a:solidFill>
                <a:latin typeface="Calibri"/>
              </a:rPr>
              <a:t>Every C function requires:</a:t>
            </a:r>
          </a:p>
          <a:p>
            <a:pPr>
              <a:spcBef>
                <a:spcPts val="354"/>
              </a:spcBef>
              <a:spcAft>
                <a:spcPts val="78"/>
              </a:spcAft>
            </a:pPr>
            <a:r>
              <a:rPr sz="1000" b="1">
                <a:solidFill>
                  <a:srgbClr val="FCD34D"/>
                </a:solidFill>
                <a:latin typeface="Calibri"/>
              </a:rPr>
              <a:t>•   1. Prototype Declaration: </a:t>
            </a:r>
            <a:r>
              <a:rPr sz="950">
                <a:solidFill>
                  <a:srgbClr val="E2E8F0"/>
                </a:solidFill>
                <a:latin typeface="Calibri"/>
              </a:rPr>
              <a:t>Informs compiler of name, return type &amp; parameters before main().</a:t>
            </a:r>
          </a:p>
          <a:p>
            <a:pPr>
              <a:spcBef>
                <a:spcPts val="354"/>
              </a:spcBef>
              <a:spcAft>
                <a:spcPts val="78"/>
              </a:spcAft>
            </a:pPr>
            <a:r>
              <a:rPr sz="1000" b="1">
                <a:solidFill>
                  <a:srgbClr val="FCD34D"/>
                </a:solidFill>
                <a:latin typeface="Calibri"/>
              </a:rPr>
              <a:t>•   2. Function Definition: </a:t>
            </a:r>
            <a:r>
              <a:rPr sz="950">
                <a:solidFill>
                  <a:srgbClr val="E2E8F0"/>
                </a:solidFill>
                <a:latin typeface="Calibri"/>
              </a:rPr>
              <a:t>The actual implementation block containing executable instructions.</a:t>
            </a:r>
          </a:p>
          <a:p>
            <a:pPr>
              <a:spcBef>
                <a:spcPts val="354"/>
              </a:spcBef>
              <a:spcAft>
                <a:spcPts val="78"/>
              </a:spcAft>
            </a:pPr>
            <a:r>
              <a:rPr sz="1000" b="1">
                <a:solidFill>
                  <a:srgbClr val="FCD34D"/>
                </a:solidFill>
                <a:latin typeface="Calibri"/>
              </a:rPr>
              <a:t>•   3. Function Call: </a:t>
            </a:r>
            <a:r>
              <a:rPr sz="950">
                <a:solidFill>
                  <a:srgbClr val="E2E8F0"/>
                </a:solidFill>
                <a:latin typeface="Calibri"/>
              </a:rPr>
              <a:t>Invoking the function by passing argument values to execute its body.</a:t>
            </a:r>
          </a:p>
          <a:p>
            <a:pPr>
              <a:spcBef>
                <a:spcPts val="354"/>
              </a:spcBef>
              <a:spcAft>
                <a:spcPts val="78"/>
              </a:spcAft>
            </a:pPr>
            <a:r>
              <a:rPr sz="1000" b="1">
                <a:solidFill>
                  <a:srgbClr val="FCD34D"/>
                </a:solidFill>
                <a:latin typeface="Calibri"/>
              </a:rPr>
              <a:t>• Return Types: </a:t>
            </a:r>
            <a:r>
              <a:rPr sz="950">
                <a:solidFill>
                  <a:srgbClr val="E2E8F0"/>
                </a:solidFill>
                <a:latin typeface="Calibri"/>
              </a:rPr>
              <a:t>Returns computed result (int, double, etc.) or void if no value is returned.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136400"/>
            <a:ext cx="5212080" cy="235000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00000"/>
          <a:lstStyle/>
          <a:p>
            <a:pPr algn="ctr"/>
            <a:r>
              <a:rPr sz="950">
                <a:solidFill>
                  <a:srgbClr val="94A3B8"/>
                </a:solidFill>
                <a:latin typeface="Consolas"/>
              </a:rPr>
              <a:t>// Function Prototype, Definition &amp; Invocation</a:t>
            </a:r>
          </a:p>
          <a:p>
            <a:pPr>
              <a:spcBef>
                <a:spcPts val="196"/>
              </a:spcBef>
              <a:spcAft>
                <a:spcPts val="78"/>
              </a:spcAft>
              <a:defRPr sz="950">
                <a:latin typeface="Consolas"/>
              </a:defRPr>
            </a:pPr>
            <a:r>
              <a:rPr sz="950">
                <a:solidFill>
                  <a:srgbClr val="38BDF8"/>
                </a:solidFill>
                <a:latin typeface="Consolas"/>
              </a:rPr>
              <a:t>int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FCD34D"/>
                </a:solidFill>
                <a:latin typeface="Consolas"/>
              </a:rPr>
              <a:t>add</a:t>
            </a:r>
            <a:r>
              <a:rPr sz="950">
                <a:solidFill>
                  <a:srgbClr val="E2E8F0"/>
                </a:solidFill>
                <a:latin typeface="Consolas"/>
              </a:rPr>
              <a:t>(</a:t>
            </a:r>
            <a:r>
              <a:rPr sz="950">
                <a:solidFill>
                  <a:srgbClr val="38BDF8"/>
                </a:solidFill>
                <a:latin typeface="Consolas"/>
              </a:rPr>
              <a:t>int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a</a:t>
            </a:r>
            <a:r>
              <a:rPr sz="950">
                <a:solidFill>
                  <a:srgbClr val="E2E8F0"/>
                </a:solidFill>
                <a:latin typeface="Consolas"/>
              </a:rPr>
              <a:t>,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38BDF8"/>
                </a:solidFill>
                <a:latin typeface="Consolas"/>
              </a:rPr>
              <a:t>int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b</a:t>
            </a:r>
            <a:r>
              <a:rPr sz="950">
                <a:solidFill>
                  <a:srgbClr val="E2E8F0"/>
                </a:solidFill>
                <a:latin typeface="Consolas"/>
              </a:rPr>
              <a:t>);</a:t>
            </a:r>
            <a:r>
              <a:rPr sz="950">
                <a:solidFill>
                  <a:srgbClr val="E2E8F0"/>
                </a:solidFill>
                <a:latin typeface="Consolas"/>
              </a:rPr>
              <a:t>       </a:t>
            </a:r>
            <a:r>
              <a:rPr sz="950">
                <a:solidFill>
                  <a:srgbClr val="94A3B8"/>
                </a:solidFill>
                <a:latin typeface="Consolas"/>
              </a:rPr>
              <a:t>// 1. Prototype Declaration</a:t>
            </a:r>
          </a:p>
          <a:p>
            <a:pPr>
              <a:spcBef>
                <a:spcPts val="196"/>
              </a:spcBef>
              <a:spcAft>
                <a:spcPts val="78"/>
              </a:spcAft>
              <a:defRPr sz="950">
                <a:latin typeface="Consolas"/>
              </a:defRPr>
            </a:pPr>
            <a:r>
              <a:rPr sz="950">
                <a:solidFill>
                  <a:srgbClr val="38BDF8"/>
                </a:solidFill>
                <a:latin typeface="Consolas"/>
              </a:rPr>
              <a:t>int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main</a:t>
            </a:r>
            <a:r>
              <a:rPr sz="950">
                <a:solidFill>
                  <a:srgbClr val="E2E8F0"/>
                </a:solidFill>
                <a:latin typeface="Consolas"/>
              </a:rPr>
              <a:t>()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{</a:t>
            </a:r>
          </a:p>
          <a:p>
            <a:pPr>
              <a:spcBef>
                <a:spcPts val="196"/>
              </a:spcBef>
              <a:spcAft>
                <a:spcPts val="78"/>
              </a:spcAft>
              <a:defRPr sz="950">
                <a:latin typeface="Consolas"/>
              </a:defRPr>
            </a:pPr>
            <a:r>
              <a:rPr sz="950">
                <a:solidFill>
                  <a:srgbClr val="E2E8F0"/>
                </a:solidFill>
                <a:latin typeface="Consolas"/>
              </a:rPr>
              <a:t>    </a:t>
            </a:r>
            <a:r>
              <a:rPr sz="950">
                <a:solidFill>
                  <a:srgbClr val="38BDF8"/>
                </a:solidFill>
                <a:latin typeface="Consolas"/>
              </a:rPr>
              <a:t>int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result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=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FCD34D"/>
                </a:solidFill>
                <a:latin typeface="Consolas"/>
              </a:rPr>
              <a:t>add</a:t>
            </a:r>
            <a:r>
              <a:rPr sz="950">
                <a:solidFill>
                  <a:srgbClr val="E2E8F0"/>
                </a:solidFill>
                <a:latin typeface="Consolas"/>
              </a:rPr>
              <a:t>(</a:t>
            </a:r>
            <a:r>
              <a:rPr sz="950">
                <a:solidFill>
                  <a:srgbClr val="F59E0B"/>
                </a:solidFill>
                <a:latin typeface="Consolas"/>
              </a:rPr>
              <a:t>15</a:t>
            </a:r>
            <a:r>
              <a:rPr sz="950">
                <a:solidFill>
                  <a:srgbClr val="E2E8F0"/>
                </a:solidFill>
                <a:latin typeface="Consolas"/>
              </a:rPr>
              <a:t>,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F59E0B"/>
                </a:solidFill>
                <a:latin typeface="Consolas"/>
              </a:rPr>
              <a:t>25</a:t>
            </a:r>
            <a:r>
              <a:rPr sz="950">
                <a:solidFill>
                  <a:srgbClr val="E2E8F0"/>
                </a:solidFill>
                <a:latin typeface="Consolas"/>
              </a:rPr>
              <a:t>);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94A3B8"/>
                </a:solidFill>
                <a:latin typeface="Consolas"/>
              </a:rPr>
              <a:t>// 3. Function Call</a:t>
            </a:r>
          </a:p>
          <a:p>
            <a:pPr>
              <a:spcBef>
                <a:spcPts val="196"/>
              </a:spcBef>
              <a:spcAft>
                <a:spcPts val="78"/>
              </a:spcAft>
              <a:defRPr sz="950">
                <a:latin typeface="Consolas"/>
              </a:defRPr>
            </a:pPr>
            <a:r>
              <a:rPr sz="950">
                <a:solidFill>
                  <a:srgbClr val="E2E8F0"/>
                </a:solidFill>
                <a:latin typeface="Consolas"/>
              </a:rPr>
              <a:t>    </a:t>
            </a:r>
            <a:r>
              <a:rPr sz="950">
                <a:solidFill>
                  <a:srgbClr val="FCD34D"/>
                </a:solidFill>
                <a:latin typeface="Consolas"/>
              </a:rPr>
              <a:t>printf</a:t>
            </a:r>
            <a:r>
              <a:rPr sz="950">
                <a:solidFill>
                  <a:srgbClr val="E2E8F0"/>
                </a:solidFill>
                <a:latin typeface="Consolas"/>
              </a:rPr>
              <a:t>(</a:t>
            </a:r>
            <a:r>
              <a:rPr sz="950">
                <a:solidFill>
                  <a:srgbClr val="34D399"/>
                </a:solidFill>
                <a:latin typeface="Consolas"/>
              </a:rPr>
              <a:t>"Sum = %d\n"</a:t>
            </a:r>
            <a:r>
              <a:rPr sz="950">
                <a:solidFill>
                  <a:srgbClr val="E2E8F0"/>
                </a:solidFill>
                <a:latin typeface="Consolas"/>
              </a:rPr>
              <a:t>,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result</a:t>
            </a:r>
            <a:r>
              <a:rPr sz="950">
                <a:solidFill>
                  <a:srgbClr val="E2E8F0"/>
                </a:solidFill>
                <a:latin typeface="Consolas"/>
              </a:rPr>
              <a:t>);</a:t>
            </a:r>
          </a:p>
          <a:p>
            <a:pPr>
              <a:spcBef>
                <a:spcPts val="196"/>
              </a:spcBef>
              <a:spcAft>
                <a:spcPts val="78"/>
              </a:spcAft>
              <a:defRPr sz="950">
                <a:latin typeface="Consolas"/>
              </a:defRPr>
            </a:pPr>
            <a:r>
              <a:rPr sz="950">
                <a:solidFill>
                  <a:srgbClr val="E2E8F0"/>
                </a:solidFill>
                <a:latin typeface="Consolas"/>
              </a:rPr>
              <a:t>    </a:t>
            </a:r>
            <a:r>
              <a:rPr sz="950">
                <a:solidFill>
                  <a:srgbClr val="C084FC"/>
                </a:solidFill>
                <a:latin typeface="Consolas"/>
              </a:rPr>
              <a:t>return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F59E0B"/>
                </a:solidFill>
                <a:latin typeface="Consolas"/>
              </a:rPr>
              <a:t>0</a:t>
            </a:r>
            <a:r>
              <a:rPr sz="950">
                <a:solidFill>
                  <a:srgbClr val="E2E8F0"/>
                </a:solidFill>
                <a:latin typeface="Consolas"/>
              </a:rPr>
              <a:t>;</a:t>
            </a:r>
          </a:p>
          <a:p>
            <a:pPr>
              <a:spcBef>
                <a:spcPts val="196"/>
              </a:spcBef>
              <a:spcAft>
                <a:spcPts val="78"/>
              </a:spcAft>
              <a:defRPr sz="950">
                <a:latin typeface="Consolas"/>
              </a:defRPr>
            </a:pPr>
            <a:r>
              <a:rPr sz="95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spcBef>
                <a:spcPts val="196"/>
              </a:spcBef>
              <a:spcAft>
                <a:spcPts val="78"/>
              </a:spcAft>
              <a:defRPr sz="950">
                <a:latin typeface="Consolas"/>
              </a:defRPr>
            </a:pPr>
            <a:r>
              <a:rPr sz="950">
                <a:solidFill>
                  <a:srgbClr val="38BDF8"/>
                </a:solidFill>
                <a:latin typeface="Consolas"/>
              </a:rPr>
              <a:t>int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FCD34D"/>
                </a:solidFill>
                <a:latin typeface="Consolas"/>
              </a:rPr>
              <a:t>add</a:t>
            </a:r>
            <a:r>
              <a:rPr sz="950">
                <a:solidFill>
                  <a:srgbClr val="E2E8F0"/>
                </a:solidFill>
                <a:latin typeface="Consolas"/>
              </a:rPr>
              <a:t>(</a:t>
            </a:r>
            <a:r>
              <a:rPr sz="950">
                <a:solidFill>
                  <a:srgbClr val="38BDF8"/>
                </a:solidFill>
                <a:latin typeface="Consolas"/>
              </a:rPr>
              <a:t>int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a</a:t>
            </a:r>
            <a:r>
              <a:rPr sz="950">
                <a:solidFill>
                  <a:srgbClr val="E2E8F0"/>
                </a:solidFill>
                <a:latin typeface="Consolas"/>
              </a:rPr>
              <a:t>,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38BDF8"/>
                </a:solidFill>
                <a:latin typeface="Consolas"/>
              </a:rPr>
              <a:t>int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b</a:t>
            </a:r>
            <a:r>
              <a:rPr sz="950">
                <a:solidFill>
                  <a:srgbClr val="E2E8F0"/>
                </a:solidFill>
                <a:latin typeface="Consolas"/>
              </a:rPr>
              <a:t>)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{</a:t>
            </a:r>
            <a:r>
              <a:rPr sz="950">
                <a:solidFill>
                  <a:srgbClr val="E2E8F0"/>
                </a:solidFill>
                <a:latin typeface="Consolas"/>
              </a:rPr>
              <a:t>       </a:t>
            </a:r>
            <a:r>
              <a:rPr sz="950">
                <a:solidFill>
                  <a:srgbClr val="94A3B8"/>
                </a:solidFill>
                <a:latin typeface="Consolas"/>
              </a:rPr>
              <a:t>// 2. Function Definition</a:t>
            </a:r>
          </a:p>
          <a:p>
            <a:pPr>
              <a:spcBef>
                <a:spcPts val="196"/>
              </a:spcBef>
              <a:spcAft>
                <a:spcPts val="78"/>
              </a:spcAft>
              <a:defRPr sz="950">
                <a:latin typeface="Consolas"/>
              </a:defRPr>
            </a:pPr>
            <a:r>
              <a:rPr sz="950">
                <a:solidFill>
                  <a:srgbClr val="E2E8F0"/>
                </a:solidFill>
                <a:latin typeface="Consolas"/>
              </a:rPr>
              <a:t>    </a:t>
            </a:r>
            <a:r>
              <a:rPr sz="950">
                <a:solidFill>
                  <a:srgbClr val="C084FC"/>
                </a:solidFill>
                <a:latin typeface="Consolas"/>
              </a:rPr>
              <a:t>return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a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+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b</a:t>
            </a:r>
            <a:r>
              <a:rPr sz="950">
                <a:solidFill>
                  <a:srgbClr val="E2E8F0"/>
                </a:solidFill>
                <a:latin typeface="Consolas"/>
              </a:rPr>
              <a:t>;</a:t>
            </a:r>
          </a:p>
          <a:p>
            <a:pPr>
              <a:spcBef>
                <a:spcPts val="196"/>
              </a:spcBef>
              <a:spcAft>
                <a:spcPts val="78"/>
              </a:spcAft>
              <a:defRPr sz="950">
                <a:latin typeface="Consolas"/>
              </a:defRPr>
            </a:pPr>
            <a:r>
              <a:rPr sz="95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5532120"/>
            <a:ext cx="5212080" cy="457200"/>
          </a:xfrm>
          <a:prstGeom prst="rect">
            <a:avLst/>
          </a:prstGeom>
          <a:solidFill>
            <a:srgbClr val="111827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38BDF8"/>
                </a:solidFill>
                <a:latin typeface="Calibri"/>
              </a:rPr>
              <a:t>💡 Prototype Rule: Placing definition after main() requires a prototype before main()!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9632" y="868680"/>
            <a:ext cx="5577840" cy="5212080"/>
          </a:xfrm>
          <a:prstGeom prst="rect">
            <a:avLst/>
          </a:prstGeom>
          <a:solidFill>
            <a:srgbClr val="05080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01168"/>
          <a:lstStyle/>
          <a:p>
            <a:pPr algn="ctr"/>
            <a:r>
              <a:rPr sz="1300" b="1">
                <a:solidFill>
                  <a:srgbClr val="00B0F0"/>
                </a:solidFill>
                <a:latin typeface="Calibri"/>
              </a:rPr>
              <a:t>✏️  Live Trace &amp; Explanation Board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  <a:latin typeface="Calibri"/>
              </a:rPr>
              <a:t>[Teacher's Note: Trace instruction pointer jump from main() to add(), return value in CPU register EAX, and jump back to main()]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192024"/>
            <a:ext cx="11365992" cy="521207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41148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0B0F0"/>
                </a:solidFill>
                <a:latin typeface="Amasis MT Pro Light"/>
              </a:rPr>
              <a:t>C</a:t>
            </a:r>
            <a:r>
              <a:rPr sz="1800" b="1">
                <a:solidFill>
                  <a:srgbClr val="FFFFFF"/>
                </a:solidFill>
                <a:latin typeface="Amasis MT Pro Light"/>
              </a:rPr>
              <a:t> 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0" y="256032"/>
            <a:ext cx="2926080" cy="384048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Functions: Scope &amp; Stack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144" y="6263640"/>
            <a:ext cx="749808" cy="52120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868680"/>
            <a:ext cx="5577840" cy="5212080"/>
          </a:xfrm>
          <a:prstGeom prst="rect">
            <a:avLst/>
          </a:prstGeom>
          <a:solidFill>
            <a:srgbClr val="0A0F1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180000"/>
          <a:lstStyle/>
          <a:p>
            <a:pPr algn="ctr"/>
            <a:r>
              <a:rPr sz="1500" b="1">
                <a:solidFill>
                  <a:srgbClr val="00B0F0"/>
                </a:solidFill>
                <a:latin typeface="Calibri"/>
              </a:rPr>
              <a:t>Variable Scope, Stack Frames &amp; Pass by Value</a:t>
            </a:r>
          </a:p>
          <a:p>
            <a:pPr>
              <a:spcBef>
                <a:spcPts val="354"/>
              </a:spcBef>
              <a:spcAft>
                <a:spcPts val="78"/>
              </a:spcAft>
            </a:pPr>
            <a:r>
              <a:rPr sz="1000" b="1">
                <a:solidFill>
                  <a:srgbClr val="FCD34D"/>
                </a:solidFill>
                <a:latin typeface="Calibri"/>
              </a:rPr>
              <a:t>• Pass by Value: </a:t>
            </a:r>
            <a:r>
              <a:rPr sz="950">
                <a:solidFill>
                  <a:srgbClr val="E2E8F0"/>
                </a:solidFill>
                <a:latin typeface="Calibri"/>
              </a:rPr>
              <a:t>C functions receive COPIES of argument values. Modifying parameters does NOT change caller variables!</a:t>
            </a:r>
          </a:p>
          <a:p>
            <a:pPr>
              <a:spcBef>
                <a:spcPts val="354"/>
              </a:spcBef>
              <a:spcAft>
                <a:spcPts val="78"/>
              </a:spcAft>
            </a:pPr>
            <a:r>
              <a:rPr sz="1000" b="1">
                <a:solidFill>
                  <a:srgbClr val="FCD34D"/>
                </a:solidFill>
                <a:latin typeface="Calibri"/>
              </a:rPr>
              <a:t>• Stack Frame Allocation: </a:t>
            </a:r>
            <a:r>
              <a:rPr sz="950">
                <a:solidFill>
                  <a:srgbClr val="E2E8F0"/>
                </a:solidFill>
                <a:latin typeface="Calibri"/>
              </a:rPr>
              <a:t>Each function call allocates an isolated stack frame in RAM for its local variables.</a:t>
            </a:r>
          </a:p>
          <a:p>
            <a:pPr>
              <a:spcBef>
                <a:spcPts val="354"/>
              </a:spcBef>
              <a:spcAft>
                <a:spcPts val="78"/>
              </a:spcAft>
            </a:pPr>
            <a:r>
              <a:rPr sz="1000" b="1">
                <a:solidFill>
                  <a:srgbClr val="FCD34D"/>
                </a:solidFill>
                <a:latin typeface="Calibri"/>
              </a:rPr>
              <a:t>• Local vs Global Scope: </a:t>
            </a:r>
            <a:r>
              <a:rPr sz="950">
                <a:solidFill>
                  <a:srgbClr val="E2E8F0"/>
                </a:solidFill>
                <a:latin typeface="Calibri"/>
              </a:rPr>
              <a:t>Local variables exist only inside their { } block; Globals exist across the entire program.</a:t>
            </a:r>
          </a:p>
          <a:p>
            <a:pPr>
              <a:spcBef>
                <a:spcPts val="354"/>
              </a:spcBef>
              <a:spcAft>
                <a:spcPts val="78"/>
              </a:spcAft>
            </a:pPr>
            <a:r>
              <a:rPr sz="1000" b="1">
                <a:solidFill>
                  <a:srgbClr val="FCD34D"/>
                </a:solidFill>
                <a:latin typeface="Calibri"/>
              </a:rPr>
              <a:t>• Stack Frame Destruction: </a:t>
            </a:r>
            <a:r>
              <a:rPr sz="950">
                <a:solidFill>
                  <a:srgbClr val="E2E8F0"/>
                </a:solidFill>
                <a:latin typeface="Calibri"/>
              </a:rPr>
              <a:t>Returning from a function pops and destroys its stack frame and local variables instantly.</a:t>
            </a:r>
          </a:p>
          <a:p>
            <a:pPr>
              <a:spcBef>
                <a:spcPts val="354"/>
              </a:spcBef>
              <a:spcAft>
                <a:spcPts val="78"/>
              </a:spcAft>
            </a:pPr>
            <a:r>
              <a:rPr sz="1000" b="1">
                <a:solidFill>
                  <a:srgbClr val="FCD34D"/>
                </a:solidFill>
                <a:latin typeface="Calibri"/>
              </a:rPr>
              <a:t>• static Variables: </a:t>
            </a:r>
            <a:r>
              <a:rPr sz="950">
                <a:solidFill>
                  <a:srgbClr val="E2E8F0"/>
                </a:solidFill>
                <a:latin typeface="Calibri"/>
              </a:rPr>
              <a:t>Retain their persistent value across multiple function calls without re-initializing!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446400"/>
            <a:ext cx="5212080" cy="204000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00000"/>
          <a:lstStyle/>
          <a:p>
            <a:pPr algn="ctr"/>
            <a:r>
              <a:rPr sz="950">
                <a:solidFill>
                  <a:srgbClr val="94A3B8"/>
                </a:solidFill>
                <a:latin typeface="Consolas"/>
              </a:rPr>
              <a:t>// Pass-by-Value Demo &amp; Static Persistence</a:t>
            </a:r>
          </a:p>
          <a:p>
            <a:pPr>
              <a:spcBef>
                <a:spcPts val="196"/>
              </a:spcBef>
              <a:spcAft>
                <a:spcPts val="78"/>
              </a:spcAft>
              <a:defRPr sz="950">
                <a:latin typeface="Consolas"/>
              </a:defRPr>
            </a:pPr>
            <a:r>
              <a:rPr sz="950">
                <a:solidFill>
                  <a:srgbClr val="38BDF8"/>
                </a:solidFill>
                <a:latin typeface="Consolas"/>
              </a:rPr>
              <a:t>void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tryModify</a:t>
            </a:r>
            <a:r>
              <a:rPr sz="950">
                <a:solidFill>
                  <a:srgbClr val="E2E8F0"/>
                </a:solidFill>
                <a:latin typeface="Consolas"/>
              </a:rPr>
              <a:t>(</a:t>
            </a:r>
            <a:r>
              <a:rPr sz="950">
                <a:solidFill>
                  <a:srgbClr val="38BDF8"/>
                </a:solidFill>
                <a:latin typeface="Consolas"/>
              </a:rPr>
              <a:t>int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x</a:t>
            </a:r>
            <a:r>
              <a:rPr sz="950">
                <a:solidFill>
                  <a:srgbClr val="E2E8F0"/>
                </a:solidFill>
                <a:latin typeface="Consolas"/>
              </a:rPr>
              <a:t>)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{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x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=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F59E0B"/>
                </a:solidFill>
                <a:latin typeface="Consolas"/>
              </a:rPr>
              <a:t>999</a:t>
            </a:r>
            <a:r>
              <a:rPr sz="950">
                <a:solidFill>
                  <a:srgbClr val="E2E8F0"/>
                </a:solidFill>
                <a:latin typeface="Consolas"/>
              </a:rPr>
              <a:t>;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}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94A3B8"/>
                </a:solidFill>
                <a:latin typeface="Consolas"/>
              </a:rPr>
              <a:t>// Modifies only local copy</a:t>
            </a:r>
          </a:p>
          <a:p>
            <a:pPr>
              <a:spcBef>
                <a:spcPts val="196"/>
              </a:spcBef>
              <a:spcAft>
                <a:spcPts val="78"/>
              </a:spcAft>
              <a:defRPr sz="950">
                <a:latin typeface="Consolas"/>
              </a:defRPr>
            </a:pPr>
            <a:r>
              <a:rPr sz="950">
                <a:solidFill>
                  <a:srgbClr val="38BDF8"/>
                </a:solidFill>
                <a:latin typeface="Consolas"/>
              </a:rPr>
              <a:t>void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counter</a:t>
            </a:r>
            <a:r>
              <a:rPr sz="950">
                <a:solidFill>
                  <a:srgbClr val="E2E8F0"/>
                </a:solidFill>
                <a:latin typeface="Consolas"/>
              </a:rPr>
              <a:t>()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{</a:t>
            </a:r>
          </a:p>
          <a:p>
            <a:pPr>
              <a:spcBef>
                <a:spcPts val="196"/>
              </a:spcBef>
              <a:spcAft>
                <a:spcPts val="78"/>
              </a:spcAft>
              <a:defRPr sz="950">
                <a:latin typeface="Consolas"/>
              </a:defRPr>
            </a:pPr>
            <a:r>
              <a:rPr sz="950">
                <a:solidFill>
                  <a:srgbClr val="E2E8F0"/>
                </a:solidFill>
                <a:latin typeface="Consolas"/>
              </a:rPr>
              <a:t>    </a:t>
            </a:r>
            <a:r>
              <a:rPr sz="950">
                <a:solidFill>
                  <a:srgbClr val="C084FC"/>
                </a:solidFill>
                <a:latin typeface="Consolas"/>
              </a:rPr>
              <a:t>static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38BDF8"/>
                </a:solidFill>
                <a:latin typeface="Consolas"/>
              </a:rPr>
              <a:t>int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count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=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F59E0B"/>
                </a:solidFill>
                <a:latin typeface="Consolas"/>
              </a:rPr>
              <a:t>0</a:t>
            </a:r>
            <a:r>
              <a:rPr sz="950">
                <a:solidFill>
                  <a:srgbClr val="E2E8F0"/>
                </a:solidFill>
                <a:latin typeface="Consolas"/>
              </a:rPr>
              <a:t>;</a:t>
            </a:r>
            <a:r>
              <a:rPr sz="950">
                <a:solidFill>
                  <a:srgbClr val="E2E8F0"/>
                </a:solidFill>
                <a:latin typeface="Consolas"/>
              </a:rPr>
              <a:t>   </a:t>
            </a:r>
            <a:r>
              <a:rPr sz="950">
                <a:solidFill>
                  <a:srgbClr val="94A3B8"/>
                </a:solidFill>
                <a:latin typeface="Consolas"/>
              </a:rPr>
              <a:t>// Retains value across calls</a:t>
            </a:r>
          </a:p>
          <a:p>
            <a:pPr>
              <a:spcBef>
                <a:spcPts val="196"/>
              </a:spcBef>
              <a:spcAft>
                <a:spcPts val="78"/>
              </a:spcAft>
              <a:defRPr sz="950">
                <a:latin typeface="Consolas"/>
              </a:defRPr>
            </a:pPr>
            <a:r>
              <a:rPr sz="950">
                <a:solidFill>
                  <a:srgbClr val="E2E8F0"/>
                </a:solidFill>
                <a:latin typeface="Consolas"/>
              </a:rPr>
              <a:t>    </a:t>
            </a:r>
            <a:r>
              <a:rPr sz="950">
                <a:solidFill>
                  <a:srgbClr val="E2E8F0"/>
                </a:solidFill>
                <a:latin typeface="Consolas"/>
              </a:rPr>
              <a:t>count</a:t>
            </a:r>
            <a:r>
              <a:rPr sz="950">
                <a:solidFill>
                  <a:srgbClr val="E2E8F0"/>
                </a:solidFill>
                <a:latin typeface="Consolas"/>
              </a:rPr>
              <a:t>++;</a:t>
            </a:r>
          </a:p>
          <a:p>
            <a:pPr>
              <a:spcBef>
                <a:spcPts val="196"/>
              </a:spcBef>
              <a:spcAft>
                <a:spcPts val="78"/>
              </a:spcAft>
              <a:defRPr sz="950">
                <a:latin typeface="Consolas"/>
              </a:defRPr>
            </a:pPr>
            <a:r>
              <a:rPr sz="950">
                <a:solidFill>
                  <a:srgbClr val="E2E8F0"/>
                </a:solidFill>
                <a:latin typeface="Consolas"/>
              </a:rPr>
              <a:t>    </a:t>
            </a:r>
            <a:r>
              <a:rPr sz="950">
                <a:solidFill>
                  <a:srgbClr val="FCD34D"/>
                </a:solidFill>
                <a:latin typeface="Consolas"/>
              </a:rPr>
              <a:t>printf</a:t>
            </a:r>
            <a:r>
              <a:rPr sz="950">
                <a:solidFill>
                  <a:srgbClr val="E2E8F0"/>
                </a:solidFill>
                <a:latin typeface="Consolas"/>
              </a:rPr>
              <a:t>(</a:t>
            </a:r>
            <a:r>
              <a:rPr sz="950">
                <a:solidFill>
                  <a:srgbClr val="34D399"/>
                </a:solidFill>
                <a:latin typeface="Consolas"/>
              </a:rPr>
              <a:t>"Call count: %d\n"</a:t>
            </a:r>
            <a:r>
              <a:rPr sz="950">
                <a:solidFill>
                  <a:srgbClr val="E2E8F0"/>
                </a:solidFill>
                <a:latin typeface="Consolas"/>
              </a:rPr>
              <a:t>,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count</a:t>
            </a:r>
            <a:r>
              <a:rPr sz="950">
                <a:solidFill>
                  <a:srgbClr val="E2E8F0"/>
                </a:solidFill>
                <a:latin typeface="Consolas"/>
              </a:rPr>
              <a:t>);</a:t>
            </a:r>
          </a:p>
          <a:p>
            <a:pPr>
              <a:spcBef>
                <a:spcPts val="196"/>
              </a:spcBef>
              <a:spcAft>
                <a:spcPts val="78"/>
              </a:spcAft>
              <a:defRPr sz="950">
                <a:latin typeface="Consolas"/>
              </a:defRPr>
            </a:pPr>
            <a:r>
              <a:rPr sz="95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spcBef>
                <a:spcPts val="196"/>
              </a:spcBef>
              <a:spcAft>
                <a:spcPts val="78"/>
              </a:spcAft>
              <a:defRPr sz="950">
                <a:latin typeface="Consolas"/>
              </a:defRPr>
            </a:pPr>
            <a:r>
              <a:rPr sz="950">
                <a:solidFill>
                  <a:srgbClr val="94A3B8"/>
                </a:solidFill>
                <a:latin typeface="Consolas"/>
              </a:rPr>
              <a:t>// In main: int val = 10; tryModify(val); -&gt; val is STILL 10!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5532120"/>
            <a:ext cx="5212080" cy="457200"/>
          </a:xfrm>
          <a:prstGeom prst="rect">
            <a:avLst/>
          </a:prstGeom>
          <a:solidFill>
            <a:srgbClr val="111827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38BDF8"/>
                </a:solidFill>
                <a:latin typeface="Calibri"/>
              </a:rPr>
              <a:t>⚠️ Pass by Value Trap: Caller's variable remains unmodified! Pointers are required to mutate caller memory!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9632" y="868680"/>
            <a:ext cx="5577840" cy="5212080"/>
          </a:xfrm>
          <a:prstGeom prst="rect">
            <a:avLst/>
          </a:prstGeom>
          <a:solidFill>
            <a:srgbClr val="05080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01168"/>
          <a:lstStyle/>
          <a:p>
            <a:pPr algn="ctr"/>
            <a:r>
              <a:rPr sz="1300" b="1">
                <a:solidFill>
                  <a:srgbClr val="00B0F0"/>
                </a:solidFill>
                <a:latin typeface="Calibri"/>
              </a:rPr>
              <a:t>✏️  Live Trace &amp; Explanation Board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  <a:latin typeface="Calibri"/>
              </a:rPr>
              <a:t>[Teacher's Note: Draw RAM Call Stack with separate frames for main() vs tryModify() to prove variable memory isolation]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192024"/>
            <a:ext cx="11365992" cy="521207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41148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0B0F0"/>
                </a:solidFill>
                <a:latin typeface="Amasis MT Pro Light"/>
              </a:rPr>
              <a:t>C</a:t>
            </a:r>
            <a:r>
              <a:rPr sz="1800" b="1">
                <a:solidFill>
                  <a:srgbClr val="FFFFFF"/>
                </a:solidFill>
                <a:latin typeface="Amasis MT Pro Light"/>
              </a:rPr>
              <a:t> 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0" y="256032"/>
            <a:ext cx="2926080" cy="384048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Pointers: Fundamentals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144" y="6263640"/>
            <a:ext cx="749808" cy="52120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868680"/>
            <a:ext cx="5577840" cy="5212080"/>
          </a:xfrm>
          <a:prstGeom prst="rect">
            <a:avLst/>
          </a:prstGeom>
          <a:solidFill>
            <a:srgbClr val="0A0F1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180000"/>
          <a:lstStyle/>
          <a:p>
            <a:pPr algn="ctr"/>
            <a:r>
              <a:rPr sz="1500" b="1">
                <a:solidFill>
                  <a:srgbClr val="00B0F0"/>
                </a:solidFill>
                <a:latin typeface="Calibri"/>
              </a:rPr>
              <a:t>Pointers: Direct Memory Access &amp; Addressing</a:t>
            </a:r>
          </a:p>
          <a:p>
            <a:pPr>
              <a:spcBef>
                <a:spcPts val="354"/>
              </a:spcBef>
              <a:spcAft>
                <a:spcPts val="78"/>
              </a:spcAft>
            </a:pPr>
            <a:r>
              <a:rPr sz="1000" b="1">
                <a:solidFill>
                  <a:srgbClr val="FCD34D"/>
                </a:solidFill>
                <a:latin typeface="Calibri"/>
              </a:rPr>
              <a:t>• What is a Pointer?: </a:t>
            </a:r>
            <a:r>
              <a:rPr sz="950">
                <a:solidFill>
                  <a:srgbClr val="E2E8F0"/>
                </a:solidFill>
                <a:latin typeface="Calibri"/>
              </a:rPr>
              <a:t>A special variable that stores the physical RAM memory address (0x7ffd...) of another variable.</a:t>
            </a:r>
          </a:p>
          <a:p>
            <a:pPr>
              <a:spcBef>
                <a:spcPts val="354"/>
              </a:spcBef>
              <a:spcAft>
                <a:spcPts val="78"/>
              </a:spcAft>
            </a:pPr>
            <a:r>
              <a:rPr sz="1000" b="1">
                <a:solidFill>
                  <a:srgbClr val="FCD34D"/>
                </a:solidFill>
                <a:latin typeface="Calibri"/>
              </a:rPr>
              <a:t>• Address-Of Operator (&amp;): </a:t>
            </a:r>
            <a:r>
              <a:rPr sz="950">
                <a:solidFill>
                  <a:srgbClr val="E2E8F0"/>
                </a:solidFill>
                <a:latin typeface="Calibri"/>
              </a:rPr>
              <a:t>Retrieves the exact memory address where a variable is stored in RAM.</a:t>
            </a:r>
          </a:p>
          <a:p>
            <a:pPr>
              <a:spcBef>
                <a:spcPts val="354"/>
              </a:spcBef>
              <a:spcAft>
                <a:spcPts val="78"/>
              </a:spcAft>
            </a:pPr>
            <a:r>
              <a:rPr sz="1000" b="1">
                <a:solidFill>
                  <a:srgbClr val="FCD34D"/>
                </a:solidFill>
                <a:latin typeface="Calibri"/>
              </a:rPr>
              <a:t>• Dereference Operator (*): </a:t>
            </a:r>
            <a:r>
              <a:rPr sz="950">
                <a:solidFill>
                  <a:srgbClr val="E2E8F0"/>
                </a:solidFill>
                <a:latin typeface="Calibri"/>
              </a:rPr>
              <a:t>Accesses or modifies the value residing at the pointed address (*ptr = val).</a:t>
            </a:r>
          </a:p>
          <a:p>
            <a:pPr>
              <a:spcBef>
                <a:spcPts val="354"/>
              </a:spcBef>
              <a:spcAft>
                <a:spcPts val="78"/>
              </a:spcAft>
            </a:pPr>
            <a:r>
              <a:rPr sz="1000" b="1">
                <a:solidFill>
                  <a:srgbClr val="FCD34D"/>
                </a:solidFill>
                <a:latin typeface="Calibri"/>
              </a:rPr>
              <a:t>• Pointer Declaration: </a:t>
            </a:r>
            <a:r>
              <a:rPr sz="950">
                <a:solidFill>
                  <a:srgbClr val="E2E8F0"/>
                </a:solidFill>
                <a:latin typeface="Calibri"/>
              </a:rPr>
              <a:t>int *ptr; indicates ptr points to an int. (Occupies 8 bytes on 64-bit OS).</a:t>
            </a:r>
          </a:p>
          <a:p>
            <a:pPr>
              <a:spcBef>
                <a:spcPts val="354"/>
              </a:spcBef>
              <a:spcAft>
                <a:spcPts val="78"/>
              </a:spcAft>
            </a:pPr>
            <a:r>
              <a:rPr sz="1000" b="1">
                <a:solidFill>
                  <a:srgbClr val="FCD34D"/>
                </a:solidFill>
                <a:latin typeface="Calibri"/>
              </a:rPr>
              <a:t>• NULL Pointer: </a:t>
            </a:r>
            <a:r>
              <a:rPr sz="950">
                <a:solidFill>
                  <a:srgbClr val="E2E8F0"/>
                </a:solidFill>
                <a:latin typeface="Calibri"/>
              </a:rPr>
              <a:t>Initializing pointer to NULL (ptr = NULL;) ensures it points safely to address 0x0.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666400"/>
            <a:ext cx="5212080" cy="182000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00000"/>
          <a:lstStyle/>
          <a:p>
            <a:pPr algn="ctr"/>
            <a:r>
              <a:rPr sz="950">
                <a:solidFill>
                  <a:srgbClr val="94A3B8"/>
                </a:solidFill>
                <a:latin typeface="Consolas"/>
              </a:rPr>
              <a:t>// Pointer Declaration, Addressing &amp; Dereferencing</a:t>
            </a:r>
          </a:p>
          <a:p>
            <a:pPr>
              <a:spcBef>
                <a:spcPts val="196"/>
              </a:spcBef>
              <a:spcAft>
                <a:spcPts val="78"/>
              </a:spcAft>
              <a:defRPr sz="950">
                <a:latin typeface="Consolas"/>
              </a:defRPr>
            </a:pPr>
            <a:r>
              <a:rPr sz="950">
                <a:solidFill>
                  <a:srgbClr val="38BDF8"/>
                </a:solidFill>
                <a:latin typeface="Consolas"/>
              </a:rPr>
              <a:t>int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x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=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F59E0B"/>
                </a:solidFill>
                <a:latin typeface="Consolas"/>
              </a:rPr>
              <a:t>42</a:t>
            </a:r>
            <a:r>
              <a:rPr sz="950">
                <a:solidFill>
                  <a:srgbClr val="E2E8F0"/>
                </a:solidFill>
                <a:latin typeface="Consolas"/>
              </a:rPr>
              <a:t>;</a:t>
            </a:r>
          </a:p>
          <a:p>
            <a:pPr>
              <a:spcBef>
                <a:spcPts val="196"/>
              </a:spcBef>
              <a:spcAft>
                <a:spcPts val="78"/>
              </a:spcAft>
              <a:defRPr sz="950">
                <a:latin typeface="Consolas"/>
              </a:defRPr>
            </a:pPr>
            <a:r>
              <a:rPr sz="950">
                <a:solidFill>
                  <a:srgbClr val="38BDF8"/>
                </a:solidFill>
                <a:latin typeface="Consolas"/>
              </a:rPr>
              <a:t>int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*</a:t>
            </a:r>
            <a:r>
              <a:rPr sz="950">
                <a:solidFill>
                  <a:srgbClr val="E2E8F0"/>
                </a:solidFill>
                <a:latin typeface="Consolas"/>
              </a:rPr>
              <a:t>ptr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=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&amp;</a:t>
            </a:r>
            <a:r>
              <a:rPr sz="950">
                <a:solidFill>
                  <a:srgbClr val="E2E8F0"/>
                </a:solidFill>
                <a:latin typeface="Consolas"/>
              </a:rPr>
              <a:t>x</a:t>
            </a:r>
            <a:r>
              <a:rPr sz="950">
                <a:solidFill>
                  <a:srgbClr val="E2E8F0"/>
                </a:solidFill>
                <a:latin typeface="Consolas"/>
              </a:rPr>
              <a:t>;</a:t>
            </a:r>
            <a:r>
              <a:rPr sz="950">
                <a:solidFill>
                  <a:srgbClr val="E2E8F0"/>
                </a:solidFill>
                <a:latin typeface="Consolas"/>
              </a:rPr>
              <a:t>     </a:t>
            </a:r>
            <a:r>
              <a:rPr sz="950">
                <a:solidFill>
                  <a:srgbClr val="94A3B8"/>
                </a:solidFill>
                <a:latin typeface="Consolas"/>
              </a:rPr>
              <a:t>// ptr stores the memory address of x</a:t>
            </a:r>
          </a:p>
          <a:p>
            <a:pPr>
              <a:spcBef>
                <a:spcPts val="196"/>
              </a:spcBef>
              <a:spcAft>
                <a:spcPts val="78"/>
              </a:spcAft>
              <a:defRPr sz="950">
                <a:latin typeface="Consolas"/>
              </a:defRPr>
            </a:pPr>
            <a:r>
              <a:rPr sz="950">
                <a:solidFill>
                  <a:srgbClr val="FCD34D"/>
                </a:solidFill>
                <a:latin typeface="Consolas"/>
              </a:rPr>
              <a:t>printf</a:t>
            </a:r>
            <a:r>
              <a:rPr sz="950">
                <a:solidFill>
                  <a:srgbClr val="E2E8F0"/>
                </a:solidFill>
                <a:latin typeface="Consolas"/>
              </a:rPr>
              <a:t>(</a:t>
            </a:r>
            <a:r>
              <a:rPr sz="950">
                <a:solidFill>
                  <a:srgbClr val="34D399"/>
                </a:solidFill>
                <a:latin typeface="Consolas"/>
              </a:rPr>
              <a:t>"Value of x: %d\n"</a:t>
            </a:r>
            <a:r>
              <a:rPr sz="950">
                <a:solidFill>
                  <a:srgbClr val="E2E8F0"/>
                </a:solidFill>
                <a:latin typeface="Consolas"/>
              </a:rPr>
              <a:t>,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*</a:t>
            </a:r>
            <a:r>
              <a:rPr sz="950">
                <a:solidFill>
                  <a:srgbClr val="E2E8F0"/>
                </a:solidFill>
                <a:latin typeface="Consolas"/>
              </a:rPr>
              <a:t>ptr</a:t>
            </a:r>
            <a:r>
              <a:rPr sz="950">
                <a:solidFill>
                  <a:srgbClr val="E2E8F0"/>
                </a:solidFill>
                <a:latin typeface="Consolas"/>
              </a:rPr>
              <a:t>);</a:t>
            </a:r>
            <a:r>
              <a:rPr sz="950">
                <a:solidFill>
                  <a:srgbClr val="E2E8F0"/>
                </a:solidFill>
                <a:latin typeface="Consolas"/>
              </a:rPr>
              <a:t>  </a:t>
            </a:r>
            <a:r>
              <a:rPr sz="950">
                <a:solidFill>
                  <a:srgbClr val="94A3B8"/>
                </a:solidFill>
                <a:latin typeface="Consolas"/>
              </a:rPr>
              <a:t>// 42 (Dereference)</a:t>
            </a:r>
          </a:p>
          <a:p>
            <a:pPr>
              <a:spcBef>
                <a:spcPts val="196"/>
              </a:spcBef>
              <a:spcAft>
                <a:spcPts val="78"/>
              </a:spcAft>
              <a:defRPr sz="950">
                <a:latin typeface="Consolas"/>
              </a:defRPr>
            </a:pPr>
            <a:r>
              <a:rPr sz="950">
                <a:solidFill>
                  <a:srgbClr val="FCD34D"/>
                </a:solidFill>
                <a:latin typeface="Consolas"/>
              </a:rPr>
              <a:t>printf</a:t>
            </a:r>
            <a:r>
              <a:rPr sz="950">
                <a:solidFill>
                  <a:srgbClr val="E2E8F0"/>
                </a:solidFill>
                <a:latin typeface="Consolas"/>
              </a:rPr>
              <a:t>(</a:t>
            </a:r>
            <a:r>
              <a:rPr sz="950">
                <a:solidFill>
                  <a:srgbClr val="34D399"/>
                </a:solidFill>
                <a:latin typeface="Consolas"/>
              </a:rPr>
              <a:t>"Address of x: %p\n"</a:t>
            </a:r>
            <a:r>
              <a:rPr sz="950">
                <a:solidFill>
                  <a:srgbClr val="E2E8F0"/>
                </a:solidFill>
                <a:latin typeface="Consolas"/>
              </a:rPr>
              <a:t>,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ptr</a:t>
            </a:r>
            <a:r>
              <a:rPr sz="950">
                <a:solidFill>
                  <a:srgbClr val="E2E8F0"/>
                </a:solidFill>
                <a:latin typeface="Consolas"/>
              </a:rPr>
              <a:t>);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94A3B8"/>
                </a:solidFill>
                <a:latin typeface="Consolas"/>
              </a:rPr>
              <a:t>// Hex RAM address</a:t>
            </a:r>
          </a:p>
          <a:p>
            <a:pPr>
              <a:spcBef>
                <a:spcPts val="196"/>
              </a:spcBef>
              <a:spcAft>
                <a:spcPts val="78"/>
              </a:spcAft>
              <a:defRPr sz="950">
                <a:latin typeface="Consolas"/>
              </a:defRPr>
            </a:pPr>
            <a:r>
              <a:rPr sz="950">
                <a:solidFill>
                  <a:srgbClr val="E2E8F0"/>
                </a:solidFill>
                <a:latin typeface="Consolas"/>
              </a:rPr>
              <a:t>*</a:t>
            </a:r>
            <a:r>
              <a:rPr sz="950">
                <a:solidFill>
                  <a:srgbClr val="E2E8F0"/>
                </a:solidFill>
                <a:latin typeface="Consolas"/>
              </a:rPr>
              <a:t>ptr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=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F59E0B"/>
                </a:solidFill>
                <a:latin typeface="Consolas"/>
              </a:rPr>
              <a:t>100</a:t>
            </a:r>
            <a:r>
              <a:rPr sz="950">
                <a:solidFill>
                  <a:srgbClr val="E2E8F0"/>
                </a:solidFill>
                <a:latin typeface="Consolas"/>
              </a:rPr>
              <a:t>;</a:t>
            </a:r>
            <a:r>
              <a:rPr sz="950">
                <a:solidFill>
                  <a:srgbClr val="E2E8F0"/>
                </a:solidFill>
                <a:latin typeface="Consolas"/>
              </a:rPr>
              <a:t>        </a:t>
            </a:r>
            <a:r>
              <a:rPr sz="950">
                <a:solidFill>
                  <a:srgbClr val="94A3B8"/>
                </a:solidFill>
                <a:latin typeface="Consolas"/>
              </a:rPr>
              <a:t>// Modifies x indirectly via pointer!</a:t>
            </a:r>
          </a:p>
          <a:p>
            <a:pPr>
              <a:spcBef>
                <a:spcPts val="196"/>
              </a:spcBef>
              <a:spcAft>
                <a:spcPts val="78"/>
              </a:spcAft>
              <a:defRPr sz="950">
                <a:latin typeface="Consolas"/>
              </a:defRPr>
            </a:pPr>
            <a:r>
              <a:rPr sz="950">
                <a:solidFill>
                  <a:srgbClr val="FCD34D"/>
                </a:solidFill>
                <a:latin typeface="Consolas"/>
              </a:rPr>
              <a:t>printf</a:t>
            </a:r>
            <a:r>
              <a:rPr sz="950">
                <a:solidFill>
                  <a:srgbClr val="E2E8F0"/>
                </a:solidFill>
                <a:latin typeface="Consolas"/>
              </a:rPr>
              <a:t>(</a:t>
            </a:r>
            <a:r>
              <a:rPr sz="950">
                <a:solidFill>
                  <a:srgbClr val="34D399"/>
                </a:solidFill>
                <a:latin typeface="Consolas"/>
              </a:rPr>
              <a:t>"New x = %d\n"</a:t>
            </a:r>
            <a:r>
              <a:rPr sz="950">
                <a:solidFill>
                  <a:srgbClr val="E2E8F0"/>
                </a:solidFill>
                <a:latin typeface="Consolas"/>
              </a:rPr>
              <a:t>,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x</a:t>
            </a:r>
            <a:r>
              <a:rPr sz="950">
                <a:solidFill>
                  <a:srgbClr val="E2E8F0"/>
                </a:solidFill>
                <a:latin typeface="Consolas"/>
              </a:rPr>
              <a:t>);</a:t>
            </a:r>
            <a:r>
              <a:rPr sz="950">
                <a:solidFill>
                  <a:srgbClr val="E2E8F0"/>
                </a:solidFill>
                <a:latin typeface="Consolas"/>
              </a:rPr>
              <a:t>        </a:t>
            </a:r>
            <a:r>
              <a:rPr sz="950">
                <a:solidFill>
                  <a:srgbClr val="94A3B8"/>
                </a:solidFill>
                <a:latin typeface="Consolas"/>
              </a:rPr>
              <a:t>// Prints 100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5532120"/>
            <a:ext cx="5212080" cy="457200"/>
          </a:xfrm>
          <a:prstGeom prst="rect">
            <a:avLst/>
          </a:prstGeom>
          <a:solidFill>
            <a:srgbClr val="111827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38BDF8"/>
                </a:solidFill>
                <a:latin typeface="Calibri"/>
              </a:rPr>
              <a:t>⚠️ Wild Pointer: Dereferencing an uninitialized pointer causes Segmentation Fault / Crash!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9632" y="868680"/>
            <a:ext cx="5577840" cy="5212080"/>
          </a:xfrm>
          <a:prstGeom prst="rect">
            <a:avLst/>
          </a:prstGeom>
          <a:solidFill>
            <a:srgbClr val="05080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01168"/>
          <a:lstStyle/>
          <a:p>
            <a:pPr algn="ctr"/>
            <a:r>
              <a:rPr sz="1300" b="1">
                <a:solidFill>
                  <a:srgbClr val="00B0F0"/>
                </a:solidFill>
                <a:latin typeface="Calibri"/>
              </a:rPr>
              <a:t>✏️  Live Trace &amp; Explanation Board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  <a:latin typeface="Calibri"/>
              </a:rPr>
              <a:t>[Teacher's Note: Draw variable x box (val=42, addr=0x1000) and ptr box (val=0x1000, addr=0x2000) with arrow pointing from ptr to x]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192024"/>
            <a:ext cx="11365992" cy="521207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41148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0B0F0"/>
                </a:solidFill>
                <a:latin typeface="Amasis MT Pro Light"/>
              </a:rPr>
              <a:t>C</a:t>
            </a:r>
            <a:r>
              <a:rPr sz="1800" b="1">
                <a:solidFill>
                  <a:srgbClr val="FFFFFF"/>
                </a:solidFill>
                <a:latin typeface="Amasis MT Pro Light"/>
              </a:rPr>
              <a:t> 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0" y="256032"/>
            <a:ext cx="2926080" cy="384048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Pointers: Advanced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144" y="6263640"/>
            <a:ext cx="749808" cy="52120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868680"/>
            <a:ext cx="5577840" cy="5212080"/>
          </a:xfrm>
          <a:prstGeom prst="rect">
            <a:avLst/>
          </a:prstGeom>
          <a:solidFill>
            <a:srgbClr val="0A0F1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180000"/>
          <a:lstStyle/>
          <a:p>
            <a:pPr algn="ctr"/>
            <a:r>
              <a:rPr sz="1500" b="1">
                <a:solidFill>
                  <a:srgbClr val="00B0F0"/>
                </a:solidFill>
                <a:latin typeface="Calibri"/>
              </a:rPr>
              <a:t>Pass by Reference &amp; Pointer Arithmetic</a:t>
            </a:r>
          </a:p>
          <a:p>
            <a:pPr>
              <a:spcBef>
                <a:spcPts val="354"/>
              </a:spcBef>
              <a:spcAft>
                <a:spcPts val="78"/>
              </a:spcAft>
            </a:pPr>
            <a:r>
              <a:rPr sz="1000" b="1">
                <a:solidFill>
                  <a:srgbClr val="FCD34D"/>
                </a:solidFill>
                <a:latin typeface="Calibri"/>
              </a:rPr>
              <a:t>• Pass by Reference (via Pointers): </a:t>
            </a:r>
            <a:r>
              <a:rPr sz="950">
                <a:solidFill>
                  <a:srgbClr val="E2E8F0"/>
                </a:solidFill>
                <a:latin typeface="Calibri"/>
              </a:rPr>
              <a:t>Passing memory addresses allows a function to mutate caller variables directly!</a:t>
            </a:r>
          </a:p>
          <a:p>
            <a:pPr>
              <a:spcBef>
                <a:spcPts val="354"/>
              </a:spcBef>
              <a:spcAft>
                <a:spcPts val="78"/>
              </a:spcAft>
            </a:pPr>
            <a:r>
              <a:rPr sz="1000" b="1">
                <a:solidFill>
                  <a:srgbClr val="FCD34D"/>
                </a:solidFill>
                <a:latin typeface="Calibri"/>
              </a:rPr>
              <a:t>• Classic Swap Function: </a:t>
            </a:r>
            <a:r>
              <a:rPr sz="950">
                <a:solidFill>
                  <a:srgbClr val="E2E8F0"/>
                </a:solidFill>
                <a:latin typeface="Calibri"/>
              </a:rPr>
              <a:t>void swap(int *a, int *b) modifies caller values directly in their original memory slots.</a:t>
            </a:r>
          </a:p>
          <a:p>
            <a:pPr>
              <a:spcBef>
                <a:spcPts val="354"/>
              </a:spcBef>
              <a:spcAft>
                <a:spcPts val="78"/>
              </a:spcAft>
            </a:pPr>
            <a:r>
              <a:rPr sz="1000" b="1">
                <a:solidFill>
                  <a:srgbClr val="FCD34D"/>
                </a:solidFill>
                <a:latin typeface="Calibri"/>
              </a:rPr>
              <a:t>• Pointer Arithmetic: </a:t>
            </a:r>
            <a:r>
              <a:rPr sz="950">
                <a:solidFill>
                  <a:srgbClr val="E2E8F0"/>
                </a:solidFill>
                <a:latin typeface="Calibri"/>
              </a:rPr>
              <a:t>ptr + 1 advances the address by sizeof(type) bytes (e.g. +4 bytes for int), not 1 raw byte!</a:t>
            </a:r>
          </a:p>
          <a:p>
            <a:pPr>
              <a:spcBef>
                <a:spcPts val="354"/>
              </a:spcBef>
              <a:spcAft>
                <a:spcPts val="78"/>
              </a:spcAft>
            </a:pPr>
            <a:r>
              <a:rPr sz="1000" b="1">
                <a:solidFill>
                  <a:srgbClr val="FCD34D"/>
                </a:solidFill>
                <a:latin typeface="Calibri"/>
              </a:rPr>
              <a:t>• Array-Pointer Relationship: </a:t>
            </a:r>
            <a:r>
              <a:rPr sz="950">
                <a:solidFill>
                  <a:srgbClr val="E2E8F0"/>
                </a:solidFill>
                <a:latin typeface="Calibri"/>
              </a:rPr>
              <a:t>Array name arr decays into a constant pointer to its first element (&amp;arr[0]).</a:t>
            </a:r>
          </a:p>
          <a:p>
            <a:pPr>
              <a:spcBef>
                <a:spcPts val="354"/>
              </a:spcBef>
              <a:spcAft>
                <a:spcPts val="78"/>
              </a:spcAft>
            </a:pPr>
            <a:r>
              <a:rPr sz="1000" b="1">
                <a:solidFill>
                  <a:srgbClr val="FCD34D"/>
                </a:solidFill>
                <a:latin typeface="Calibri"/>
              </a:rPr>
              <a:t>• Equivalence Rule: </a:t>
            </a:r>
            <a:r>
              <a:rPr sz="950">
                <a:solidFill>
                  <a:srgbClr val="E2E8F0"/>
                </a:solidFill>
                <a:latin typeface="Calibri"/>
              </a:rPr>
              <a:t>*(arr + i) is 100% equivalent to arr[i].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226400"/>
            <a:ext cx="5212080" cy="226000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00000"/>
          <a:lstStyle/>
          <a:p>
            <a:pPr algn="ctr"/>
            <a:r>
              <a:rPr sz="950">
                <a:solidFill>
                  <a:srgbClr val="94A3B8"/>
                </a:solidFill>
                <a:latin typeface="Consolas"/>
              </a:rPr>
              <a:t>// Working Swap &amp; Array Traversal with Pointers</a:t>
            </a:r>
          </a:p>
          <a:p>
            <a:pPr>
              <a:spcBef>
                <a:spcPts val="196"/>
              </a:spcBef>
              <a:spcAft>
                <a:spcPts val="78"/>
              </a:spcAft>
              <a:defRPr sz="950">
                <a:latin typeface="Consolas"/>
              </a:defRPr>
            </a:pPr>
            <a:r>
              <a:rPr sz="950">
                <a:solidFill>
                  <a:srgbClr val="38BDF8"/>
                </a:solidFill>
                <a:latin typeface="Consolas"/>
              </a:rPr>
              <a:t>void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FCD34D"/>
                </a:solidFill>
                <a:latin typeface="Consolas"/>
              </a:rPr>
              <a:t>swap</a:t>
            </a:r>
            <a:r>
              <a:rPr sz="950">
                <a:solidFill>
                  <a:srgbClr val="E2E8F0"/>
                </a:solidFill>
                <a:latin typeface="Consolas"/>
              </a:rPr>
              <a:t>(</a:t>
            </a:r>
            <a:r>
              <a:rPr sz="950">
                <a:solidFill>
                  <a:srgbClr val="38BDF8"/>
                </a:solidFill>
                <a:latin typeface="Consolas"/>
              </a:rPr>
              <a:t>int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*</a:t>
            </a:r>
            <a:r>
              <a:rPr sz="950">
                <a:solidFill>
                  <a:srgbClr val="E2E8F0"/>
                </a:solidFill>
                <a:latin typeface="Consolas"/>
              </a:rPr>
              <a:t>a</a:t>
            </a:r>
            <a:r>
              <a:rPr sz="950">
                <a:solidFill>
                  <a:srgbClr val="E2E8F0"/>
                </a:solidFill>
                <a:latin typeface="Consolas"/>
              </a:rPr>
              <a:t>,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38BDF8"/>
                </a:solidFill>
                <a:latin typeface="Consolas"/>
              </a:rPr>
              <a:t>int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*</a:t>
            </a:r>
            <a:r>
              <a:rPr sz="950">
                <a:solidFill>
                  <a:srgbClr val="E2E8F0"/>
                </a:solidFill>
                <a:latin typeface="Consolas"/>
              </a:rPr>
              <a:t>b</a:t>
            </a:r>
            <a:r>
              <a:rPr sz="950">
                <a:solidFill>
                  <a:srgbClr val="E2E8F0"/>
                </a:solidFill>
                <a:latin typeface="Consolas"/>
              </a:rPr>
              <a:t>)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{</a:t>
            </a:r>
          </a:p>
          <a:p>
            <a:pPr>
              <a:spcBef>
                <a:spcPts val="196"/>
              </a:spcBef>
              <a:spcAft>
                <a:spcPts val="78"/>
              </a:spcAft>
              <a:defRPr sz="950">
                <a:latin typeface="Consolas"/>
              </a:defRPr>
            </a:pPr>
            <a:r>
              <a:rPr sz="950">
                <a:solidFill>
                  <a:srgbClr val="E2E8F0"/>
                </a:solidFill>
                <a:latin typeface="Consolas"/>
              </a:rPr>
              <a:t>    </a:t>
            </a:r>
            <a:r>
              <a:rPr sz="950">
                <a:solidFill>
                  <a:srgbClr val="38BDF8"/>
                </a:solidFill>
                <a:latin typeface="Consolas"/>
              </a:rPr>
              <a:t>int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temp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=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*</a:t>
            </a:r>
            <a:r>
              <a:rPr sz="950">
                <a:solidFill>
                  <a:srgbClr val="E2E8F0"/>
                </a:solidFill>
                <a:latin typeface="Consolas"/>
              </a:rPr>
              <a:t>a</a:t>
            </a:r>
            <a:r>
              <a:rPr sz="950">
                <a:solidFill>
                  <a:srgbClr val="E2E8F0"/>
                </a:solidFill>
                <a:latin typeface="Consolas"/>
              </a:rPr>
              <a:t>;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*</a:t>
            </a:r>
            <a:r>
              <a:rPr sz="950">
                <a:solidFill>
                  <a:srgbClr val="E2E8F0"/>
                </a:solidFill>
                <a:latin typeface="Consolas"/>
              </a:rPr>
              <a:t>a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=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*</a:t>
            </a:r>
            <a:r>
              <a:rPr sz="950">
                <a:solidFill>
                  <a:srgbClr val="E2E8F0"/>
                </a:solidFill>
                <a:latin typeface="Consolas"/>
              </a:rPr>
              <a:t>b</a:t>
            </a:r>
            <a:r>
              <a:rPr sz="950">
                <a:solidFill>
                  <a:srgbClr val="E2E8F0"/>
                </a:solidFill>
                <a:latin typeface="Consolas"/>
              </a:rPr>
              <a:t>;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*</a:t>
            </a:r>
            <a:r>
              <a:rPr sz="950">
                <a:solidFill>
                  <a:srgbClr val="E2E8F0"/>
                </a:solidFill>
                <a:latin typeface="Consolas"/>
              </a:rPr>
              <a:t>b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=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temp</a:t>
            </a:r>
            <a:r>
              <a:rPr sz="950">
                <a:solidFill>
                  <a:srgbClr val="E2E8F0"/>
                </a:solidFill>
                <a:latin typeface="Consolas"/>
              </a:rPr>
              <a:t>;</a:t>
            </a:r>
          </a:p>
          <a:p>
            <a:pPr>
              <a:spcBef>
                <a:spcPts val="196"/>
              </a:spcBef>
              <a:spcAft>
                <a:spcPts val="78"/>
              </a:spcAft>
              <a:defRPr sz="950">
                <a:latin typeface="Consolas"/>
              </a:defRPr>
            </a:pPr>
            <a:r>
              <a:rPr sz="95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spcBef>
                <a:spcPts val="196"/>
              </a:spcBef>
              <a:spcAft>
                <a:spcPts val="78"/>
              </a:spcAft>
              <a:defRPr sz="950">
                <a:latin typeface="Consolas"/>
              </a:defRPr>
            </a:pPr>
            <a:r>
              <a:rPr sz="950">
                <a:solidFill>
                  <a:srgbClr val="38BDF8"/>
                </a:solidFill>
                <a:latin typeface="Consolas"/>
              </a:rPr>
              <a:t>int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arr</a:t>
            </a:r>
            <a:r>
              <a:rPr sz="950">
                <a:solidFill>
                  <a:srgbClr val="E2E8F0"/>
                </a:solidFill>
                <a:latin typeface="Consolas"/>
              </a:rPr>
              <a:t>[</a:t>
            </a:r>
            <a:r>
              <a:rPr sz="950">
                <a:solidFill>
                  <a:srgbClr val="F59E0B"/>
                </a:solidFill>
                <a:latin typeface="Consolas"/>
              </a:rPr>
              <a:t>3</a:t>
            </a:r>
            <a:r>
              <a:rPr sz="950">
                <a:solidFill>
                  <a:srgbClr val="E2E8F0"/>
                </a:solidFill>
                <a:latin typeface="Consolas"/>
              </a:rPr>
              <a:t>]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=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{</a:t>
            </a:r>
            <a:r>
              <a:rPr sz="950">
                <a:solidFill>
                  <a:srgbClr val="F59E0B"/>
                </a:solidFill>
                <a:latin typeface="Consolas"/>
              </a:rPr>
              <a:t>10</a:t>
            </a:r>
            <a:r>
              <a:rPr sz="950">
                <a:solidFill>
                  <a:srgbClr val="E2E8F0"/>
                </a:solidFill>
                <a:latin typeface="Consolas"/>
              </a:rPr>
              <a:t>,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F59E0B"/>
                </a:solidFill>
                <a:latin typeface="Consolas"/>
              </a:rPr>
              <a:t>20</a:t>
            </a:r>
            <a:r>
              <a:rPr sz="950">
                <a:solidFill>
                  <a:srgbClr val="E2E8F0"/>
                </a:solidFill>
                <a:latin typeface="Consolas"/>
              </a:rPr>
              <a:t>,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F59E0B"/>
                </a:solidFill>
                <a:latin typeface="Consolas"/>
              </a:rPr>
              <a:t>30</a:t>
            </a:r>
            <a:r>
              <a:rPr sz="95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spcBef>
                <a:spcPts val="196"/>
              </a:spcBef>
              <a:spcAft>
                <a:spcPts val="78"/>
              </a:spcAft>
              <a:defRPr sz="950">
                <a:latin typeface="Consolas"/>
              </a:defRPr>
            </a:pPr>
            <a:r>
              <a:rPr sz="950">
                <a:solidFill>
                  <a:srgbClr val="38BDF8"/>
                </a:solidFill>
                <a:latin typeface="Consolas"/>
              </a:rPr>
              <a:t>int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*</a:t>
            </a:r>
            <a:r>
              <a:rPr sz="950">
                <a:solidFill>
                  <a:srgbClr val="E2E8F0"/>
                </a:solidFill>
                <a:latin typeface="Consolas"/>
              </a:rPr>
              <a:t>p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=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arr</a:t>
            </a:r>
            <a:r>
              <a:rPr sz="950">
                <a:solidFill>
                  <a:srgbClr val="E2E8F0"/>
                </a:solidFill>
                <a:latin typeface="Consolas"/>
              </a:rPr>
              <a:t>;</a:t>
            </a:r>
          </a:p>
          <a:p>
            <a:pPr>
              <a:spcBef>
                <a:spcPts val="196"/>
              </a:spcBef>
              <a:spcAft>
                <a:spcPts val="78"/>
              </a:spcAft>
              <a:defRPr sz="950">
                <a:latin typeface="Consolas"/>
              </a:defRPr>
            </a:pPr>
            <a:r>
              <a:rPr sz="950">
                <a:solidFill>
                  <a:srgbClr val="C084FC"/>
                </a:solidFill>
                <a:latin typeface="Consolas"/>
              </a:rPr>
              <a:t>for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(</a:t>
            </a:r>
            <a:r>
              <a:rPr sz="950">
                <a:solidFill>
                  <a:srgbClr val="38BDF8"/>
                </a:solidFill>
                <a:latin typeface="Consolas"/>
              </a:rPr>
              <a:t>int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i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=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F59E0B"/>
                </a:solidFill>
                <a:latin typeface="Consolas"/>
              </a:rPr>
              <a:t>0</a:t>
            </a:r>
            <a:r>
              <a:rPr sz="950">
                <a:solidFill>
                  <a:srgbClr val="E2E8F0"/>
                </a:solidFill>
                <a:latin typeface="Consolas"/>
              </a:rPr>
              <a:t>;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i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&lt;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F59E0B"/>
                </a:solidFill>
                <a:latin typeface="Consolas"/>
              </a:rPr>
              <a:t>3</a:t>
            </a:r>
            <a:r>
              <a:rPr sz="950">
                <a:solidFill>
                  <a:srgbClr val="E2E8F0"/>
                </a:solidFill>
                <a:latin typeface="Consolas"/>
              </a:rPr>
              <a:t>;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i</a:t>
            </a:r>
            <a:r>
              <a:rPr sz="950">
                <a:solidFill>
                  <a:srgbClr val="E2E8F0"/>
                </a:solidFill>
                <a:latin typeface="Consolas"/>
              </a:rPr>
              <a:t>++)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{</a:t>
            </a:r>
          </a:p>
          <a:p>
            <a:pPr>
              <a:spcBef>
                <a:spcPts val="196"/>
              </a:spcBef>
              <a:spcAft>
                <a:spcPts val="78"/>
              </a:spcAft>
              <a:defRPr sz="950">
                <a:latin typeface="Consolas"/>
              </a:defRPr>
            </a:pPr>
            <a:r>
              <a:rPr sz="950">
                <a:solidFill>
                  <a:srgbClr val="E2E8F0"/>
                </a:solidFill>
                <a:latin typeface="Consolas"/>
              </a:rPr>
              <a:t>    </a:t>
            </a:r>
            <a:r>
              <a:rPr sz="950">
                <a:solidFill>
                  <a:srgbClr val="FCD34D"/>
                </a:solidFill>
                <a:latin typeface="Consolas"/>
              </a:rPr>
              <a:t>printf</a:t>
            </a:r>
            <a:r>
              <a:rPr sz="950">
                <a:solidFill>
                  <a:srgbClr val="E2E8F0"/>
                </a:solidFill>
                <a:latin typeface="Consolas"/>
              </a:rPr>
              <a:t>(</a:t>
            </a:r>
            <a:r>
              <a:rPr sz="950">
                <a:solidFill>
                  <a:srgbClr val="34D399"/>
                </a:solidFill>
                <a:latin typeface="Consolas"/>
              </a:rPr>
              <a:t>"%d "</a:t>
            </a:r>
            <a:r>
              <a:rPr sz="950">
                <a:solidFill>
                  <a:srgbClr val="E2E8F0"/>
                </a:solidFill>
                <a:latin typeface="Consolas"/>
              </a:rPr>
              <a:t>,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*(</a:t>
            </a:r>
            <a:r>
              <a:rPr sz="950">
                <a:solidFill>
                  <a:srgbClr val="E2E8F0"/>
                </a:solidFill>
                <a:latin typeface="Consolas"/>
              </a:rPr>
              <a:t>p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+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i</a:t>
            </a:r>
            <a:r>
              <a:rPr sz="950">
                <a:solidFill>
                  <a:srgbClr val="E2E8F0"/>
                </a:solidFill>
                <a:latin typeface="Consolas"/>
              </a:rPr>
              <a:t>));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94A3B8"/>
                </a:solidFill>
                <a:latin typeface="Consolas"/>
              </a:rPr>
              <a:t>// Pointer offset traversal</a:t>
            </a:r>
          </a:p>
          <a:p>
            <a:pPr>
              <a:spcBef>
                <a:spcPts val="196"/>
              </a:spcBef>
              <a:spcAft>
                <a:spcPts val="78"/>
              </a:spcAft>
              <a:defRPr sz="950">
                <a:latin typeface="Consolas"/>
              </a:defRPr>
            </a:pPr>
            <a:r>
              <a:rPr sz="95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5532120"/>
            <a:ext cx="5212080" cy="457200"/>
          </a:xfrm>
          <a:prstGeom prst="rect">
            <a:avLst/>
          </a:prstGeom>
          <a:solidFill>
            <a:srgbClr val="111827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38BDF8"/>
                </a:solidFill>
                <a:latin typeface="Calibri"/>
              </a:rPr>
              <a:t>💡 Universal Equivalence: arr[i] == *(arr + i) == *(i + arr) == i[arr]! All resolve to identical offset!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9632" y="868680"/>
            <a:ext cx="5577840" cy="5212080"/>
          </a:xfrm>
          <a:prstGeom prst="rect">
            <a:avLst/>
          </a:prstGeom>
          <a:solidFill>
            <a:srgbClr val="05080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01168"/>
          <a:lstStyle/>
          <a:p>
            <a:pPr algn="ctr"/>
            <a:r>
              <a:rPr sz="1300" b="1">
                <a:solidFill>
                  <a:srgbClr val="00B0F0"/>
                </a:solidFill>
                <a:latin typeface="Calibri"/>
              </a:rPr>
              <a:t>✏️  Live Trace &amp; Explanation Board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  <a:latin typeface="Calibri"/>
              </a:rPr>
              <a:t>[Teacher's Note: Trace swap(&amp;x, &amp;y) memory links between stack frames; show ptr++ jumping +4 bytes across contiguous array cells]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192024"/>
            <a:ext cx="11365992" cy="521207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41148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0B0F0"/>
                </a:solidFill>
                <a:latin typeface="Amasis MT Pro Light"/>
              </a:rPr>
              <a:t>C</a:t>
            </a:r>
            <a:r>
              <a:rPr sz="1800" b="1">
                <a:solidFill>
                  <a:srgbClr val="FFFFFF"/>
                </a:solidFill>
                <a:latin typeface="Amasis MT Pro Light"/>
              </a:rPr>
              <a:t> 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0" y="256032"/>
            <a:ext cx="2926080" cy="384048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Recursion: Fundamentals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144" y="6263640"/>
            <a:ext cx="749808" cy="52120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868680"/>
            <a:ext cx="5577840" cy="5212080"/>
          </a:xfrm>
          <a:prstGeom prst="rect">
            <a:avLst/>
          </a:prstGeom>
          <a:solidFill>
            <a:srgbClr val="0A0F1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180000"/>
          <a:lstStyle/>
          <a:p>
            <a:pPr algn="ctr"/>
            <a:r>
              <a:rPr sz="1500" b="1">
                <a:solidFill>
                  <a:srgbClr val="00B0F0"/>
                </a:solidFill>
                <a:latin typeface="Calibri"/>
              </a:rPr>
              <a:t>Recursion: Self-Referential Functions &amp; Base Cases</a:t>
            </a:r>
          </a:p>
          <a:p>
            <a:pPr>
              <a:spcBef>
                <a:spcPts val="354"/>
              </a:spcBef>
              <a:spcAft>
                <a:spcPts val="78"/>
              </a:spcAft>
            </a:pPr>
            <a:r>
              <a:rPr sz="1000" b="1">
                <a:solidFill>
                  <a:srgbClr val="FCD34D"/>
                </a:solidFill>
                <a:latin typeface="Calibri"/>
              </a:rPr>
              <a:t>• What is Recursion?: </a:t>
            </a:r>
            <a:r>
              <a:rPr sz="950">
                <a:solidFill>
                  <a:srgbClr val="E2E8F0"/>
                </a:solidFill>
                <a:latin typeface="Calibri"/>
              </a:rPr>
              <a:t>A problem-solving technique where a function calls itself to solve smaller subproblems.</a:t>
            </a:r>
          </a:p>
          <a:p>
            <a:pPr>
              <a:spcBef>
                <a:spcPts val="354"/>
              </a:spcBef>
              <a:spcAft>
                <a:spcPts val="78"/>
              </a:spcAft>
            </a:pPr>
            <a:r>
              <a:rPr sz="1000" b="1">
                <a:solidFill>
                  <a:srgbClr val="FCD34D"/>
                </a:solidFill>
                <a:latin typeface="Calibri"/>
              </a:rPr>
              <a:t>• 2 Vital Components: </a:t>
            </a:r>
            <a:r>
              <a:rPr sz="950">
                <a:solidFill>
                  <a:srgbClr val="E2E8F0"/>
                </a:solidFill>
                <a:latin typeface="Calibri"/>
              </a:rPr>
              <a:t>Every valid recursive function MUST possess:</a:t>
            </a:r>
          </a:p>
          <a:p>
            <a:pPr>
              <a:spcBef>
                <a:spcPts val="354"/>
              </a:spcBef>
              <a:spcAft>
                <a:spcPts val="78"/>
              </a:spcAft>
            </a:pPr>
            <a:r>
              <a:rPr sz="1000" b="1">
                <a:solidFill>
                  <a:srgbClr val="FCD34D"/>
                </a:solidFill>
                <a:latin typeface="Calibri"/>
              </a:rPr>
              <a:t>•   1. Base Case: </a:t>
            </a:r>
            <a:r>
              <a:rPr sz="950">
                <a:solidFill>
                  <a:srgbClr val="E2E8F0"/>
                </a:solidFill>
                <a:latin typeface="Calibri"/>
              </a:rPr>
              <a:t>The terminating condition that returns immediately without further recursive calls.</a:t>
            </a:r>
          </a:p>
          <a:p>
            <a:pPr>
              <a:spcBef>
                <a:spcPts val="354"/>
              </a:spcBef>
              <a:spcAft>
                <a:spcPts val="78"/>
              </a:spcAft>
            </a:pPr>
            <a:r>
              <a:rPr sz="1000" b="1">
                <a:solidFill>
                  <a:srgbClr val="FCD34D"/>
                </a:solidFill>
                <a:latin typeface="Calibri"/>
              </a:rPr>
              <a:t>•   2. Recursive Step: </a:t>
            </a:r>
            <a:r>
              <a:rPr sz="950">
                <a:solidFill>
                  <a:srgbClr val="E2E8F0"/>
                </a:solidFill>
                <a:latin typeface="Calibri"/>
              </a:rPr>
              <a:t>Progresses toward the base case by calling itself with reduced input.</a:t>
            </a:r>
          </a:p>
          <a:p>
            <a:pPr>
              <a:spcBef>
                <a:spcPts val="354"/>
              </a:spcBef>
              <a:spcAft>
                <a:spcPts val="78"/>
              </a:spcAft>
            </a:pPr>
            <a:r>
              <a:rPr sz="1000" b="1">
                <a:solidFill>
                  <a:srgbClr val="FCD34D"/>
                </a:solidFill>
                <a:latin typeface="Calibri"/>
              </a:rPr>
              <a:t>• Call Stack Accumulation: </a:t>
            </a:r>
            <a:r>
              <a:rPr sz="950">
                <a:solidFill>
                  <a:srgbClr val="E2E8F0"/>
                </a:solidFill>
                <a:latin typeface="Calibri"/>
              </a:rPr>
              <a:t>Each recursive invocation pushes a fresh stack frame onto RAM, suspending the caller.</a:t>
            </a:r>
          </a:p>
          <a:p>
            <a:pPr>
              <a:spcBef>
                <a:spcPts val="354"/>
              </a:spcBef>
              <a:spcAft>
                <a:spcPts val="78"/>
              </a:spcAft>
            </a:pPr>
            <a:r>
              <a:rPr sz="1000" b="1">
                <a:solidFill>
                  <a:srgbClr val="FCD34D"/>
                </a:solidFill>
                <a:latin typeface="Calibri"/>
              </a:rPr>
              <a:t>• Unwinding Phase: </a:t>
            </a:r>
            <a:r>
              <a:rPr sz="950">
                <a:solidFill>
                  <a:srgbClr val="E2E8F0"/>
                </a:solidFill>
                <a:latin typeface="Calibri"/>
              </a:rPr>
              <a:t>When base case triggers, return values propagate back up the stack to compute final result.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446400"/>
            <a:ext cx="5212080" cy="204000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00000"/>
          <a:lstStyle/>
          <a:p>
            <a:pPr algn="ctr"/>
            <a:r>
              <a:rPr sz="950">
                <a:solidFill>
                  <a:srgbClr val="94A3B8"/>
                </a:solidFill>
                <a:latin typeface="Consolas"/>
              </a:rPr>
              <a:t>// Factorial Calculation using Recursion</a:t>
            </a:r>
          </a:p>
          <a:p>
            <a:pPr>
              <a:spcBef>
                <a:spcPts val="196"/>
              </a:spcBef>
              <a:spcAft>
                <a:spcPts val="78"/>
              </a:spcAft>
              <a:defRPr sz="950">
                <a:latin typeface="Consolas"/>
              </a:defRPr>
            </a:pPr>
            <a:r>
              <a:rPr sz="950">
                <a:solidFill>
                  <a:srgbClr val="38BDF8"/>
                </a:solidFill>
                <a:latin typeface="Consolas"/>
              </a:rPr>
              <a:t>int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FCD34D"/>
                </a:solidFill>
                <a:latin typeface="Consolas"/>
              </a:rPr>
              <a:t>factorial</a:t>
            </a:r>
            <a:r>
              <a:rPr sz="950">
                <a:solidFill>
                  <a:srgbClr val="E2E8F0"/>
                </a:solidFill>
                <a:latin typeface="Consolas"/>
              </a:rPr>
              <a:t>(</a:t>
            </a:r>
            <a:r>
              <a:rPr sz="950">
                <a:solidFill>
                  <a:srgbClr val="38BDF8"/>
                </a:solidFill>
                <a:latin typeface="Consolas"/>
              </a:rPr>
              <a:t>int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n</a:t>
            </a:r>
            <a:r>
              <a:rPr sz="950">
                <a:solidFill>
                  <a:srgbClr val="E2E8F0"/>
                </a:solidFill>
                <a:latin typeface="Consolas"/>
              </a:rPr>
              <a:t>)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{</a:t>
            </a:r>
          </a:p>
          <a:p>
            <a:pPr>
              <a:spcBef>
                <a:spcPts val="196"/>
              </a:spcBef>
              <a:spcAft>
                <a:spcPts val="78"/>
              </a:spcAft>
              <a:defRPr sz="950">
                <a:latin typeface="Consolas"/>
              </a:defRPr>
            </a:pPr>
            <a:r>
              <a:rPr sz="950">
                <a:solidFill>
                  <a:srgbClr val="E2E8F0"/>
                </a:solidFill>
                <a:latin typeface="Consolas"/>
              </a:rPr>
              <a:t>    </a:t>
            </a:r>
            <a:r>
              <a:rPr sz="950">
                <a:solidFill>
                  <a:srgbClr val="C084FC"/>
                </a:solidFill>
                <a:latin typeface="Consolas"/>
              </a:rPr>
              <a:t>if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(</a:t>
            </a:r>
            <a:r>
              <a:rPr sz="950">
                <a:solidFill>
                  <a:srgbClr val="E2E8F0"/>
                </a:solidFill>
                <a:latin typeface="Consolas"/>
              </a:rPr>
              <a:t>n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&lt;=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F59E0B"/>
                </a:solidFill>
                <a:latin typeface="Consolas"/>
              </a:rPr>
              <a:t>1</a:t>
            </a:r>
            <a:r>
              <a:rPr sz="950">
                <a:solidFill>
                  <a:srgbClr val="E2E8F0"/>
                </a:solidFill>
                <a:latin typeface="Consolas"/>
              </a:rPr>
              <a:t>)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{</a:t>
            </a:r>
            <a:r>
              <a:rPr sz="950">
                <a:solidFill>
                  <a:srgbClr val="E2E8F0"/>
                </a:solidFill>
                <a:latin typeface="Consolas"/>
              </a:rPr>
              <a:t>          </a:t>
            </a:r>
            <a:r>
              <a:rPr sz="950">
                <a:solidFill>
                  <a:srgbClr val="94A3B8"/>
                </a:solidFill>
                <a:latin typeface="Consolas"/>
              </a:rPr>
              <a:t>// 1. Base Case</a:t>
            </a:r>
          </a:p>
          <a:p>
            <a:pPr>
              <a:spcBef>
                <a:spcPts val="196"/>
              </a:spcBef>
              <a:spcAft>
                <a:spcPts val="78"/>
              </a:spcAft>
              <a:defRPr sz="950">
                <a:latin typeface="Consolas"/>
              </a:defRPr>
            </a:pPr>
            <a:r>
              <a:rPr sz="950">
                <a:solidFill>
                  <a:srgbClr val="E2E8F0"/>
                </a:solidFill>
                <a:latin typeface="Consolas"/>
              </a:rPr>
              <a:t>        </a:t>
            </a:r>
            <a:r>
              <a:rPr sz="950">
                <a:solidFill>
                  <a:srgbClr val="C084FC"/>
                </a:solidFill>
                <a:latin typeface="Consolas"/>
              </a:rPr>
              <a:t>return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F59E0B"/>
                </a:solidFill>
                <a:latin typeface="Consolas"/>
              </a:rPr>
              <a:t>1</a:t>
            </a:r>
            <a:r>
              <a:rPr sz="950">
                <a:solidFill>
                  <a:srgbClr val="E2E8F0"/>
                </a:solidFill>
                <a:latin typeface="Consolas"/>
              </a:rPr>
              <a:t>;</a:t>
            </a:r>
          </a:p>
          <a:p>
            <a:pPr>
              <a:spcBef>
                <a:spcPts val="196"/>
              </a:spcBef>
              <a:spcAft>
                <a:spcPts val="78"/>
              </a:spcAft>
              <a:defRPr sz="950">
                <a:latin typeface="Consolas"/>
              </a:defRPr>
            </a:pPr>
            <a:r>
              <a:rPr sz="950">
                <a:solidFill>
                  <a:srgbClr val="E2E8F0"/>
                </a:solidFill>
                <a:latin typeface="Consolas"/>
              </a:rPr>
              <a:t>    </a:t>
            </a:r>
            <a:r>
              <a:rPr sz="95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spcBef>
                <a:spcPts val="196"/>
              </a:spcBef>
              <a:spcAft>
                <a:spcPts val="78"/>
              </a:spcAft>
              <a:defRPr sz="950">
                <a:latin typeface="Consolas"/>
              </a:defRPr>
            </a:pPr>
            <a:r>
              <a:rPr sz="950">
                <a:solidFill>
                  <a:srgbClr val="E2E8F0"/>
                </a:solidFill>
                <a:latin typeface="Consolas"/>
              </a:rPr>
              <a:t>    </a:t>
            </a:r>
            <a:r>
              <a:rPr sz="950">
                <a:solidFill>
                  <a:srgbClr val="C084FC"/>
                </a:solidFill>
                <a:latin typeface="Consolas"/>
              </a:rPr>
              <a:t>return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n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*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FCD34D"/>
                </a:solidFill>
                <a:latin typeface="Consolas"/>
              </a:rPr>
              <a:t>factorial</a:t>
            </a:r>
            <a:r>
              <a:rPr sz="950">
                <a:solidFill>
                  <a:srgbClr val="E2E8F0"/>
                </a:solidFill>
                <a:latin typeface="Consolas"/>
              </a:rPr>
              <a:t>(</a:t>
            </a:r>
            <a:r>
              <a:rPr sz="950">
                <a:solidFill>
                  <a:srgbClr val="E2E8F0"/>
                </a:solidFill>
                <a:latin typeface="Consolas"/>
              </a:rPr>
              <a:t>n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-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F59E0B"/>
                </a:solidFill>
                <a:latin typeface="Consolas"/>
              </a:rPr>
              <a:t>1</a:t>
            </a:r>
            <a:r>
              <a:rPr sz="950">
                <a:solidFill>
                  <a:srgbClr val="E2E8F0"/>
                </a:solidFill>
                <a:latin typeface="Consolas"/>
              </a:rPr>
              <a:t>);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94A3B8"/>
                </a:solidFill>
                <a:latin typeface="Consolas"/>
              </a:rPr>
              <a:t>// 2. Recursive Step</a:t>
            </a:r>
          </a:p>
          <a:p>
            <a:pPr>
              <a:spcBef>
                <a:spcPts val="196"/>
              </a:spcBef>
              <a:spcAft>
                <a:spcPts val="78"/>
              </a:spcAft>
              <a:defRPr sz="950">
                <a:latin typeface="Consolas"/>
              </a:defRPr>
            </a:pPr>
            <a:r>
              <a:rPr sz="95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spcBef>
                <a:spcPts val="196"/>
              </a:spcBef>
              <a:spcAft>
                <a:spcPts val="78"/>
              </a:spcAft>
              <a:defRPr sz="950">
                <a:latin typeface="Consolas"/>
              </a:defRPr>
            </a:pPr>
            <a:r>
              <a:rPr sz="950">
                <a:solidFill>
                  <a:srgbClr val="94A3B8"/>
                </a:solidFill>
                <a:latin typeface="Consolas"/>
              </a:rPr>
              <a:t>// In main: factorial(4) computes: 4 * 3 * 2 * 1 = 24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5532120"/>
            <a:ext cx="5212080" cy="457200"/>
          </a:xfrm>
          <a:prstGeom prst="rect">
            <a:avLst/>
          </a:prstGeom>
          <a:solidFill>
            <a:srgbClr val="111827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38BDF8"/>
                </a:solidFill>
                <a:latin typeface="Calibri"/>
              </a:rPr>
              <a:t>⚠️ Stack Overflow: Omitting a base case causes infinite recursion until the call stack memory is exhausted!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9632" y="868680"/>
            <a:ext cx="5577840" cy="5212080"/>
          </a:xfrm>
          <a:prstGeom prst="rect">
            <a:avLst/>
          </a:prstGeom>
          <a:solidFill>
            <a:srgbClr val="05080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01168"/>
          <a:lstStyle/>
          <a:p>
            <a:pPr algn="ctr"/>
            <a:r>
              <a:rPr sz="1300" b="1">
                <a:solidFill>
                  <a:srgbClr val="00B0F0"/>
                </a:solidFill>
                <a:latin typeface="Calibri"/>
              </a:rPr>
              <a:t>✏️  Live Trace &amp; Explanation Board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  <a:latin typeface="Calibri"/>
              </a:rPr>
              <a:t>[Teacher's Note: Draw Call Stack growing upwards: fact(4)-&gt;fact(3)-&gt;fact(2)-&gt;fact(1), then draw downward return resolution]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192024"/>
            <a:ext cx="11365992" cy="521207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41148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0B0F0"/>
                </a:solidFill>
                <a:latin typeface="Amasis MT Pro Light"/>
              </a:rPr>
              <a:t>C</a:t>
            </a:r>
            <a:r>
              <a:rPr sz="1800" b="1">
                <a:solidFill>
                  <a:srgbClr val="FFFFFF"/>
                </a:solidFill>
                <a:latin typeface="Amasis MT Pro Light"/>
              </a:rPr>
              <a:t> 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0" y="256032"/>
            <a:ext cx="2926080" cy="384048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Recursion: Trees &amp; Trace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144" y="6263640"/>
            <a:ext cx="749808" cy="52120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868680"/>
            <a:ext cx="5577840" cy="5212080"/>
          </a:xfrm>
          <a:prstGeom prst="rect">
            <a:avLst/>
          </a:prstGeom>
          <a:solidFill>
            <a:srgbClr val="0A0F1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180000"/>
          <a:lstStyle/>
          <a:p>
            <a:pPr algn="ctr"/>
            <a:r>
              <a:rPr sz="1500" b="1">
                <a:solidFill>
                  <a:srgbClr val="00B0F0"/>
                </a:solidFill>
                <a:latin typeface="Calibri"/>
              </a:rPr>
              <a:t>Tree Recursion: Execution Branching &amp; Complexity</a:t>
            </a:r>
          </a:p>
          <a:p>
            <a:pPr>
              <a:spcBef>
                <a:spcPts val="354"/>
              </a:spcBef>
              <a:spcAft>
                <a:spcPts val="78"/>
              </a:spcAft>
            </a:pPr>
            <a:r>
              <a:rPr sz="1000" b="1">
                <a:solidFill>
                  <a:srgbClr val="FCD34D"/>
                </a:solidFill>
                <a:latin typeface="Calibri"/>
              </a:rPr>
              <a:t>• Linear vs Tree Recursion: </a:t>
            </a:r>
            <a:r>
              <a:rPr sz="950">
                <a:solidFill>
                  <a:srgbClr val="E2E8F0"/>
                </a:solidFill>
                <a:latin typeface="Calibri"/>
              </a:rPr>
              <a:t>Linear recursion calls itself once; Tree recursion branches into 2 or more self-calls per step.</a:t>
            </a:r>
          </a:p>
          <a:p>
            <a:pPr>
              <a:spcBef>
                <a:spcPts val="354"/>
              </a:spcBef>
              <a:spcAft>
                <a:spcPts val="78"/>
              </a:spcAft>
            </a:pPr>
            <a:r>
              <a:rPr sz="1000" b="1">
                <a:solidFill>
                  <a:srgbClr val="FCD34D"/>
                </a:solidFill>
                <a:latin typeface="Calibri"/>
              </a:rPr>
              <a:t>• Fibonacci Tree Model: </a:t>
            </a:r>
            <a:r>
              <a:rPr sz="950">
                <a:solidFill>
                  <a:srgbClr val="E2E8F0"/>
                </a:solidFill>
                <a:latin typeface="Calibri"/>
              </a:rPr>
              <a:t>fib(n) = fib(n-1) + fib(n-2) produces an exponential binary tree of subproblems.</a:t>
            </a:r>
          </a:p>
          <a:p>
            <a:pPr>
              <a:spcBef>
                <a:spcPts val="354"/>
              </a:spcBef>
              <a:spcAft>
                <a:spcPts val="78"/>
              </a:spcAft>
            </a:pPr>
            <a:r>
              <a:rPr sz="1000" b="1">
                <a:solidFill>
                  <a:srgbClr val="FCD34D"/>
                </a:solidFill>
                <a:latin typeface="Calibri"/>
              </a:rPr>
              <a:t>• Time Complexity O(2^N): </a:t>
            </a:r>
            <a:r>
              <a:rPr sz="950">
                <a:solidFill>
                  <a:srgbClr val="E2E8F0"/>
                </a:solidFill>
                <a:latin typeface="Calibri"/>
              </a:rPr>
              <a:t>Naive tree recursion recalculates identical subproblems redundantly (e.g. fib(2) multiple times).</a:t>
            </a:r>
          </a:p>
          <a:p>
            <a:pPr>
              <a:spcBef>
                <a:spcPts val="354"/>
              </a:spcBef>
              <a:spcAft>
                <a:spcPts val="78"/>
              </a:spcAft>
            </a:pPr>
            <a:r>
              <a:rPr sz="1000" b="1">
                <a:solidFill>
                  <a:srgbClr val="FCD34D"/>
                </a:solidFill>
                <a:latin typeface="Calibri"/>
              </a:rPr>
              <a:t>• Space Complexity: </a:t>
            </a:r>
            <a:r>
              <a:rPr sz="950">
                <a:solidFill>
                  <a:srgbClr val="E2E8F0"/>
                </a:solidFill>
                <a:latin typeface="Calibri"/>
              </a:rPr>
              <a:t>Auxiliary stack space equals maximum tree depth O(N).</a:t>
            </a:r>
          </a:p>
          <a:p>
            <a:pPr>
              <a:spcBef>
                <a:spcPts val="354"/>
              </a:spcBef>
              <a:spcAft>
                <a:spcPts val="78"/>
              </a:spcAft>
            </a:pPr>
            <a:r>
              <a:rPr sz="1000" b="1">
                <a:solidFill>
                  <a:srgbClr val="FCD34D"/>
                </a:solidFill>
                <a:latin typeface="Calibri"/>
              </a:rPr>
              <a:t>• Prime Use Cases: </a:t>
            </a:r>
            <a:r>
              <a:rPr sz="950">
                <a:solidFill>
                  <a:srgbClr val="E2E8F0"/>
                </a:solidFill>
                <a:latin typeface="Calibri"/>
              </a:rPr>
              <a:t>Divide &amp; Conquer (Merge Sort, Quick Sort), Tree/Graph traversals, and Backtracking algorithms.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446400"/>
            <a:ext cx="5212080" cy="204000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00000"/>
          <a:lstStyle/>
          <a:p>
            <a:pPr algn="ctr"/>
            <a:r>
              <a:rPr sz="950">
                <a:solidFill>
                  <a:srgbClr val="94A3B8"/>
                </a:solidFill>
                <a:latin typeface="Consolas"/>
              </a:rPr>
              <a:t>// Tree Recursion: Fibonacci Sequence</a:t>
            </a:r>
          </a:p>
          <a:p>
            <a:pPr>
              <a:spcBef>
                <a:spcPts val="196"/>
              </a:spcBef>
              <a:spcAft>
                <a:spcPts val="78"/>
              </a:spcAft>
              <a:defRPr sz="950">
                <a:latin typeface="Consolas"/>
              </a:defRPr>
            </a:pPr>
            <a:r>
              <a:rPr sz="950">
                <a:solidFill>
                  <a:srgbClr val="38BDF8"/>
                </a:solidFill>
                <a:latin typeface="Consolas"/>
              </a:rPr>
              <a:t>int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FCD34D"/>
                </a:solidFill>
                <a:latin typeface="Consolas"/>
              </a:rPr>
              <a:t>fib</a:t>
            </a:r>
            <a:r>
              <a:rPr sz="950">
                <a:solidFill>
                  <a:srgbClr val="E2E8F0"/>
                </a:solidFill>
                <a:latin typeface="Consolas"/>
              </a:rPr>
              <a:t>(</a:t>
            </a:r>
            <a:r>
              <a:rPr sz="950">
                <a:solidFill>
                  <a:srgbClr val="38BDF8"/>
                </a:solidFill>
                <a:latin typeface="Consolas"/>
              </a:rPr>
              <a:t>int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n</a:t>
            </a:r>
            <a:r>
              <a:rPr sz="950">
                <a:solidFill>
                  <a:srgbClr val="E2E8F0"/>
                </a:solidFill>
                <a:latin typeface="Consolas"/>
              </a:rPr>
              <a:t>)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{</a:t>
            </a:r>
          </a:p>
          <a:p>
            <a:pPr>
              <a:spcBef>
                <a:spcPts val="196"/>
              </a:spcBef>
              <a:spcAft>
                <a:spcPts val="78"/>
              </a:spcAft>
              <a:defRPr sz="950">
                <a:latin typeface="Consolas"/>
              </a:defRPr>
            </a:pPr>
            <a:r>
              <a:rPr sz="950">
                <a:solidFill>
                  <a:srgbClr val="E2E8F0"/>
                </a:solidFill>
                <a:latin typeface="Consolas"/>
              </a:rPr>
              <a:t>    </a:t>
            </a:r>
            <a:r>
              <a:rPr sz="950">
                <a:solidFill>
                  <a:srgbClr val="C084FC"/>
                </a:solidFill>
                <a:latin typeface="Consolas"/>
              </a:rPr>
              <a:t>if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(</a:t>
            </a:r>
            <a:r>
              <a:rPr sz="950">
                <a:solidFill>
                  <a:srgbClr val="E2E8F0"/>
                </a:solidFill>
                <a:latin typeface="Consolas"/>
              </a:rPr>
              <a:t>n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&lt;=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F59E0B"/>
                </a:solidFill>
                <a:latin typeface="Consolas"/>
              </a:rPr>
              <a:t>0</a:t>
            </a:r>
            <a:r>
              <a:rPr sz="950">
                <a:solidFill>
                  <a:srgbClr val="E2E8F0"/>
                </a:solidFill>
                <a:latin typeface="Consolas"/>
              </a:rPr>
              <a:t>)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C084FC"/>
                </a:solidFill>
                <a:latin typeface="Consolas"/>
              </a:rPr>
              <a:t>return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F59E0B"/>
                </a:solidFill>
                <a:latin typeface="Consolas"/>
              </a:rPr>
              <a:t>0</a:t>
            </a:r>
            <a:r>
              <a:rPr sz="950">
                <a:solidFill>
                  <a:srgbClr val="E2E8F0"/>
                </a:solidFill>
                <a:latin typeface="Consolas"/>
              </a:rPr>
              <a:t>;</a:t>
            </a:r>
            <a:r>
              <a:rPr sz="950">
                <a:solidFill>
                  <a:srgbClr val="E2E8F0"/>
                </a:solidFill>
                <a:latin typeface="Consolas"/>
              </a:rPr>
              <a:t>  </a:t>
            </a:r>
            <a:r>
              <a:rPr sz="950">
                <a:solidFill>
                  <a:srgbClr val="94A3B8"/>
                </a:solidFill>
                <a:latin typeface="Consolas"/>
              </a:rPr>
              <a:t>// Base case 1</a:t>
            </a:r>
          </a:p>
          <a:p>
            <a:pPr>
              <a:spcBef>
                <a:spcPts val="196"/>
              </a:spcBef>
              <a:spcAft>
                <a:spcPts val="78"/>
              </a:spcAft>
              <a:defRPr sz="950">
                <a:latin typeface="Consolas"/>
              </a:defRPr>
            </a:pPr>
            <a:r>
              <a:rPr sz="950">
                <a:solidFill>
                  <a:srgbClr val="E2E8F0"/>
                </a:solidFill>
                <a:latin typeface="Consolas"/>
              </a:rPr>
              <a:t>    </a:t>
            </a:r>
            <a:r>
              <a:rPr sz="950">
                <a:solidFill>
                  <a:srgbClr val="C084FC"/>
                </a:solidFill>
                <a:latin typeface="Consolas"/>
              </a:rPr>
              <a:t>if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(</a:t>
            </a:r>
            <a:r>
              <a:rPr sz="950">
                <a:solidFill>
                  <a:srgbClr val="E2E8F0"/>
                </a:solidFill>
                <a:latin typeface="Consolas"/>
              </a:rPr>
              <a:t>n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==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F59E0B"/>
                </a:solidFill>
                <a:latin typeface="Consolas"/>
              </a:rPr>
              <a:t>1</a:t>
            </a:r>
            <a:r>
              <a:rPr sz="950">
                <a:solidFill>
                  <a:srgbClr val="E2E8F0"/>
                </a:solidFill>
                <a:latin typeface="Consolas"/>
              </a:rPr>
              <a:t>)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C084FC"/>
                </a:solidFill>
                <a:latin typeface="Consolas"/>
              </a:rPr>
              <a:t>return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F59E0B"/>
                </a:solidFill>
                <a:latin typeface="Consolas"/>
              </a:rPr>
              <a:t>1</a:t>
            </a:r>
            <a:r>
              <a:rPr sz="950">
                <a:solidFill>
                  <a:srgbClr val="E2E8F0"/>
                </a:solidFill>
                <a:latin typeface="Consolas"/>
              </a:rPr>
              <a:t>;</a:t>
            </a:r>
            <a:r>
              <a:rPr sz="950">
                <a:solidFill>
                  <a:srgbClr val="E2E8F0"/>
                </a:solidFill>
                <a:latin typeface="Consolas"/>
              </a:rPr>
              <a:t>  </a:t>
            </a:r>
            <a:r>
              <a:rPr sz="950">
                <a:solidFill>
                  <a:srgbClr val="94A3B8"/>
                </a:solidFill>
                <a:latin typeface="Consolas"/>
              </a:rPr>
              <a:t>// Base case 2</a:t>
            </a:r>
          </a:p>
          <a:p>
            <a:pPr>
              <a:spcBef>
                <a:spcPts val="196"/>
              </a:spcBef>
              <a:spcAft>
                <a:spcPts val="78"/>
              </a:spcAft>
              <a:defRPr sz="950">
                <a:latin typeface="Consolas"/>
              </a:defRPr>
            </a:pPr>
            <a:r>
              <a:rPr sz="950">
                <a:solidFill>
                  <a:srgbClr val="E2E8F0"/>
                </a:solidFill>
                <a:latin typeface="Consolas"/>
              </a:rPr>
              <a:t>    </a:t>
            </a:r>
            <a:r>
              <a:rPr sz="950">
                <a:solidFill>
                  <a:srgbClr val="C084FC"/>
                </a:solidFill>
                <a:latin typeface="Consolas"/>
              </a:rPr>
              <a:t>return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FCD34D"/>
                </a:solidFill>
                <a:latin typeface="Consolas"/>
              </a:rPr>
              <a:t>fib</a:t>
            </a:r>
            <a:r>
              <a:rPr sz="950">
                <a:solidFill>
                  <a:srgbClr val="E2E8F0"/>
                </a:solidFill>
                <a:latin typeface="Consolas"/>
              </a:rPr>
              <a:t>(</a:t>
            </a:r>
            <a:r>
              <a:rPr sz="950">
                <a:solidFill>
                  <a:srgbClr val="E2E8F0"/>
                </a:solidFill>
                <a:latin typeface="Consolas"/>
              </a:rPr>
              <a:t>n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-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F59E0B"/>
                </a:solidFill>
                <a:latin typeface="Consolas"/>
              </a:rPr>
              <a:t>1</a:t>
            </a:r>
            <a:r>
              <a:rPr sz="950">
                <a:solidFill>
                  <a:srgbClr val="E2E8F0"/>
                </a:solidFill>
                <a:latin typeface="Consolas"/>
              </a:rPr>
              <a:t>)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+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FCD34D"/>
                </a:solidFill>
                <a:latin typeface="Consolas"/>
              </a:rPr>
              <a:t>fib</a:t>
            </a:r>
            <a:r>
              <a:rPr sz="950">
                <a:solidFill>
                  <a:srgbClr val="E2E8F0"/>
                </a:solidFill>
                <a:latin typeface="Consolas"/>
              </a:rPr>
              <a:t>(</a:t>
            </a:r>
            <a:r>
              <a:rPr sz="950">
                <a:solidFill>
                  <a:srgbClr val="E2E8F0"/>
                </a:solidFill>
                <a:latin typeface="Consolas"/>
              </a:rPr>
              <a:t>n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-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F59E0B"/>
                </a:solidFill>
                <a:latin typeface="Consolas"/>
              </a:rPr>
              <a:t>2</a:t>
            </a:r>
            <a:r>
              <a:rPr sz="950">
                <a:solidFill>
                  <a:srgbClr val="E2E8F0"/>
                </a:solidFill>
                <a:latin typeface="Consolas"/>
              </a:rPr>
              <a:t>);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94A3B8"/>
                </a:solidFill>
                <a:latin typeface="Consolas"/>
              </a:rPr>
              <a:t>// 2 Branches!</a:t>
            </a:r>
          </a:p>
          <a:p>
            <a:pPr>
              <a:spcBef>
                <a:spcPts val="196"/>
              </a:spcBef>
              <a:spcAft>
                <a:spcPts val="78"/>
              </a:spcAft>
              <a:defRPr sz="950">
                <a:latin typeface="Consolas"/>
              </a:defRPr>
            </a:pPr>
            <a:r>
              <a:rPr sz="95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spcBef>
                <a:spcPts val="196"/>
              </a:spcBef>
              <a:spcAft>
                <a:spcPts val="78"/>
              </a:spcAft>
              <a:defRPr sz="950">
                <a:latin typeface="Consolas"/>
              </a:defRPr>
            </a:pPr>
            <a:r>
              <a:rPr sz="950">
                <a:solidFill>
                  <a:srgbClr val="94A3B8"/>
                </a:solidFill>
                <a:latin typeface="Consolas"/>
              </a:rPr>
              <a:t>// fib(4) expands into binary tree evaluating:</a:t>
            </a:r>
          </a:p>
          <a:p>
            <a:pPr>
              <a:spcBef>
                <a:spcPts val="196"/>
              </a:spcBef>
              <a:spcAft>
                <a:spcPts val="78"/>
              </a:spcAft>
              <a:defRPr sz="950">
                <a:latin typeface="Consolas"/>
              </a:defRPr>
            </a:pPr>
            <a:r>
              <a:rPr sz="950">
                <a:solidFill>
                  <a:srgbClr val="94A3B8"/>
                </a:solidFill>
                <a:latin typeface="Consolas"/>
              </a:rPr>
              <a:t>// fib(3) + fib(2) -&gt; [fib(2)+fib(1)] + [fib(1)+fib(0)]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5532120"/>
            <a:ext cx="5212080" cy="457200"/>
          </a:xfrm>
          <a:prstGeom prst="rect">
            <a:avLst/>
          </a:prstGeom>
          <a:solidFill>
            <a:srgbClr val="111827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38BDF8"/>
                </a:solidFill>
                <a:latin typeface="Calibri"/>
              </a:rPr>
              <a:t>💡 Dynamic Programming Insight: Redundant subproblem recomputation in tree recursion is solved via DP (Memoization)!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9632" y="868680"/>
            <a:ext cx="5577840" cy="5212080"/>
          </a:xfrm>
          <a:prstGeom prst="rect">
            <a:avLst/>
          </a:prstGeom>
          <a:solidFill>
            <a:srgbClr val="05080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01168"/>
          <a:lstStyle/>
          <a:p>
            <a:pPr algn="ctr"/>
            <a:r>
              <a:rPr sz="1300" b="1">
                <a:solidFill>
                  <a:srgbClr val="00B0F0"/>
                </a:solidFill>
                <a:latin typeface="Calibri"/>
              </a:rPr>
              <a:t>✏️  Live Trace &amp; Explanation Board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  <a:latin typeface="Calibri"/>
              </a:rPr>
              <a:t>[Teacher's Note: Draw full binary call tree for fib(4), circle duplicate fib(2) calculations, and trace recursive call timeline]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192024"/>
            <a:ext cx="11365992" cy="521207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41148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0B0F0"/>
                </a:solidFill>
                <a:latin typeface="Amasis MT Pro Light"/>
              </a:rPr>
              <a:t>C</a:t>
            </a:r>
            <a:r>
              <a:rPr sz="1800" b="1">
                <a:solidFill>
                  <a:srgbClr val="FFFFFF"/>
                </a:solidFill>
                <a:latin typeface="Amasis MT Pro Light"/>
              </a:rPr>
              <a:t> 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0" y="256032"/>
            <a:ext cx="2926080" cy="384048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DMA: malloc &amp; calloc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144" y="6263640"/>
            <a:ext cx="749808" cy="52120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868680"/>
            <a:ext cx="5577840" cy="5212080"/>
          </a:xfrm>
          <a:prstGeom prst="rect">
            <a:avLst/>
          </a:prstGeom>
          <a:solidFill>
            <a:srgbClr val="0A0F1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180000"/>
          <a:lstStyle/>
          <a:p>
            <a:pPr algn="ctr"/>
            <a:r>
              <a:rPr sz="1500" b="1">
                <a:solidFill>
                  <a:srgbClr val="00B0F0"/>
                </a:solidFill>
                <a:latin typeface="Calibri"/>
              </a:rPr>
              <a:t>Dynamic Memory Allocation: Stack vs Heap Memory</a:t>
            </a:r>
          </a:p>
          <a:p>
            <a:pPr>
              <a:spcBef>
                <a:spcPts val="354"/>
              </a:spcBef>
              <a:spcAft>
                <a:spcPts val="78"/>
              </a:spcAft>
            </a:pPr>
            <a:r>
              <a:rPr sz="1000" b="1">
                <a:solidFill>
                  <a:srgbClr val="FCD34D"/>
                </a:solidFill>
                <a:latin typeface="Calibri"/>
              </a:rPr>
              <a:t>• Why DMA?: </a:t>
            </a:r>
            <a:r>
              <a:rPr sz="950">
                <a:solidFill>
                  <a:srgbClr val="E2E8F0"/>
                </a:solidFill>
                <a:latin typeface="Calibri"/>
              </a:rPr>
              <a:t>Fixed static arrays waste space or overflow. DMA allocates arbitrary memory at runtime based on user demand!</a:t>
            </a:r>
          </a:p>
          <a:p>
            <a:pPr>
              <a:spcBef>
                <a:spcPts val="354"/>
              </a:spcBef>
              <a:spcAft>
                <a:spcPts val="78"/>
              </a:spcAft>
            </a:pPr>
            <a:r>
              <a:rPr sz="1000" b="1">
                <a:solidFill>
                  <a:srgbClr val="FCD34D"/>
                </a:solidFill>
                <a:latin typeface="Calibri"/>
              </a:rPr>
              <a:t>• Stack vs Heap: </a:t>
            </a:r>
            <a:r>
              <a:rPr sz="950">
                <a:solidFill>
                  <a:srgbClr val="E2E8F0"/>
                </a:solidFill>
                <a:latin typeface="Calibri"/>
              </a:rPr>
              <a:t>Stack is fast and auto-cleared; Heap is huge, flexible, and persists until manually deallocated.</a:t>
            </a:r>
          </a:p>
          <a:p>
            <a:pPr>
              <a:spcBef>
                <a:spcPts val="354"/>
              </a:spcBef>
              <a:spcAft>
                <a:spcPts val="78"/>
              </a:spcAft>
            </a:pPr>
            <a:r>
              <a:rPr sz="1000" b="1">
                <a:solidFill>
                  <a:srgbClr val="FCD34D"/>
                </a:solidFill>
                <a:latin typeface="Calibri"/>
              </a:rPr>
              <a:t>• malloc(size_bytes): </a:t>
            </a:r>
            <a:r>
              <a:rPr sz="950">
                <a:solidFill>
                  <a:srgbClr val="E2E8F0"/>
                </a:solidFill>
                <a:latin typeface="Calibri"/>
              </a:rPr>
              <a:t>Allocates contiguous uninitialized bytes from Heap (contains random garbage values!).</a:t>
            </a:r>
          </a:p>
          <a:p>
            <a:pPr>
              <a:spcBef>
                <a:spcPts val="354"/>
              </a:spcBef>
              <a:spcAft>
                <a:spcPts val="78"/>
              </a:spcAft>
            </a:pPr>
            <a:r>
              <a:rPr sz="1000" b="1">
                <a:solidFill>
                  <a:srgbClr val="FCD34D"/>
                </a:solidFill>
                <a:latin typeface="Calibri"/>
              </a:rPr>
              <a:t>• calloc(n, size): </a:t>
            </a:r>
            <a:r>
              <a:rPr sz="950">
                <a:solidFill>
                  <a:srgbClr val="E2E8F0"/>
                </a:solidFill>
                <a:latin typeface="Calibri"/>
              </a:rPr>
              <a:t>Allocates memory for n elements and initializes EVERY single byte to ZERO (0).</a:t>
            </a:r>
          </a:p>
          <a:p>
            <a:pPr>
              <a:spcBef>
                <a:spcPts val="354"/>
              </a:spcBef>
              <a:spcAft>
                <a:spcPts val="78"/>
              </a:spcAft>
            </a:pPr>
            <a:r>
              <a:rPr sz="1000" b="1">
                <a:solidFill>
                  <a:srgbClr val="FCD34D"/>
                </a:solidFill>
                <a:latin typeface="Calibri"/>
              </a:rPr>
              <a:t>• void* &amp; Typecasting: </a:t>
            </a:r>
            <a:r>
              <a:rPr sz="950">
                <a:solidFill>
                  <a:srgbClr val="E2E8F0"/>
                </a:solidFill>
                <a:latin typeface="Calibri"/>
              </a:rPr>
              <a:t>Both return a generic pointer void*; cast to typed pointer (e.g. (int*)malloc(...)).</a:t>
            </a:r>
          </a:p>
          <a:p>
            <a:pPr>
              <a:spcBef>
                <a:spcPts val="354"/>
              </a:spcBef>
              <a:spcAft>
                <a:spcPts val="78"/>
              </a:spcAft>
            </a:pPr>
            <a:r>
              <a:rPr sz="1000" b="1">
                <a:solidFill>
                  <a:srgbClr val="FCD34D"/>
                </a:solidFill>
                <a:latin typeface="Calibri"/>
              </a:rPr>
              <a:t>• Allocation Failure Check: </a:t>
            </a:r>
            <a:r>
              <a:rPr sz="950">
                <a:solidFill>
                  <a:srgbClr val="E2E8F0"/>
                </a:solidFill>
                <a:latin typeface="Calibri"/>
              </a:rPr>
              <a:t>Returns NULL if system RAM is exhausted. Always verify pointer validity!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446400"/>
            <a:ext cx="5212080" cy="204000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00000"/>
          <a:lstStyle/>
          <a:p>
            <a:pPr algn="ctr"/>
            <a:r>
              <a:rPr sz="950">
                <a:solidFill>
                  <a:srgbClr val="94A3B8"/>
                </a:solidFill>
                <a:latin typeface="Consolas"/>
              </a:rPr>
              <a:t>// Dynamic Array Allocation with malloc &amp; calloc (&lt;stdlib.h&gt;)</a:t>
            </a:r>
          </a:p>
          <a:p>
            <a:pPr>
              <a:spcBef>
                <a:spcPts val="196"/>
              </a:spcBef>
              <a:spcAft>
                <a:spcPts val="78"/>
              </a:spcAft>
              <a:defRPr sz="950">
                <a:latin typeface="Consolas"/>
              </a:defRPr>
            </a:pPr>
            <a:r>
              <a:rPr sz="950">
                <a:solidFill>
                  <a:srgbClr val="38BDF8"/>
                </a:solidFill>
                <a:latin typeface="Consolas"/>
              </a:rPr>
              <a:t>int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n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=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F59E0B"/>
                </a:solidFill>
                <a:latin typeface="Consolas"/>
              </a:rPr>
              <a:t>5</a:t>
            </a:r>
            <a:r>
              <a:rPr sz="950">
                <a:solidFill>
                  <a:srgbClr val="E2E8F0"/>
                </a:solidFill>
                <a:latin typeface="Consolas"/>
              </a:rPr>
              <a:t>;</a:t>
            </a:r>
          </a:p>
          <a:p>
            <a:pPr>
              <a:spcBef>
                <a:spcPts val="196"/>
              </a:spcBef>
              <a:spcAft>
                <a:spcPts val="78"/>
              </a:spcAft>
              <a:defRPr sz="950">
                <a:latin typeface="Consolas"/>
              </a:defRPr>
            </a:pPr>
            <a:r>
              <a:rPr sz="950">
                <a:solidFill>
                  <a:srgbClr val="38BDF8"/>
                </a:solidFill>
                <a:latin typeface="Consolas"/>
              </a:rPr>
              <a:t>int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*</a:t>
            </a:r>
            <a:r>
              <a:rPr sz="950">
                <a:solidFill>
                  <a:srgbClr val="E2E8F0"/>
                </a:solidFill>
                <a:latin typeface="Consolas"/>
              </a:rPr>
              <a:t>arr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=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(</a:t>
            </a:r>
            <a:r>
              <a:rPr sz="950">
                <a:solidFill>
                  <a:srgbClr val="38BDF8"/>
                </a:solidFill>
                <a:latin typeface="Consolas"/>
              </a:rPr>
              <a:t>int</a:t>
            </a:r>
            <a:r>
              <a:rPr sz="950">
                <a:solidFill>
                  <a:srgbClr val="E2E8F0"/>
                </a:solidFill>
                <a:latin typeface="Consolas"/>
              </a:rPr>
              <a:t>*)</a:t>
            </a:r>
            <a:r>
              <a:rPr sz="950">
                <a:solidFill>
                  <a:srgbClr val="FCD34D"/>
                </a:solidFill>
                <a:latin typeface="Consolas"/>
              </a:rPr>
              <a:t>malloc</a:t>
            </a:r>
            <a:r>
              <a:rPr sz="950">
                <a:solidFill>
                  <a:srgbClr val="E2E8F0"/>
                </a:solidFill>
                <a:latin typeface="Consolas"/>
              </a:rPr>
              <a:t>(</a:t>
            </a:r>
            <a:r>
              <a:rPr sz="950">
                <a:solidFill>
                  <a:srgbClr val="E2E8F0"/>
                </a:solidFill>
                <a:latin typeface="Consolas"/>
              </a:rPr>
              <a:t>n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*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C084FC"/>
                </a:solidFill>
                <a:latin typeface="Consolas"/>
              </a:rPr>
              <a:t>sizeof</a:t>
            </a:r>
            <a:r>
              <a:rPr sz="950">
                <a:solidFill>
                  <a:srgbClr val="E2E8F0"/>
                </a:solidFill>
                <a:latin typeface="Consolas"/>
              </a:rPr>
              <a:t>(</a:t>
            </a:r>
            <a:r>
              <a:rPr sz="950">
                <a:solidFill>
                  <a:srgbClr val="38BDF8"/>
                </a:solidFill>
                <a:latin typeface="Consolas"/>
              </a:rPr>
              <a:t>int</a:t>
            </a:r>
            <a:r>
              <a:rPr sz="950">
                <a:solidFill>
                  <a:srgbClr val="E2E8F0"/>
                </a:solidFill>
                <a:latin typeface="Consolas"/>
              </a:rPr>
              <a:t>));</a:t>
            </a:r>
          </a:p>
          <a:p>
            <a:pPr>
              <a:spcBef>
                <a:spcPts val="196"/>
              </a:spcBef>
              <a:spcAft>
                <a:spcPts val="78"/>
              </a:spcAft>
              <a:defRPr sz="950">
                <a:latin typeface="Consolas"/>
              </a:defRPr>
            </a:pPr>
            <a:r>
              <a:rPr sz="950">
                <a:solidFill>
                  <a:srgbClr val="C084FC"/>
                </a:solidFill>
                <a:latin typeface="Consolas"/>
              </a:rPr>
              <a:t>if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(</a:t>
            </a:r>
            <a:r>
              <a:rPr sz="950">
                <a:solidFill>
                  <a:srgbClr val="E2E8F0"/>
                </a:solidFill>
                <a:latin typeface="Consolas"/>
              </a:rPr>
              <a:t>arr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==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C084FC"/>
                </a:solidFill>
                <a:latin typeface="Consolas"/>
              </a:rPr>
              <a:t>NULL</a:t>
            </a:r>
            <a:r>
              <a:rPr sz="950">
                <a:solidFill>
                  <a:srgbClr val="E2E8F0"/>
                </a:solidFill>
                <a:latin typeface="Consolas"/>
              </a:rPr>
              <a:t>)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{</a:t>
            </a:r>
          </a:p>
          <a:p>
            <a:pPr>
              <a:spcBef>
                <a:spcPts val="196"/>
              </a:spcBef>
              <a:spcAft>
                <a:spcPts val="78"/>
              </a:spcAft>
              <a:defRPr sz="950">
                <a:latin typeface="Consolas"/>
              </a:defRPr>
            </a:pPr>
            <a:r>
              <a:rPr sz="950">
                <a:solidFill>
                  <a:srgbClr val="E2E8F0"/>
                </a:solidFill>
                <a:latin typeface="Consolas"/>
              </a:rPr>
              <a:t>    </a:t>
            </a:r>
            <a:r>
              <a:rPr sz="950">
                <a:solidFill>
                  <a:srgbClr val="FCD34D"/>
                </a:solidFill>
                <a:latin typeface="Consolas"/>
              </a:rPr>
              <a:t>printf</a:t>
            </a:r>
            <a:r>
              <a:rPr sz="950">
                <a:solidFill>
                  <a:srgbClr val="E2E8F0"/>
                </a:solidFill>
                <a:latin typeface="Consolas"/>
              </a:rPr>
              <a:t>(</a:t>
            </a:r>
            <a:r>
              <a:rPr sz="950">
                <a:solidFill>
                  <a:srgbClr val="34D399"/>
                </a:solidFill>
                <a:latin typeface="Consolas"/>
              </a:rPr>
              <a:t>"Heap allocation failed!\n"</a:t>
            </a:r>
            <a:r>
              <a:rPr sz="950">
                <a:solidFill>
                  <a:srgbClr val="E2E8F0"/>
                </a:solidFill>
                <a:latin typeface="Consolas"/>
              </a:rPr>
              <a:t>);</a:t>
            </a:r>
          </a:p>
          <a:p>
            <a:pPr>
              <a:spcBef>
                <a:spcPts val="196"/>
              </a:spcBef>
              <a:spcAft>
                <a:spcPts val="78"/>
              </a:spcAft>
              <a:defRPr sz="950">
                <a:latin typeface="Consolas"/>
              </a:defRPr>
            </a:pPr>
            <a:r>
              <a:rPr sz="950">
                <a:solidFill>
                  <a:srgbClr val="E2E8F0"/>
                </a:solidFill>
                <a:latin typeface="Consolas"/>
              </a:rPr>
              <a:t>    </a:t>
            </a:r>
            <a:r>
              <a:rPr sz="950">
                <a:solidFill>
                  <a:srgbClr val="C084FC"/>
                </a:solidFill>
                <a:latin typeface="Consolas"/>
              </a:rPr>
              <a:t>return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F59E0B"/>
                </a:solidFill>
                <a:latin typeface="Consolas"/>
              </a:rPr>
              <a:t>1</a:t>
            </a:r>
            <a:r>
              <a:rPr sz="950">
                <a:solidFill>
                  <a:srgbClr val="E2E8F0"/>
                </a:solidFill>
                <a:latin typeface="Consolas"/>
              </a:rPr>
              <a:t>;</a:t>
            </a:r>
          </a:p>
          <a:p>
            <a:pPr>
              <a:spcBef>
                <a:spcPts val="196"/>
              </a:spcBef>
              <a:spcAft>
                <a:spcPts val="78"/>
              </a:spcAft>
              <a:defRPr sz="950">
                <a:latin typeface="Consolas"/>
              </a:defRPr>
            </a:pPr>
            <a:r>
              <a:rPr sz="95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spcBef>
                <a:spcPts val="196"/>
              </a:spcBef>
              <a:spcAft>
                <a:spcPts val="78"/>
              </a:spcAft>
              <a:defRPr sz="950">
                <a:latin typeface="Consolas"/>
              </a:defRPr>
            </a:pPr>
            <a:r>
              <a:rPr sz="950">
                <a:solidFill>
                  <a:srgbClr val="C084FC"/>
                </a:solidFill>
                <a:latin typeface="Consolas"/>
              </a:rPr>
              <a:t>for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(</a:t>
            </a:r>
            <a:r>
              <a:rPr sz="950">
                <a:solidFill>
                  <a:srgbClr val="38BDF8"/>
                </a:solidFill>
                <a:latin typeface="Consolas"/>
              </a:rPr>
              <a:t>int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i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=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F59E0B"/>
                </a:solidFill>
                <a:latin typeface="Consolas"/>
              </a:rPr>
              <a:t>0</a:t>
            </a:r>
            <a:r>
              <a:rPr sz="950">
                <a:solidFill>
                  <a:srgbClr val="E2E8F0"/>
                </a:solidFill>
                <a:latin typeface="Consolas"/>
              </a:rPr>
              <a:t>;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i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&lt;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n</a:t>
            </a:r>
            <a:r>
              <a:rPr sz="950">
                <a:solidFill>
                  <a:srgbClr val="E2E8F0"/>
                </a:solidFill>
                <a:latin typeface="Consolas"/>
              </a:rPr>
              <a:t>;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i</a:t>
            </a:r>
            <a:r>
              <a:rPr sz="950">
                <a:solidFill>
                  <a:srgbClr val="E2E8F0"/>
                </a:solidFill>
                <a:latin typeface="Consolas"/>
              </a:rPr>
              <a:t>++)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arr</a:t>
            </a:r>
            <a:r>
              <a:rPr sz="950">
                <a:solidFill>
                  <a:srgbClr val="E2E8F0"/>
                </a:solidFill>
                <a:latin typeface="Consolas"/>
              </a:rPr>
              <a:t>[</a:t>
            </a:r>
            <a:r>
              <a:rPr sz="950">
                <a:solidFill>
                  <a:srgbClr val="E2E8F0"/>
                </a:solidFill>
                <a:latin typeface="Consolas"/>
              </a:rPr>
              <a:t>i</a:t>
            </a:r>
            <a:r>
              <a:rPr sz="950">
                <a:solidFill>
                  <a:srgbClr val="E2E8F0"/>
                </a:solidFill>
                <a:latin typeface="Consolas"/>
              </a:rPr>
              <a:t>]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=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(</a:t>
            </a:r>
            <a:r>
              <a:rPr sz="950">
                <a:solidFill>
                  <a:srgbClr val="E2E8F0"/>
                </a:solidFill>
                <a:latin typeface="Consolas"/>
              </a:rPr>
              <a:t>i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+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F59E0B"/>
                </a:solidFill>
                <a:latin typeface="Consolas"/>
              </a:rPr>
              <a:t>1</a:t>
            </a:r>
            <a:r>
              <a:rPr sz="950">
                <a:solidFill>
                  <a:srgbClr val="E2E8F0"/>
                </a:solidFill>
                <a:latin typeface="Consolas"/>
              </a:rPr>
              <a:t>)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*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F59E0B"/>
                </a:solidFill>
                <a:latin typeface="Consolas"/>
              </a:rPr>
              <a:t>10</a:t>
            </a:r>
            <a:r>
              <a:rPr sz="950">
                <a:solidFill>
                  <a:srgbClr val="E2E8F0"/>
                </a:solidFill>
                <a:latin typeface="Consolas"/>
              </a:rPr>
              <a:t>;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5532120"/>
            <a:ext cx="5212080" cy="457200"/>
          </a:xfrm>
          <a:prstGeom prst="rect">
            <a:avLst/>
          </a:prstGeom>
          <a:solidFill>
            <a:srgbClr val="111827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38BDF8"/>
                </a:solidFill>
                <a:latin typeface="Calibri"/>
              </a:rPr>
              <a:t>⚠️ NULL Pointer Check: Always verify ptr != NULL immediately after malloc/calloc to avoid instant crashes!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9632" y="868680"/>
            <a:ext cx="5577840" cy="5212080"/>
          </a:xfrm>
          <a:prstGeom prst="rect">
            <a:avLst/>
          </a:prstGeom>
          <a:solidFill>
            <a:srgbClr val="05080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01168"/>
          <a:lstStyle/>
          <a:p>
            <a:pPr algn="ctr"/>
            <a:r>
              <a:rPr sz="1300" b="1">
                <a:solidFill>
                  <a:srgbClr val="00B0F0"/>
                </a:solidFill>
                <a:latin typeface="Calibri"/>
              </a:rPr>
              <a:t>✏️  Live Trace &amp; Explanation Board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  <a:latin typeface="Calibri"/>
              </a:rPr>
              <a:t>[Teacher's Note: Sketch 4 RAM Segments: Code -&gt; Data/BSS -&gt; Heap (grows UP) -&gt; Stack (grows DOWN); trace heap allocation pointer]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192024"/>
            <a:ext cx="11365992" cy="521207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41148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0B0F0"/>
                </a:solidFill>
                <a:latin typeface="Amasis MT Pro Light"/>
              </a:rPr>
              <a:t>C</a:t>
            </a:r>
            <a:r>
              <a:rPr sz="1800" b="1">
                <a:solidFill>
                  <a:srgbClr val="FFFFFF"/>
                </a:solidFill>
                <a:latin typeface="Amasis MT Pro Light"/>
              </a:rPr>
              <a:t> 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0" y="256032"/>
            <a:ext cx="2926080" cy="384048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DMA: realloc &amp; free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144" y="6263640"/>
            <a:ext cx="749808" cy="52120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868680"/>
            <a:ext cx="5577840" cy="5212080"/>
          </a:xfrm>
          <a:prstGeom prst="rect">
            <a:avLst/>
          </a:prstGeom>
          <a:solidFill>
            <a:srgbClr val="0A0F1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180000"/>
          <a:lstStyle/>
          <a:p>
            <a:pPr algn="ctr"/>
            <a:r>
              <a:rPr sz="1500" b="1">
                <a:solidFill>
                  <a:srgbClr val="00B0F0"/>
                </a:solidFill>
                <a:latin typeface="Calibri"/>
              </a:rPr>
              <a:t>DMA Lifecycle: Resizing, Deallocation &amp; Safety</a:t>
            </a:r>
          </a:p>
          <a:p>
            <a:pPr>
              <a:spcBef>
                <a:spcPts val="354"/>
              </a:spcBef>
              <a:spcAft>
                <a:spcPts val="78"/>
              </a:spcAft>
            </a:pPr>
            <a:r>
              <a:rPr sz="1000" b="1">
                <a:solidFill>
                  <a:srgbClr val="FCD34D"/>
                </a:solidFill>
                <a:latin typeface="Calibri"/>
              </a:rPr>
              <a:t>• free(ptr): </a:t>
            </a:r>
            <a:r>
              <a:rPr sz="950">
                <a:solidFill>
                  <a:srgbClr val="E2E8F0"/>
                </a:solidFill>
                <a:latin typeface="Calibri"/>
              </a:rPr>
              <a:t>Deallocates heap memory back to the Operating System. Leaves pointer variable intact!</a:t>
            </a:r>
          </a:p>
          <a:p>
            <a:pPr>
              <a:spcBef>
                <a:spcPts val="354"/>
              </a:spcBef>
              <a:spcAft>
                <a:spcPts val="78"/>
              </a:spcAft>
            </a:pPr>
            <a:r>
              <a:rPr sz="1000" b="1">
                <a:solidFill>
                  <a:srgbClr val="FCD34D"/>
                </a:solidFill>
                <a:latin typeface="Calibri"/>
              </a:rPr>
              <a:t>• Memory Leak: </a:t>
            </a:r>
            <a:r>
              <a:rPr sz="950">
                <a:solidFill>
                  <a:srgbClr val="E2E8F0"/>
                </a:solidFill>
                <a:latin typeface="Calibri"/>
              </a:rPr>
              <a:t>Failing to free() allocated heap memory causes program RAM consumption to grow unbounded.</a:t>
            </a:r>
          </a:p>
          <a:p>
            <a:pPr>
              <a:spcBef>
                <a:spcPts val="354"/>
              </a:spcBef>
              <a:spcAft>
                <a:spcPts val="78"/>
              </a:spcAft>
            </a:pPr>
            <a:r>
              <a:rPr sz="1000" b="1">
                <a:solidFill>
                  <a:srgbClr val="FCD34D"/>
                </a:solidFill>
                <a:latin typeface="Calibri"/>
              </a:rPr>
              <a:t>• Dangling Pointer Trap: </a:t>
            </a:r>
            <a:r>
              <a:rPr sz="950">
                <a:solidFill>
                  <a:srgbClr val="E2E8F0"/>
                </a:solidFill>
                <a:latin typeface="Calibri"/>
              </a:rPr>
              <a:t>A pointer still referencing memory that has already been freed! Fix: assign ptr = NULL;.</a:t>
            </a:r>
          </a:p>
          <a:p>
            <a:pPr>
              <a:spcBef>
                <a:spcPts val="354"/>
              </a:spcBef>
              <a:spcAft>
                <a:spcPts val="78"/>
              </a:spcAft>
            </a:pPr>
            <a:r>
              <a:rPr sz="1000" b="1">
                <a:solidFill>
                  <a:srgbClr val="FCD34D"/>
                </a:solidFill>
                <a:latin typeface="Calibri"/>
              </a:rPr>
              <a:t>• realloc(ptr, new_size): </a:t>
            </a:r>
            <a:r>
              <a:rPr sz="950">
                <a:solidFill>
                  <a:srgbClr val="E2E8F0"/>
                </a:solidFill>
                <a:latin typeface="Calibri"/>
              </a:rPr>
              <a:t>Dynamically resizes an existing heap block:</a:t>
            </a:r>
          </a:p>
          <a:p>
            <a:pPr>
              <a:spcBef>
                <a:spcPts val="354"/>
              </a:spcBef>
              <a:spcAft>
                <a:spcPts val="78"/>
              </a:spcAft>
            </a:pPr>
            <a:r>
              <a:rPr sz="1000" b="1">
                <a:solidFill>
                  <a:srgbClr val="FCD34D"/>
                </a:solidFill>
                <a:latin typeface="Calibri"/>
              </a:rPr>
              <a:t>•   - Mechanism: </a:t>
            </a:r>
            <a:r>
              <a:rPr sz="950">
                <a:solidFill>
                  <a:srgbClr val="E2E8F0"/>
                </a:solidFill>
                <a:latin typeface="Calibri"/>
              </a:rPr>
              <a:t>Expands or shrinks in-place if possible, or moves block to new heap address and copies contents.</a:t>
            </a:r>
          </a:p>
          <a:p>
            <a:pPr>
              <a:spcBef>
                <a:spcPts val="354"/>
              </a:spcBef>
              <a:spcAft>
                <a:spcPts val="78"/>
              </a:spcAft>
            </a:pPr>
            <a:r>
              <a:rPr sz="1000" b="1">
                <a:solidFill>
                  <a:srgbClr val="FCD34D"/>
                </a:solidFill>
                <a:latin typeface="Calibri"/>
              </a:rPr>
              <a:t>• Double Free Bug: </a:t>
            </a:r>
            <a:r>
              <a:rPr sz="950">
                <a:solidFill>
                  <a:srgbClr val="E2E8F0"/>
                </a:solidFill>
                <a:latin typeface="Calibri"/>
              </a:rPr>
              <a:t>Calling free(ptr) twice on the same address triggers heap corruption / crashes.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446400"/>
            <a:ext cx="5212080" cy="204000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00000"/>
          <a:lstStyle/>
          <a:p>
            <a:pPr algn="ctr"/>
            <a:r>
              <a:rPr sz="950">
                <a:solidFill>
                  <a:srgbClr val="94A3B8"/>
                </a:solidFill>
                <a:latin typeface="Consolas"/>
              </a:rPr>
              <a:t>// Resizing with realloc &amp; Safe Deallocation</a:t>
            </a:r>
          </a:p>
          <a:p>
            <a:pPr>
              <a:spcBef>
                <a:spcPts val="196"/>
              </a:spcBef>
              <a:spcAft>
                <a:spcPts val="78"/>
              </a:spcAft>
              <a:defRPr sz="950">
                <a:latin typeface="Consolas"/>
              </a:defRPr>
            </a:pPr>
            <a:r>
              <a:rPr sz="950">
                <a:solidFill>
                  <a:srgbClr val="38BDF8"/>
                </a:solidFill>
                <a:latin typeface="Consolas"/>
              </a:rPr>
              <a:t>int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*</a:t>
            </a:r>
            <a:r>
              <a:rPr sz="950">
                <a:solidFill>
                  <a:srgbClr val="E2E8F0"/>
                </a:solidFill>
                <a:latin typeface="Consolas"/>
              </a:rPr>
              <a:t>temp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=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(</a:t>
            </a:r>
            <a:r>
              <a:rPr sz="950">
                <a:solidFill>
                  <a:srgbClr val="38BDF8"/>
                </a:solidFill>
                <a:latin typeface="Consolas"/>
              </a:rPr>
              <a:t>int</a:t>
            </a:r>
            <a:r>
              <a:rPr sz="950">
                <a:solidFill>
                  <a:srgbClr val="E2E8F0"/>
                </a:solidFill>
                <a:latin typeface="Consolas"/>
              </a:rPr>
              <a:t>*)</a:t>
            </a:r>
            <a:r>
              <a:rPr sz="950">
                <a:solidFill>
                  <a:srgbClr val="FCD34D"/>
                </a:solidFill>
                <a:latin typeface="Consolas"/>
              </a:rPr>
              <a:t>realloc</a:t>
            </a:r>
            <a:r>
              <a:rPr sz="950">
                <a:solidFill>
                  <a:srgbClr val="E2E8F0"/>
                </a:solidFill>
                <a:latin typeface="Consolas"/>
              </a:rPr>
              <a:t>(</a:t>
            </a:r>
            <a:r>
              <a:rPr sz="950">
                <a:solidFill>
                  <a:srgbClr val="E2E8F0"/>
                </a:solidFill>
                <a:latin typeface="Consolas"/>
              </a:rPr>
              <a:t>arr</a:t>
            </a:r>
            <a:r>
              <a:rPr sz="950">
                <a:solidFill>
                  <a:srgbClr val="E2E8F0"/>
                </a:solidFill>
                <a:latin typeface="Consolas"/>
              </a:rPr>
              <a:t>,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F59E0B"/>
                </a:solidFill>
                <a:latin typeface="Consolas"/>
              </a:rPr>
              <a:t>10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*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C084FC"/>
                </a:solidFill>
                <a:latin typeface="Consolas"/>
              </a:rPr>
              <a:t>sizeof</a:t>
            </a:r>
            <a:r>
              <a:rPr sz="950">
                <a:solidFill>
                  <a:srgbClr val="E2E8F0"/>
                </a:solidFill>
                <a:latin typeface="Consolas"/>
              </a:rPr>
              <a:t>(</a:t>
            </a:r>
            <a:r>
              <a:rPr sz="950">
                <a:solidFill>
                  <a:srgbClr val="38BDF8"/>
                </a:solidFill>
                <a:latin typeface="Consolas"/>
              </a:rPr>
              <a:t>int</a:t>
            </a:r>
            <a:r>
              <a:rPr sz="950">
                <a:solidFill>
                  <a:srgbClr val="E2E8F0"/>
                </a:solidFill>
                <a:latin typeface="Consolas"/>
              </a:rPr>
              <a:t>));</a:t>
            </a:r>
          </a:p>
          <a:p>
            <a:pPr>
              <a:spcBef>
                <a:spcPts val="196"/>
              </a:spcBef>
              <a:spcAft>
                <a:spcPts val="78"/>
              </a:spcAft>
              <a:defRPr sz="950">
                <a:latin typeface="Consolas"/>
              </a:defRPr>
            </a:pPr>
            <a:r>
              <a:rPr sz="950">
                <a:solidFill>
                  <a:srgbClr val="C084FC"/>
                </a:solidFill>
                <a:latin typeface="Consolas"/>
              </a:rPr>
              <a:t>if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(</a:t>
            </a:r>
            <a:r>
              <a:rPr sz="950">
                <a:solidFill>
                  <a:srgbClr val="E2E8F0"/>
                </a:solidFill>
                <a:latin typeface="Consolas"/>
              </a:rPr>
              <a:t>temp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!=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C084FC"/>
                </a:solidFill>
                <a:latin typeface="Consolas"/>
              </a:rPr>
              <a:t>NULL</a:t>
            </a:r>
            <a:r>
              <a:rPr sz="950">
                <a:solidFill>
                  <a:srgbClr val="E2E8F0"/>
                </a:solidFill>
                <a:latin typeface="Consolas"/>
              </a:rPr>
              <a:t>)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{</a:t>
            </a:r>
          </a:p>
          <a:p>
            <a:pPr>
              <a:spcBef>
                <a:spcPts val="196"/>
              </a:spcBef>
              <a:spcAft>
                <a:spcPts val="78"/>
              </a:spcAft>
              <a:defRPr sz="950">
                <a:latin typeface="Consolas"/>
              </a:defRPr>
            </a:pPr>
            <a:r>
              <a:rPr sz="950">
                <a:solidFill>
                  <a:srgbClr val="E2E8F0"/>
                </a:solidFill>
                <a:latin typeface="Consolas"/>
              </a:rPr>
              <a:t>    </a:t>
            </a:r>
            <a:r>
              <a:rPr sz="950">
                <a:solidFill>
                  <a:srgbClr val="E2E8F0"/>
                </a:solidFill>
                <a:latin typeface="Consolas"/>
              </a:rPr>
              <a:t>arr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=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temp</a:t>
            </a:r>
            <a:r>
              <a:rPr sz="950">
                <a:solidFill>
                  <a:srgbClr val="E2E8F0"/>
                </a:solidFill>
                <a:latin typeface="Consolas"/>
              </a:rPr>
              <a:t>;</a:t>
            </a:r>
            <a:r>
              <a:rPr sz="950">
                <a:solidFill>
                  <a:srgbClr val="E2E8F0"/>
                </a:solidFill>
                <a:latin typeface="Consolas"/>
              </a:rPr>
              <a:t>           </a:t>
            </a:r>
            <a:r>
              <a:rPr sz="950">
                <a:solidFill>
                  <a:srgbClr val="94A3B8"/>
                </a:solidFill>
                <a:latin typeface="Consolas"/>
              </a:rPr>
              <a:t>// Update base pointer safely</a:t>
            </a:r>
          </a:p>
          <a:p>
            <a:pPr>
              <a:spcBef>
                <a:spcPts val="196"/>
              </a:spcBef>
              <a:spcAft>
                <a:spcPts val="78"/>
              </a:spcAft>
              <a:defRPr sz="950">
                <a:latin typeface="Consolas"/>
              </a:defRPr>
            </a:pPr>
            <a:r>
              <a:rPr sz="95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spcBef>
                <a:spcPts val="196"/>
              </a:spcBef>
              <a:spcAft>
                <a:spcPts val="78"/>
              </a:spcAft>
              <a:defRPr sz="950">
                <a:latin typeface="Consolas"/>
              </a:defRPr>
            </a:pPr>
            <a:r>
              <a:rPr sz="950">
                <a:solidFill>
                  <a:srgbClr val="94A3B8"/>
                </a:solidFill>
                <a:latin typeface="Consolas"/>
              </a:rPr>
              <a:t>// After finishing usage:</a:t>
            </a:r>
          </a:p>
          <a:p>
            <a:pPr>
              <a:spcBef>
                <a:spcPts val="196"/>
              </a:spcBef>
              <a:spcAft>
                <a:spcPts val="78"/>
              </a:spcAft>
              <a:defRPr sz="950">
                <a:latin typeface="Consolas"/>
              </a:defRPr>
            </a:pPr>
            <a:r>
              <a:rPr sz="950">
                <a:solidFill>
                  <a:srgbClr val="FCD34D"/>
                </a:solidFill>
                <a:latin typeface="Consolas"/>
              </a:rPr>
              <a:t>free</a:t>
            </a:r>
            <a:r>
              <a:rPr sz="950">
                <a:solidFill>
                  <a:srgbClr val="E2E8F0"/>
                </a:solidFill>
                <a:latin typeface="Consolas"/>
              </a:rPr>
              <a:t>(</a:t>
            </a:r>
            <a:r>
              <a:rPr sz="950">
                <a:solidFill>
                  <a:srgbClr val="E2E8F0"/>
                </a:solidFill>
                <a:latin typeface="Consolas"/>
              </a:rPr>
              <a:t>arr</a:t>
            </a:r>
            <a:r>
              <a:rPr sz="950">
                <a:solidFill>
                  <a:srgbClr val="E2E8F0"/>
                </a:solidFill>
                <a:latin typeface="Consolas"/>
              </a:rPr>
              <a:t>);</a:t>
            </a:r>
            <a:r>
              <a:rPr sz="950">
                <a:solidFill>
                  <a:srgbClr val="E2E8F0"/>
                </a:solidFill>
                <a:latin typeface="Consolas"/>
              </a:rPr>
              <a:t>                </a:t>
            </a:r>
            <a:r>
              <a:rPr sz="950">
                <a:solidFill>
                  <a:srgbClr val="94A3B8"/>
                </a:solidFill>
                <a:latin typeface="Consolas"/>
              </a:rPr>
              <a:t>// 1. Release heap memory</a:t>
            </a:r>
          </a:p>
          <a:p>
            <a:pPr>
              <a:spcBef>
                <a:spcPts val="196"/>
              </a:spcBef>
              <a:spcAft>
                <a:spcPts val="78"/>
              </a:spcAft>
              <a:defRPr sz="950">
                <a:latin typeface="Consolas"/>
              </a:defRPr>
            </a:pPr>
            <a:r>
              <a:rPr sz="950">
                <a:solidFill>
                  <a:srgbClr val="E2E8F0"/>
                </a:solidFill>
                <a:latin typeface="Consolas"/>
              </a:rPr>
              <a:t>arr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=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C084FC"/>
                </a:solidFill>
                <a:latin typeface="Consolas"/>
              </a:rPr>
              <a:t>NULL</a:t>
            </a:r>
            <a:r>
              <a:rPr sz="950">
                <a:solidFill>
                  <a:srgbClr val="E2E8F0"/>
                </a:solidFill>
                <a:latin typeface="Consolas"/>
              </a:rPr>
              <a:t>;</a:t>
            </a:r>
            <a:r>
              <a:rPr sz="950">
                <a:solidFill>
                  <a:srgbClr val="E2E8F0"/>
                </a:solidFill>
                <a:latin typeface="Consolas"/>
              </a:rPr>
              <a:t>               </a:t>
            </a:r>
            <a:r>
              <a:rPr sz="950">
                <a:solidFill>
                  <a:srgbClr val="94A3B8"/>
                </a:solidFill>
                <a:latin typeface="Consolas"/>
              </a:rPr>
              <a:t>// 2. Prevent dangling pointer!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5532120"/>
            <a:ext cx="5212080" cy="457200"/>
          </a:xfrm>
          <a:prstGeom prst="rect">
            <a:avLst/>
          </a:prstGeom>
          <a:solidFill>
            <a:srgbClr val="111827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38BDF8"/>
                </a:solidFill>
                <a:latin typeface="Calibri"/>
              </a:rPr>
              <a:t>💡 DMA Golden Rule: Every malloc/calloc MUST have exactly one matching free(ptr); followed by ptr = NULL;!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9632" y="868680"/>
            <a:ext cx="5577840" cy="5212080"/>
          </a:xfrm>
          <a:prstGeom prst="rect">
            <a:avLst/>
          </a:prstGeom>
          <a:solidFill>
            <a:srgbClr val="05080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01168"/>
          <a:lstStyle/>
          <a:p>
            <a:pPr algn="ctr"/>
            <a:r>
              <a:rPr sz="1300" b="1">
                <a:solidFill>
                  <a:srgbClr val="00B0F0"/>
                </a:solidFill>
                <a:latin typeface="Calibri"/>
              </a:rPr>
              <a:t>✏️  Live Trace &amp; Explanation Board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  <a:latin typeface="Calibri"/>
              </a:rPr>
              <a:t>[Teacher's Note: Illustrate Dangling Pointer vs NULL pointer in memory, and trace realloc memory relocation with copy behavior]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192024"/>
            <a:ext cx="11365992" cy="521207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41148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0B0F0"/>
                </a:solidFill>
                <a:latin typeface="Amasis MT Pro Light"/>
              </a:rPr>
              <a:t>C</a:t>
            </a:r>
            <a:r>
              <a:rPr sz="1800" b="1">
                <a:solidFill>
                  <a:srgbClr val="FFFFFF"/>
                </a:solidFill>
                <a:latin typeface="Amasis MT Pro Light"/>
              </a:rPr>
              <a:t> 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0" y="256032"/>
            <a:ext cx="2926080" cy="384048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Structures: Fundamentals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144" y="6263640"/>
            <a:ext cx="749808" cy="52120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868680"/>
            <a:ext cx="5577840" cy="5212080"/>
          </a:xfrm>
          <a:prstGeom prst="rect">
            <a:avLst/>
          </a:prstGeom>
          <a:solidFill>
            <a:srgbClr val="0A0F1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180000"/>
          <a:lstStyle/>
          <a:p>
            <a:pPr algn="ctr"/>
            <a:r>
              <a:rPr sz="1500" b="1">
                <a:solidFill>
                  <a:srgbClr val="00B0F0"/>
                </a:solidFill>
                <a:latin typeface="Calibri"/>
              </a:rPr>
              <a:t>Structures (struct): User-Defined Composite Types</a:t>
            </a:r>
          </a:p>
          <a:p>
            <a:pPr>
              <a:spcBef>
                <a:spcPts val="354"/>
              </a:spcBef>
              <a:spcAft>
                <a:spcPts val="78"/>
              </a:spcAft>
            </a:pPr>
            <a:r>
              <a:rPr sz="1000" b="1">
                <a:solidFill>
                  <a:srgbClr val="FCD34D"/>
                </a:solidFill>
                <a:latin typeface="Calibri"/>
              </a:rPr>
              <a:t>• What is a struct?: </a:t>
            </a:r>
            <a:r>
              <a:rPr sz="950">
                <a:solidFill>
                  <a:srgbClr val="E2E8F0"/>
                </a:solidFill>
                <a:latin typeface="Calibri"/>
              </a:rPr>
              <a:t>A user-defined data type grouping related variables of DIFFERENT types under a single unified name.</a:t>
            </a:r>
          </a:p>
          <a:p>
            <a:pPr>
              <a:spcBef>
                <a:spcPts val="354"/>
              </a:spcBef>
              <a:spcAft>
                <a:spcPts val="78"/>
              </a:spcAft>
            </a:pPr>
            <a:r>
              <a:rPr sz="1000" b="1">
                <a:solidFill>
                  <a:srgbClr val="FCD34D"/>
                </a:solidFill>
                <a:latin typeface="Calibri"/>
              </a:rPr>
              <a:t>• Array vs Structure: </a:t>
            </a:r>
            <a:r>
              <a:rPr sz="950">
                <a:solidFill>
                  <a:srgbClr val="E2E8F0"/>
                </a:solidFill>
                <a:latin typeface="Calibri"/>
              </a:rPr>
              <a:t>Arrays are homogeneous (all same type); Structures are heterogeneous (int, float, char[]).</a:t>
            </a:r>
          </a:p>
          <a:p>
            <a:pPr>
              <a:spcBef>
                <a:spcPts val="354"/>
              </a:spcBef>
              <a:spcAft>
                <a:spcPts val="78"/>
              </a:spcAft>
            </a:pPr>
            <a:r>
              <a:rPr sz="1000" b="1">
                <a:solidFill>
                  <a:srgbClr val="FCD34D"/>
                </a:solidFill>
                <a:latin typeface="Calibri"/>
              </a:rPr>
              <a:t>• Struct Declaration: </a:t>
            </a:r>
            <a:r>
              <a:rPr sz="950">
                <a:solidFill>
                  <a:srgbClr val="E2E8F0"/>
                </a:solidFill>
                <a:latin typeface="Calibri"/>
              </a:rPr>
              <a:t>struct Student { int id; char name[20]; float gpa; }; defines the blueprint.</a:t>
            </a:r>
          </a:p>
          <a:p>
            <a:pPr>
              <a:spcBef>
                <a:spcPts val="354"/>
              </a:spcBef>
              <a:spcAft>
                <a:spcPts val="78"/>
              </a:spcAft>
            </a:pPr>
            <a:r>
              <a:rPr sz="1000" b="1">
                <a:solidFill>
                  <a:srgbClr val="FCD34D"/>
                </a:solidFill>
                <a:latin typeface="Calibri"/>
              </a:rPr>
              <a:t>• Dot (.) Operator: </a:t>
            </a:r>
            <a:r>
              <a:rPr sz="950">
                <a:solidFill>
                  <a:srgbClr val="E2E8F0"/>
                </a:solidFill>
                <a:latin typeface="Calibri"/>
              </a:rPr>
              <a:t>Direct member access syntax used to read or modify fields: s1.id = 101;.</a:t>
            </a:r>
          </a:p>
          <a:p>
            <a:pPr>
              <a:spcBef>
                <a:spcPts val="354"/>
              </a:spcBef>
              <a:spcAft>
                <a:spcPts val="78"/>
              </a:spcAft>
            </a:pPr>
            <a:r>
              <a:rPr sz="1000" b="1">
                <a:solidFill>
                  <a:srgbClr val="FCD34D"/>
                </a:solidFill>
                <a:latin typeface="Calibri"/>
              </a:rPr>
              <a:t>• Memory Layout &amp; Padding: </a:t>
            </a:r>
            <a:r>
              <a:rPr sz="950">
                <a:solidFill>
                  <a:srgbClr val="E2E8F0"/>
                </a:solidFill>
                <a:latin typeface="Calibri"/>
              </a:rPr>
              <a:t>Compiler inserts unused padding bytes to align data fields with CPU word boundaries!</a:t>
            </a:r>
          </a:p>
          <a:p>
            <a:pPr>
              <a:spcBef>
                <a:spcPts val="354"/>
              </a:spcBef>
              <a:spcAft>
                <a:spcPts val="78"/>
              </a:spcAft>
            </a:pPr>
            <a:r>
              <a:rPr sz="1000" b="1">
                <a:solidFill>
                  <a:srgbClr val="FCD34D"/>
                </a:solidFill>
                <a:latin typeface="Calibri"/>
              </a:rPr>
              <a:t>• Initialization: </a:t>
            </a:r>
            <a:r>
              <a:rPr sz="950">
                <a:solidFill>
                  <a:srgbClr val="E2E8F0"/>
                </a:solidFill>
                <a:latin typeface="Calibri"/>
              </a:rPr>
              <a:t>Direct assignment struct Student s1 = {101, "Ali", 3.9}; assigns fields in declared order.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446400"/>
            <a:ext cx="5212080" cy="204000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00000"/>
          <a:lstStyle/>
          <a:p>
            <a:pPr algn="ctr"/>
            <a:r>
              <a:rPr sz="950">
                <a:solidFill>
                  <a:srgbClr val="94A3B8"/>
                </a:solidFill>
                <a:latin typeface="Consolas"/>
              </a:rPr>
              <a:t>// Structure Declaration, Instantiation &amp; Member Access</a:t>
            </a:r>
          </a:p>
          <a:p>
            <a:pPr>
              <a:spcBef>
                <a:spcPts val="196"/>
              </a:spcBef>
              <a:spcAft>
                <a:spcPts val="78"/>
              </a:spcAft>
              <a:defRPr sz="950">
                <a:latin typeface="Consolas"/>
              </a:defRPr>
            </a:pPr>
            <a:r>
              <a:rPr sz="950">
                <a:solidFill>
                  <a:srgbClr val="C084FC"/>
                </a:solidFill>
                <a:latin typeface="Consolas"/>
              </a:rPr>
              <a:t>struct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Student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{</a:t>
            </a:r>
          </a:p>
          <a:p>
            <a:pPr>
              <a:spcBef>
                <a:spcPts val="196"/>
              </a:spcBef>
              <a:spcAft>
                <a:spcPts val="78"/>
              </a:spcAft>
              <a:defRPr sz="950">
                <a:latin typeface="Consolas"/>
              </a:defRPr>
            </a:pPr>
            <a:r>
              <a:rPr sz="950">
                <a:solidFill>
                  <a:srgbClr val="E2E8F0"/>
                </a:solidFill>
                <a:latin typeface="Consolas"/>
              </a:rPr>
              <a:t>    </a:t>
            </a:r>
            <a:r>
              <a:rPr sz="950">
                <a:solidFill>
                  <a:srgbClr val="38BDF8"/>
                </a:solidFill>
                <a:latin typeface="Consolas"/>
              </a:rPr>
              <a:t>int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id</a:t>
            </a:r>
            <a:r>
              <a:rPr sz="950">
                <a:solidFill>
                  <a:srgbClr val="E2E8F0"/>
                </a:solidFill>
                <a:latin typeface="Consolas"/>
              </a:rPr>
              <a:t>;</a:t>
            </a:r>
          </a:p>
          <a:p>
            <a:pPr>
              <a:spcBef>
                <a:spcPts val="196"/>
              </a:spcBef>
              <a:spcAft>
                <a:spcPts val="78"/>
              </a:spcAft>
              <a:defRPr sz="950">
                <a:latin typeface="Consolas"/>
              </a:defRPr>
            </a:pPr>
            <a:r>
              <a:rPr sz="950">
                <a:solidFill>
                  <a:srgbClr val="E2E8F0"/>
                </a:solidFill>
                <a:latin typeface="Consolas"/>
              </a:rPr>
              <a:t>    </a:t>
            </a:r>
            <a:r>
              <a:rPr sz="950">
                <a:solidFill>
                  <a:srgbClr val="38BDF8"/>
                </a:solidFill>
                <a:latin typeface="Consolas"/>
              </a:rPr>
              <a:t>char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name</a:t>
            </a:r>
            <a:r>
              <a:rPr sz="950">
                <a:solidFill>
                  <a:srgbClr val="E2E8F0"/>
                </a:solidFill>
                <a:latin typeface="Consolas"/>
              </a:rPr>
              <a:t>[</a:t>
            </a:r>
            <a:r>
              <a:rPr sz="950">
                <a:solidFill>
                  <a:srgbClr val="F59E0B"/>
                </a:solidFill>
                <a:latin typeface="Consolas"/>
              </a:rPr>
              <a:t>30</a:t>
            </a:r>
            <a:r>
              <a:rPr sz="950">
                <a:solidFill>
                  <a:srgbClr val="E2E8F0"/>
                </a:solidFill>
                <a:latin typeface="Consolas"/>
              </a:rPr>
              <a:t>];</a:t>
            </a:r>
          </a:p>
          <a:p>
            <a:pPr>
              <a:spcBef>
                <a:spcPts val="196"/>
              </a:spcBef>
              <a:spcAft>
                <a:spcPts val="78"/>
              </a:spcAft>
              <a:defRPr sz="950">
                <a:latin typeface="Consolas"/>
              </a:defRPr>
            </a:pPr>
            <a:r>
              <a:rPr sz="950">
                <a:solidFill>
                  <a:srgbClr val="E2E8F0"/>
                </a:solidFill>
                <a:latin typeface="Consolas"/>
              </a:rPr>
              <a:t>    </a:t>
            </a:r>
            <a:r>
              <a:rPr sz="950">
                <a:solidFill>
                  <a:srgbClr val="38BDF8"/>
                </a:solidFill>
                <a:latin typeface="Consolas"/>
              </a:rPr>
              <a:t>float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gpa</a:t>
            </a:r>
            <a:r>
              <a:rPr sz="950">
                <a:solidFill>
                  <a:srgbClr val="E2E8F0"/>
                </a:solidFill>
                <a:latin typeface="Consolas"/>
              </a:rPr>
              <a:t>;</a:t>
            </a:r>
          </a:p>
          <a:p>
            <a:pPr>
              <a:spcBef>
                <a:spcPts val="196"/>
              </a:spcBef>
              <a:spcAft>
                <a:spcPts val="78"/>
              </a:spcAft>
              <a:defRPr sz="950">
                <a:latin typeface="Consolas"/>
              </a:defRPr>
            </a:pPr>
            <a:r>
              <a:rPr sz="95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spcBef>
                <a:spcPts val="196"/>
              </a:spcBef>
              <a:spcAft>
                <a:spcPts val="78"/>
              </a:spcAft>
              <a:defRPr sz="950">
                <a:latin typeface="Consolas"/>
              </a:defRPr>
            </a:pPr>
            <a:r>
              <a:rPr sz="950">
                <a:solidFill>
                  <a:srgbClr val="C084FC"/>
                </a:solidFill>
                <a:latin typeface="Consolas"/>
              </a:rPr>
              <a:t>struct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Student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s1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=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{</a:t>
            </a:r>
            <a:r>
              <a:rPr sz="950">
                <a:solidFill>
                  <a:srgbClr val="F59E0B"/>
                </a:solidFill>
                <a:latin typeface="Consolas"/>
              </a:rPr>
              <a:t>101</a:t>
            </a:r>
            <a:r>
              <a:rPr sz="950">
                <a:solidFill>
                  <a:srgbClr val="E2E8F0"/>
                </a:solidFill>
                <a:latin typeface="Consolas"/>
              </a:rPr>
              <a:t>,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34D399"/>
                </a:solidFill>
                <a:latin typeface="Consolas"/>
              </a:rPr>
              <a:t>"Shohan"</a:t>
            </a:r>
            <a:r>
              <a:rPr sz="950">
                <a:solidFill>
                  <a:srgbClr val="E2E8F0"/>
                </a:solidFill>
                <a:latin typeface="Consolas"/>
              </a:rPr>
              <a:t>,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F59E0B"/>
                </a:solidFill>
                <a:latin typeface="Consolas"/>
              </a:rPr>
              <a:t>3.85</a:t>
            </a:r>
            <a:r>
              <a:rPr sz="95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spcBef>
                <a:spcPts val="196"/>
              </a:spcBef>
              <a:spcAft>
                <a:spcPts val="78"/>
              </a:spcAft>
              <a:defRPr sz="950">
                <a:latin typeface="Consolas"/>
              </a:defRPr>
            </a:pPr>
            <a:r>
              <a:rPr sz="950">
                <a:solidFill>
                  <a:srgbClr val="FCD34D"/>
                </a:solidFill>
                <a:latin typeface="Consolas"/>
              </a:rPr>
              <a:t>printf</a:t>
            </a:r>
            <a:r>
              <a:rPr sz="950">
                <a:solidFill>
                  <a:srgbClr val="E2E8F0"/>
                </a:solidFill>
                <a:latin typeface="Consolas"/>
              </a:rPr>
              <a:t>(</a:t>
            </a:r>
            <a:r>
              <a:rPr sz="950">
                <a:solidFill>
                  <a:srgbClr val="34D399"/>
                </a:solidFill>
                <a:latin typeface="Consolas"/>
              </a:rPr>
              <a:t>"ID: %d | Name: %s | GPA: %.2f\n"</a:t>
            </a:r>
            <a:r>
              <a:rPr sz="950">
                <a:solidFill>
                  <a:srgbClr val="E2E8F0"/>
                </a:solidFill>
                <a:latin typeface="Consolas"/>
              </a:rPr>
              <a:t>,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s1</a:t>
            </a:r>
            <a:r>
              <a:rPr sz="950">
                <a:solidFill>
                  <a:srgbClr val="E2E8F0"/>
                </a:solidFill>
                <a:latin typeface="Consolas"/>
              </a:rPr>
              <a:t>.</a:t>
            </a:r>
            <a:r>
              <a:rPr sz="950">
                <a:solidFill>
                  <a:srgbClr val="E2E8F0"/>
                </a:solidFill>
                <a:latin typeface="Consolas"/>
              </a:rPr>
              <a:t>id</a:t>
            </a:r>
            <a:r>
              <a:rPr sz="950">
                <a:solidFill>
                  <a:srgbClr val="E2E8F0"/>
                </a:solidFill>
                <a:latin typeface="Consolas"/>
              </a:rPr>
              <a:t>,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s1</a:t>
            </a:r>
            <a:r>
              <a:rPr sz="950">
                <a:solidFill>
                  <a:srgbClr val="E2E8F0"/>
                </a:solidFill>
                <a:latin typeface="Consolas"/>
              </a:rPr>
              <a:t>.</a:t>
            </a:r>
            <a:r>
              <a:rPr sz="950">
                <a:solidFill>
                  <a:srgbClr val="E2E8F0"/>
                </a:solidFill>
                <a:latin typeface="Consolas"/>
              </a:rPr>
              <a:t>name</a:t>
            </a:r>
            <a:r>
              <a:rPr sz="950">
                <a:solidFill>
                  <a:srgbClr val="E2E8F0"/>
                </a:solidFill>
                <a:latin typeface="Consolas"/>
              </a:rPr>
              <a:t>,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s1</a:t>
            </a:r>
            <a:r>
              <a:rPr sz="950">
                <a:solidFill>
                  <a:srgbClr val="E2E8F0"/>
                </a:solidFill>
                <a:latin typeface="Consolas"/>
              </a:rPr>
              <a:t>.</a:t>
            </a:r>
            <a:r>
              <a:rPr sz="950">
                <a:solidFill>
                  <a:srgbClr val="E2E8F0"/>
                </a:solidFill>
                <a:latin typeface="Consolas"/>
              </a:rPr>
              <a:t>gpa</a:t>
            </a:r>
            <a:r>
              <a:rPr sz="950">
                <a:solidFill>
                  <a:srgbClr val="E2E8F0"/>
                </a:solidFill>
                <a:latin typeface="Consolas"/>
              </a:rPr>
              <a:t>);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5532120"/>
            <a:ext cx="5212080" cy="457200"/>
          </a:xfrm>
          <a:prstGeom prst="rect">
            <a:avLst/>
          </a:prstGeom>
          <a:solidFill>
            <a:srgbClr val="111827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38BDF8"/>
                </a:solidFill>
                <a:latin typeface="Calibri"/>
              </a:rPr>
              <a:t>⚠️ Structure Padding: sizeof(struct) &gt; sum of members due to CPU word alignment padding!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9632" y="868680"/>
            <a:ext cx="5577840" cy="5212080"/>
          </a:xfrm>
          <a:prstGeom prst="rect">
            <a:avLst/>
          </a:prstGeom>
          <a:solidFill>
            <a:srgbClr val="05080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01168"/>
          <a:lstStyle/>
          <a:p>
            <a:pPr algn="ctr"/>
            <a:r>
              <a:rPr sz="1300" b="1">
                <a:solidFill>
                  <a:srgbClr val="00B0F0"/>
                </a:solidFill>
                <a:latin typeface="Calibri"/>
              </a:rPr>
              <a:t>✏️  Live Trace &amp; Explanation Board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  <a:latin typeface="Calibri"/>
              </a:rPr>
              <a:t>[Teacher's Note: Draw memory map of struct Student showing 4 bytes (int), 30 bytes (char), padding bytes, and 4 bytes (float)]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192024"/>
            <a:ext cx="11365992" cy="521207"/>
          </a:xfrm>
          <a:prstGeom prst="rect">
            <a:avLst/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"/>
            <a:ext cx="41148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0B0F0"/>
                </a:solidFill>
                <a:latin typeface="Amasis MT Pro Light"/>
              </a:rPr>
              <a:t>C</a:t>
            </a:r>
            <a:r>
              <a:rPr sz="1800" b="1">
                <a:solidFill>
                  <a:srgbClr val="FFFFFF"/>
                </a:solidFill>
                <a:latin typeface="Amasis MT Pro Light"/>
              </a:rPr>
              <a:t> 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0" y="256032"/>
            <a:ext cx="2926080" cy="384048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Structures: Advanced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144" y="6263640"/>
            <a:ext cx="749808" cy="52120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1480" y="868680"/>
            <a:ext cx="5577840" cy="5212080"/>
          </a:xfrm>
          <a:prstGeom prst="rect">
            <a:avLst/>
          </a:prstGeom>
          <a:solidFill>
            <a:srgbClr val="0A0F18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180000"/>
          <a:lstStyle/>
          <a:p>
            <a:pPr algn="ctr"/>
            <a:r>
              <a:rPr sz="1500" b="1">
                <a:solidFill>
                  <a:srgbClr val="00B0F0"/>
                </a:solidFill>
                <a:latin typeface="Calibri"/>
              </a:rPr>
              <a:t>Advanced Structures: Pointers, Arrays &amp; typedef</a:t>
            </a:r>
          </a:p>
          <a:p>
            <a:pPr>
              <a:spcBef>
                <a:spcPts val="354"/>
              </a:spcBef>
              <a:spcAft>
                <a:spcPts val="78"/>
              </a:spcAft>
            </a:pPr>
            <a:r>
              <a:rPr sz="1000" b="1">
                <a:solidFill>
                  <a:srgbClr val="FCD34D"/>
                </a:solidFill>
                <a:latin typeface="Calibri"/>
              </a:rPr>
              <a:t>• typedef Keyword: </a:t>
            </a:r>
            <a:r>
              <a:rPr sz="950">
                <a:solidFill>
                  <a:srgbClr val="E2E8F0"/>
                </a:solidFill>
                <a:latin typeface="Calibri"/>
              </a:rPr>
              <a:t>Eliminates repetitive struct keyword, creating clean type alias: typedef struct { ... } Student;.</a:t>
            </a:r>
          </a:p>
          <a:p>
            <a:pPr>
              <a:spcBef>
                <a:spcPts val="354"/>
              </a:spcBef>
              <a:spcAft>
                <a:spcPts val="78"/>
              </a:spcAft>
            </a:pPr>
            <a:r>
              <a:rPr sz="1000" b="1">
                <a:solidFill>
                  <a:srgbClr val="FCD34D"/>
                </a:solidFill>
                <a:latin typeface="Calibri"/>
              </a:rPr>
              <a:t>• Array of Structures: </a:t>
            </a:r>
            <a:r>
              <a:rPr sz="950">
                <a:solidFill>
                  <a:srgbClr val="E2E8F0"/>
                </a:solidFill>
                <a:latin typeface="Calibri"/>
              </a:rPr>
              <a:t>Manages collections of records: Student batch[100]; batch[i].gpa = 3.9;.</a:t>
            </a:r>
          </a:p>
          <a:p>
            <a:pPr>
              <a:spcBef>
                <a:spcPts val="354"/>
              </a:spcBef>
              <a:spcAft>
                <a:spcPts val="78"/>
              </a:spcAft>
            </a:pPr>
            <a:r>
              <a:rPr sz="1000" b="1">
                <a:solidFill>
                  <a:srgbClr val="FCD34D"/>
                </a:solidFill>
                <a:latin typeface="Calibri"/>
              </a:rPr>
              <a:t>• Pointer to Structure: </a:t>
            </a:r>
            <a:r>
              <a:rPr sz="950">
                <a:solidFill>
                  <a:srgbClr val="E2E8F0"/>
                </a:solidFill>
                <a:latin typeface="Calibri"/>
              </a:rPr>
              <a:t>Student *ptr = &amp;s1; stores address of struct in RAM.</a:t>
            </a:r>
          </a:p>
          <a:p>
            <a:pPr>
              <a:spcBef>
                <a:spcPts val="354"/>
              </a:spcBef>
              <a:spcAft>
                <a:spcPts val="78"/>
              </a:spcAft>
            </a:pPr>
            <a:r>
              <a:rPr sz="1000" b="1">
                <a:solidFill>
                  <a:srgbClr val="FCD34D"/>
                </a:solidFill>
                <a:latin typeface="Calibri"/>
              </a:rPr>
              <a:t>• Arrow (-&gt;) Operator: </a:t>
            </a:r>
            <a:r>
              <a:rPr sz="950">
                <a:solidFill>
                  <a:srgbClr val="E2E8F0"/>
                </a:solidFill>
                <a:latin typeface="Calibri"/>
              </a:rPr>
              <a:t>Shorthand to access fields through pointer: ptr-&gt;name is 100% equivalent to (*ptr).name.</a:t>
            </a:r>
          </a:p>
          <a:p>
            <a:pPr>
              <a:spcBef>
                <a:spcPts val="354"/>
              </a:spcBef>
              <a:spcAft>
                <a:spcPts val="78"/>
              </a:spcAft>
            </a:pPr>
            <a:r>
              <a:rPr sz="1000" b="1">
                <a:solidFill>
                  <a:srgbClr val="FCD34D"/>
                </a:solidFill>
                <a:latin typeface="Calibri"/>
              </a:rPr>
              <a:t>• Function Passing: </a:t>
            </a:r>
            <a:r>
              <a:rPr sz="950">
                <a:solidFill>
                  <a:srgbClr val="E2E8F0"/>
                </a:solidFill>
                <a:latin typeface="Calibri"/>
              </a:rPr>
              <a:t>Passing by pointer (void print(const Student *s)) avoids copying entire struct block (super fast!).</a:t>
            </a:r>
          </a:p>
          <a:p>
            <a:pPr>
              <a:spcBef>
                <a:spcPts val="354"/>
              </a:spcBef>
              <a:spcAft>
                <a:spcPts val="78"/>
              </a:spcAft>
            </a:pPr>
            <a:r>
              <a:rPr sz="1000" b="1">
                <a:solidFill>
                  <a:srgbClr val="FCD34D"/>
                </a:solidFill>
                <a:latin typeface="Calibri"/>
              </a:rPr>
              <a:t>• Nested Structures: </a:t>
            </a:r>
            <a:r>
              <a:rPr sz="950">
                <a:solidFill>
                  <a:srgbClr val="E2E8F0"/>
                </a:solidFill>
                <a:latin typeface="Calibri"/>
              </a:rPr>
              <a:t>Structs can embed other structs as members (e.g. Date dob; inside Student).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226400"/>
            <a:ext cx="5212080" cy="2260000"/>
          </a:xfrm>
          <a:prstGeom prst="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tIns="100000"/>
          <a:lstStyle/>
          <a:p>
            <a:pPr algn="ctr"/>
            <a:r>
              <a:rPr sz="950">
                <a:solidFill>
                  <a:srgbClr val="94A3B8"/>
                </a:solidFill>
                <a:latin typeface="Consolas"/>
              </a:rPr>
              <a:t>// typedef, Struct Pointer, Arrow Operator &amp; Functions</a:t>
            </a:r>
          </a:p>
          <a:p>
            <a:pPr>
              <a:spcBef>
                <a:spcPts val="196"/>
              </a:spcBef>
              <a:spcAft>
                <a:spcPts val="78"/>
              </a:spcAft>
              <a:defRPr sz="950">
                <a:latin typeface="Consolas"/>
              </a:defRPr>
            </a:pPr>
            <a:r>
              <a:rPr sz="950">
                <a:solidFill>
                  <a:srgbClr val="C084FC"/>
                </a:solidFill>
                <a:latin typeface="Consolas"/>
              </a:rPr>
              <a:t>typedef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C084FC"/>
                </a:solidFill>
                <a:latin typeface="Consolas"/>
              </a:rPr>
              <a:t>struct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{</a:t>
            </a:r>
          </a:p>
          <a:p>
            <a:pPr>
              <a:spcBef>
                <a:spcPts val="196"/>
              </a:spcBef>
              <a:spcAft>
                <a:spcPts val="78"/>
              </a:spcAft>
              <a:defRPr sz="950">
                <a:latin typeface="Consolas"/>
              </a:defRPr>
            </a:pPr>
            <a:r>
              <a:rPr sz="950">
                <a:solidFill>
                  <a:srgbClr val="E2E8F0"/>
                </a:solidFill>
                <a:latin typeface="Consolas"/>
              </a:rPr>
              <a:t>    </a:t>
            </a:r>
            <a:r>
              <a:rPr sz="950">
                <a:solidFill>
                  <a:srgbClr val="38BDF8"/>
                </a:solidFill>
                <a:latin typeface="Consolas"/>
              </a:rPr>
              <a:t>int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id</a:t>
            </a:r>
            <a:r>
              <a:rPr sz="950">
                <a:solidFill>
                  <a:srgbClr val="E2E8F0"/>
                </a:solidFill>
                <a:latin typeface="Consolas"/>
              </a:rPr>
              <a:t>;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38BDF8"/>
                </a:solidFill>
                <a:latin typeface="Consolas"/>
              </a:rPr>
              <a:t>float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gpa</a:t>
            </a:r>
            <a:r>
              <a:rPr sz="950">
                <a:solidFill>
                  <a:srgbClr val="E2E8F0"/>
                </a:solidFill>
                <a:latin typeface="Consolas"/>
              </a:rPr>
              <a:t>;</a:t>
            </a:r>
          </a:p>
          <a:p>
            <a:pPr>
              <a:spcBef>
                <a:spcPts val="196"/>
              </a:spcBef>
              <a:spcAft>
                <a:spcPts val="78"/>
              </a:spcAft>
              <a:defRPr sz="950">
                <a:latin typeface="Consolas"/>
              </a:defRPr>
            </a:pPr>
            <a:r>
              <a:rPr sz="950">
                <a:solidFill>
                  <a:srgbClr val="E2E8F0"/>
                </a:solidFill>
                <a:latin typeface="Consolas"/>
              </a:rPr>
              <a:t>}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Student</a:t>
            </a:r>
            <a:r>
              <a:rPr sz="950">
                <a:solidFill>
                  <a:srgbClr val="E2E8F0"/>
                </a:solidFill>
                <a:latin typeface="Consolas"/>
              </a:rPr>
              <a:t>;</a:t>
            </a:r>
          </a:p>
          <a:p>
            <a:pPr>
              <a:spcBef>
                <a:spcPts val="196"/>
              </a:spcBef>
              <a:spcAft>
                <a:spcPts val="78"/>
              </a:spcAft>
              <a:defRPr sz="950">
                <a:latin typeface="Consolas"/>
              </a:defRPr>
            </a:pPr>
            <a:r>
              <a:rPr sz="950">
                <a:solidFill>
                  <a:srgbClr val="38BDF8"/>
                </a:solidFill>
                <a:latin typeface="Consolas"/>
              </a:rPr>
              <a:t>void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FCD34D"/>
                </a:solidFill>
                <a:latin typeface="Consolas"/>
              </a:rPr>
              <a:t>display</a:t>
            </a:r>
            <a:r>
              <a:rPr sz="950">
                <a:solidFill>
                  <a:srgbClr val="E2E8F0"/>
                </a:solidFill>
                <a:latin typeface="Consolas"/>
              </a:rPr>
              <a:t>(</a:t>
            </a:r>
            <a:r>
              <a:rPr sz="950">
                <a:solidFill>
                  <a:srgbClr val="C084FC"/>
                </a:solidFill>
                <a:latin typeface="Consolas"/>
              </a:rPr>
              <a:t>const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Student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*</a:t>
            </a:r>
            <a:r>
              <a:rPr sz="950">
                <a:solidFill>
                  <a:srgbClr val="E2E8F0"/>
                </a:solidFill>
                <a:latin typeface="Consolas"/>
              </a:rPr>
              <a:t>s</a:t>
            </a:r>
            <a:r>
              <a:rPr sz="950">
                <a:solidFill>
                  <a:srgbClr val="E2E8F0"/>
                </a:solidFill>
                <a:latin typeface="Consolas"/>
              </a:rPr>
              <a:t>)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{</a:t>
            </a:r>
          </a:p>
          <a:p>
            <a:pPr>
              <a:spcBef>
                <a:spcPts val="196"/>
              </a:spcBef>
              <a:spcAft>
                <a:spcPts val="78"/>
              </a:spcAft>
              <a:defRPr sz="950">
                <a:latin typeface="Consolas"/>
              </a:defRPr>
            </a:pPr>
            <a:r>
              <a:rPr sz="950">
                <a:solidFill>
                  <a:srgbClr val="E2E8F0"/>
                </a:solidFill>
                <a:latin typeface="Consolas"/>
              </a:rPr>
              <a:t>    </a:t>
            </a:r>
            <a:r>
              <a:rPr sz="950">
                <a:solidFill>
                  <a:srgbClr val="FCD34D"/>
                </a:solidFill>
                <a:latin typeface="Consolas"/>
              </a:rPr>
              <a:t>printf</a:t>
            </a:r>
            <a:r>
              <a:rPr sz="950">
                <a:solidFill>
                  <a:srgbClr val="E2E8F0"/>
                </a:solidFill>
                <a:latin typeface="Consolas"/>
              </a:rPr>
              <a:t>(</a:t>
            </a:r>
            <a:r>
              <a:rPr sz="950">
                <a:solidFill>
                  <a:srgbClr val="34D399"/>
                </a:solidFill>
                <a:latin typeface="Consolas"/>
              </a:rPr>
              <a:t>"ID: %d, GPA: %.2f\n"</a:t>
            </a:r>
            <a:r>
              <a:rPr sz="950">
                <a:solidFill>
                  <a:srgbClr val="E2E8F0"/>
                </a:solidFill>
                <a:latin typeface="Consolas"/>
              </a:rPr>
              <a:t>,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s</a:t>
            </a:r>
            <a:r>
              <a:rPr sz="950">
                <a:solidFill>
                  <a:srgbClr val="FCD34D"/>
                </a:solidFill>
                <a:latin typeface="Consolas"/>
              </a:rPr>
              <a:t>-&gt;</a:t>
            </a:r>
            <a:r>
              <a:rPr sz="950">
                <a:solidFill>
                  <a:srgbClr val="E2E8F0"/>
                </a:solidFill>
                <a:latin typeface="Consolas"/>
              </a:rPr>
              <a:t>id</a:t>
            </a:r>
            <a:r>
              <a:rPr sz="950">
                <a:solidFill>
                  <a:srgbClr val="E2E8F0"/>
                </a:solidFill>
                <a:latin typeface="Consolas"/>
              </a:rPr>
              <a:t>,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s</a:t>
            </a:r>
            <a:r>
              <a:rPr sz="950">
                <a:solidFill>
                  <a:srgbClr val="FCD34D"/>
                </a:solidFill>
                <a:latin typeface="Consolas"/>
              </a:rPr>
              <a:t>-&gt;</a:t>
            </a:r>
            <a:r>
              <a:rPr sz="950">
                <a:solidFill>
                  <a:srgbClr val="E2E8F0"/>
                </a:solidFill>
                <a:latin typeface="Consolas"/>
              </a:rPr>
              <a:t>gpa</a:t>
            </a:r>
            <a:r>
              <a:rPr sz="950">
                <a:solidFill>
                  <a:srgbClr val="E2E8F0"/>
                </a:solidFill>
                <a:latin typeface="Consolas"/>
              </a:rPr>
              <a:t>);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94A3B8"/>
                </a:solidFill>
                <a:latin typeface="Consolas"/>
              </a:rPr>
              <a:t>// Arrow -&gt;</a:t>
            </a:r>
          </a:p>
          <a:p>
            <a:pPr>
              <a:spcBef>
                <a:spcPts val="196"/>
              </a:spcBef>
              <a:spcAft>
                <a:spcPts val="78"/>
              </a:spcAft>
              <a:defRPr sz="950">
                <a:latin typeface="Consolas"/>
              </a:defRPr>
            </a:pPr>
            <a:r>
              <a:rPr sz="950">
                <a:solidFill>
                  <a:srgbClr val="E2E8F0"/>
                </a:solidFill>
                <a:latin typeface="Consolas"/>
              </a:rPr>
              <a:t>}</a:t>
            </a:r>
          </a:p>
          <a:p>
            <a:pPr>
              <a:spcBef>
                <a:spcPts val="196"/>
              </a:spcBef>
              <a:spcAft>
                <a:spcPts val="78"/>
              </a:spcAft>
              <a:defRPr sz="950">
                <a:latin typeface="Consolas"/>
              </a:defRPr>
            </a:pPr>
            <a:r>
              <a:rPr sz="950">
                <a:solidFill>
                  <a:srgbClr val="E2E8F0"/>
                </a:solidFill>
                <a:latin typeface="Consolas"/>
              </a:rPr>
              <a:t>Student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s1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=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E2E8F0"/>
                </a:solidFill>
                <a:latin typeface="Consolas"/>
              </a:rPr>
              <a:t>{</a:t>
            </a:r>
            <a:r>
              <a:rPr sz="950">
                <a:solidFill>
                  <a:srgbClr val="F59E0B"/>
                </a:solidFill>
                <a:latin typeface="Consolas"/>
              </a:rPr>
              <a:t>201</a:t>
            </a:r>
            <a:r>
              <a:rPr sz="950">
                <a:solidFill>
                  <a:srgbClr val="E2E8F0"/>
                </a:solidFill>
                <a:latin typeface="Consolas"/>
              </a:rPr>
              <a:t>,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F59E0B"/>
                </a:solidFill>
                <a:latin typeface="Consolas"/>
              </a:rPr>
              <a:t>3.95</a:t>
            </a:r>
            <a:r>
              <a:rPr sz="950">
                <a:solidFill>
                  <a:srgbClr val="E2E8F0"/>
                </a:solidFill>
                <a:latin typeface="Consolas"/>
              </a:rPr>
              <a:t>};</a:t>
            </a:r>
          </a:p>
          <a:p>
            <a:pPr>
              <a:spcBef>
                <a:spcPts val="196"/>
              </a:spcBef>
              <a:spcAft>
                <a:spcPts val="78"/>
              </a:spcAft>
              <a:defRPr sz="950">
                <a:latin typeface="Consolas"/>
              </a:defRPr>
            </a:pPr>
            <a:r>
              <a:rPr sz="950">
                <a:solidFill>
                  <a:srgbClr val="FCD34D"/>
                </a:solidFill>
                <a:latin typeface="Consolas"/>
              </a:rPr>
              <a:t>display</a:t>
            </a:r>
            <a:r>
              <a:rPr sz="950">
                <a:solidFill>
                  <a:srgbClr val="E2E8F0"/>
                </a:solidFill>
                <a:latin typeface="Consolas"/>
              </a:rPr>
              <a:t>(&amp;</a:t>
            </a:r>
            <a:r>
              <a:rPr sz="950">
                <a:solidFill>
                  <a:srgbClr val="E2E8F0"/>
                </a:solidFill>
                <a:latin typeface="Consolas"/>
              </a:rPr>
              <a:t>s1</a:t>
            </a:r>
            <a:r>
              <a:rPr sz="950">
                <a:solidFill>
                  <a:srgbClr val="E2E8F0"/>
                </a:solidFill>
                <a:latin typeface="Consolas"/>
              </a:rPr>
              <a:t>);</a:t>
            </a:r>
            <a:r>
              <a:rPr sz="950">
                <a:solidFill>
                  <a:srgbClr val="E2E8F0"/>
                </a:solidFill>
                <a:latin typeface="Consolas"/>
              </a:rPr>
              <a:t> </a:t>
            </a:r>
            <a:r>
              <a:rPr sz="950">
                <a:solidFill>
                  <a:srgbClr val="94A3B8"/>
                </a:solidFill>
                <a:latin typeface="Consolas"/>
              </a:rPr>
              <a:t>// Pass by pointer (Zero copy overhead)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5532120"/>
            <a:ext cx="5212080" cy="457200"/>
          </a:xfrm>
          <a:prstGeom prst="rect">
            <a:avLst/>
          </a:prstGeom>
          <a:solidFill>
            <a:srgbClr val="111827"/>
          </a:solidFill>
          <a:ln w="9525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38BDF8"/>
                </a:solidFill>
                <a:latin typeface="Calibri"/>
              </a:rPr>
              <a:t>💡 Efficiency Rule: Always pass structs to functions via pointer (const Type *ptr) to eliminate memory copying overhead!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9632" y="868680"/>
            <a:ext cx="5577840" cy="5212080"/>
          </a:xfrm>
          <a:prstGeom prst="rect">
            <a:avLst/>
          </a:prstGeom>
          <a:solidFill>
            <a:srgbClr val="05080F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01168"/>
          <a:lstStyle/>
          <a:p>
            <a:pPr algn="ctr"/>
            <a:r>
              <a:rPr sz="1300" b="1">
                <a:solidFill>
                  <a:srgbClr val="00B0F0"/>
                </a:solidFill>
                <a:latin typeface="Calibri"/>
              </a:rPr>
              <a:t>✏️  Live Trace &amp; Explanation Board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  <a:latin typeface="Calibri"/>
              </a:rPr>
              <a:t>[Teacher's Note: Diagram struct memory block and show pointer ptr with arrow (-&gt;) directly targeting member offset inside]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0" y="2468880"/>
            <a:ext cx="3959352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masis MT Pro Light"/>
              </a:rP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3355848"/>
            <a:ext cx="3959352" cy="1828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0" y="3520440"/>
            <a:ext cx="4873752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00B0F0"/>
                </a:solidFill>
                <a:latin typeface="Calibri"/>
              </a:rPr>
              <a:t>Happy Coding with C &amp; NovoNex Delta!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5623560"/>
            <a:ext cx="1362456" cy="9418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59</TotalTime>
  <Words>40</Words>
  <Application>Microsoft Office PowerPoint</Application>
  <PresentationFormat>Widescreen</PresentationFormat>
  <Paragraphs>17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Amasis MT Pro</vt:lpstr>
      <vt:lpstr>Amasis MT Pro Light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Anik Bhowmik</dc:creator>
  <cp:lastModifiedBy>Md.Tamim Hossain</cp:lastModifiedBy>
  <cp:revision>11</cp:revision>
  <dcterms:created xsi:type="dcterms:W3CDTF">2025-11-12T20:54:57Z</dcterms:created>
  <dcterms:modified xsi:type="dcterms:W3CDTF">2026-10-11T20:48:51Z</dcterms:modified>
</cp:coreProperties>
</file>